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59" r:id="rId4"/>
    <p:sldId id="360" r:id="rId5"/>
    <p:sldId id="361" r:id="rId6"/>
    <p:sldId id="362" r:id="rId7"/>
    <p:sldId id="301" r:id="rId8"/>
    <p:sldId id="350" r:id="rId9"/>
    <p:sldId id="351" r:id="rId10"/>
    <p:sldId id="304" r:id="rId11"/>
    <p:sldId id="305" r:id="rId12"/>
    <p:sldId id="306" r:id="rId13"/>
    <p:sldId id="308" r:id="rId14"/>
    <p:sldId id="322" r:id="rId15"/>
    <p:sldId id="352" r:id="rId16"/>
    <p:sldId id="324" r:id="rId17"/>
    <p:sldId id="325" r:id="rId18"/>
    <p:sldId id="326" r:id="rId19"/>
    <p:sldId id="331" r:id="rId20"/>
    <p:sldId id="363" r:id="rId21"/>
    <p:sldId id="327" r:id="rId22"/>
    <p:sldId id="329" r:id="rId23"/>
    <p:sldId id="330" r:id="rId24"/>
    <p:sldId id="332" r:id="rId25"/>
    <p:sldId id="333" r:id="rId26"/>
    <p:sldId id="358" r:id="rId27"/>
    <p:sldId id="335" r:id="rId28"/>
    <p:sldId id="334" r:id="rId29"/>
    <p:sldId id="336" r:id="rId30"/>
    <p:sldId id="337" r:id="rId31"/>
    <p:sldId id="338" r:id="rId32"/>
    <p:sldId id="339" r:id="rId33"/>
    <p:sldId id="340" r:id="rId34"/>
    <p:sldId id="295" r:id="rId35"/>
    <p:sldId id="294" r:id="rId36"/>
    <p:sldId id="297" r:id="rId37"/>
    <p:sldId id="296" r:id="rId38"/>
    <p:sldId id="307" r:id="rId39"/>
    <p:sldId id="341" r:id="rId40"/>
    <p:sldId id="343" r:id="rId41"/>
    <p:sldId id="342" r:id="rId42"/>
    <p:sldId id="263" r:id="rId43"/>
    <p:sldId id="309" r:id="rId44"/>
    <p:sldId id="311" r:id="rId45"/>
    <p:sldId id="312" r:id="rId46"/>
    <p:sldId id="310" r:id="rId47"/>
    <p:sldId id="314" r:id="rId48"/>
    <p:sldId id="315" r:id="rId49"/>
    <p:sldId id="316" r:id="rId50"/>
    <p:sldId id="317" r:id="rId51"/>
    <p:sldId id="318" r:id="rId52"/>
    <p:sldId id="346" r:id="rId53"/>
    <p:sldId id="345" r:id="rId54"/>
    <p:sldId id="344" r:id="rId55"/>
    <p:sldId id="357" r:id="rId56"/>
    <p:sldId id="353" r:id="rId57"/>
    <p:sldId id="354" r:id="rId58"/>
    <p:sldId id="355" r:id="rId59"/>
    <p:sldId id="356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E46C0A"/>
    <a:srgbClr val="FDEADA"/>
    <a:srgbClr val="404040"/>
    <a:srgbClr val="B818B8"/>
    <a:srgbClr val="18B8B8"/>
    <a:srgbClr val="FCD5B5"/>
    <a:srgbClr val="B9CDE5"/>
    <a:srgbClr val="B2D729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3060" autoAdjust="0"/>
  </p:normalViewPr>
  <p:slideViewPr>
    <p:cSldViewPr>
      <p:cViewPr varScale="1">
        <p:scale>
          <a:sx n="69" d="100"/>
          <a:sy n="69" d="100"/>
        </p:scale>
        <p:origin x="135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9.wmf"/><Relationship Id="rId5" Type="http://schemas.openxmlformats.org/officeDocument/2006/relationships/image" Target="../media/image8.wmf"/><Relationship Id="rId4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7" Type="http://schemas.openxmlformats.org/officeDocument/2006/relationships/image" Target="../media/image10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6" Type="http://schemas.openxmlformats.org/officeDocument/2006/relationships/image" Target="../media/image46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4" Type="http://schemas.openxmlformats.org/officeDocument/2006/relationships/image" Target="../media/image68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58.wmf"/><Relationship Id="rId1" Type="http://schemas.openxmlformats.org/officeDocument/2006/relationships/image" Target="../media/image69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2" Type="http://schemas.openxmlformats.org/officeDocument/2006/relationships/image" Target="../media/image87.wmf"/><Relationship Id="rId1" Type="http://schemas.openxmlformats.org/officeDocument/2006/relationships/image" Target="../media/image86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9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1.wmf"/><Relationship Id="rId7" Type="http://schemas.openxmlformats.org/officeDocument/2006/relationships/image" Target="../media/image104.wmf"/><Relationship Id="rId12" Type="http://schemas.openxmlformats.org/officeDocument/2006/relationships/image" Target="../media/image109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Relationship Id="rId6" Type="http://schemas.openxmlformats.org/officeDocument/2006/relationships/image" Target="../media/image98.wmf"/><Relationship Id="rId11" Type="http://schemas.openxmlformats.org/officeDocument/2006/relationships/image" Target="../media/image108.wmf"/><Relationship Id="rId5" Type="http://schemas.openxmlformats.org/officeDocument/2006/relationships/image" Target="../media/image103.wmf"/><Relationship Id="rId10" Type="http://schemas.openxmlformats.org/officeDocument/2006/relationships/image" Target="../media/image107.wmf"/><Relationship Id="rId4" Type="http://schemas.openxmlformats.org/officeDocument/2006/relationships/image" Target="../media/image102.wmf"/><Relationship Id="rId9" Type="http://schemas.openxmlformats.org/officeDocument/2006/relationships/image" Target="../media/image106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wmf"/><Relationship Id="rId1" Type="http://schemas.openxmlformats.org/officeDocument/2006/relationships/image" Target="../media/image112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wmf"/><Relationship Id="rId1" Type="http://schemas.openxmlformats.org/officeDocument/2006/relationships/image" Target="../media/image115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image" Target="../media/image137.wmf"/><Relationship Id="rId7" Type="http://schemas.openxmlformats.org/officeDocument/2006/relationships/image" Target="../media/image140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6" Type="http://schemas.openxmlformats.org/officeDocument/2006/relationships/image" Target="../media/image139.wmf"/><Relationship Id="rId5" Type="http://schemas.openxmlformats.org/officeDocument/2006/relationships/image" Target="../media/image70.wmf"/><Relationship Id="rId4" Type="http://schemas.openxmlformats.org/officeDocument/2006/relationships/image" Target="../media/image138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Relationship Id="rId5" Type="http://schemas.openxmlformats.org/officeDocument/2006/relationships/image" Target="../media/image147.wmf"/><Relationship Id="rId4" Type="http://schemas.openxmlformats.org/officeDocument/2006/relationships/image" Target="../media/image146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wmf"/><Relationship Id="rId2" Type="http://schemas.openxmlformats.org/officeDocument/2006/relationships/image" Target="../media/image150.wmf"/><Relationship Id="rId1" Type="http://schemas.openxmlformats.org/officeDocument/2006/relationships/image" Target="../media/image149.wmf"/><Relationship Id="rId4" Type="http://schemas.openxmlformats.org/officeDocument/2006/relationships/image" Target="../media/image15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4" Type="http://schemas.openxmlformats.org/officeDocument/2006/relationships/image" Target="../media/image156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wmf"/><Relationship Id="rId2" Type="http://schemas.openxmlformats.org/officeDocument/2006/relationships/image" Target="../media/image158.wmf"/><Relationship Id="rId1" Type="http://schemas.openxmlformats.org/officeDocument/2006/relationships/image" Target="../media/image15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5" Type="http://schemas.openxmlformats.org/officeDocument/2006/relationships/image" Target="../media/image164.wmf"/><Relationship Id="rId4" Type="http://schemas.openxmlformats.org/officeDocument/2006/relationships/image" Target="../media/image16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wmf"/><Relationship Id="rId2" Type="http://schemas.openxmlformats.org/officeDocument/2006/relationships/image" Target="../media/image168.wmf"/><Relationship Id="rId1" Type="http://schemas.openxmlformats.org/officeDocument/2006/relationships/image" Target="../media/image167.wmf"/><Relationship Id="rId6" Type="http://schemas.openxmlformats.org/officeDocument/2006/relationships/image" Target="../media/image172.wmf"/><Relationship Id="rId5" Type="http://schemas.openxmlformats.org/officeDocument/2006/relationships/image" Target="../media/image171.wmf"/><Relationship Id="rId4" Type="http://schemas.openxmlformats.org/officeDocument/2006/relationships/image" Target="../media/image170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4.w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wmf"/><Relationship Id="rId1" Type="http://schemas.openxmlformats.org/officeDocument/2006/relationships/image" Target="../media/image158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60.wmf"/><Relationship Id="rId4" Type="http://schemas.openxmlformats.org/officeDocument/2006/relationships/image" Target="../media/image186.w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wmf"/><Relationship Id="rId1" Type="http://schemas.openxmlformats.org/officeDocument/2006/relationships/image" Target="../media/image189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21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3295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6865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769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7899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9111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6544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305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11201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75313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35101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DE10F-5F65-4E1D-A95B-49067DA6CDF8}" type="datetimeFigureOut">
              <a:rPr lang="en-SG" smtClean="0"/>
              <a:t>18/8/2016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17D66-E939-48F6-9808-CBEE69DD7C9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10528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0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3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0.png"/><Relationship Id="rId18" Type="http://schemas.openxmlformats.org/officeDocument/2006/relationships/image" Target="../media/image33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2.wmf"/><Relationship Id="rId17" Type="http://schemas.openxmlformats.org/officeDocument/2006/relationships/image" Target="../media/image3.w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2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5.pn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24.png"/><Relationship Id="rId15" Type="http://schemas.openxmlformats.org/officeDocument/2006/relationships/image" Target="../media/image32.png"/><Relationship Id="rId10" Type="http://schemas.openxmlformats.org/officeDocument/2006/relationships/image" Target="../media/image29.png"/><Relationship Id="rId19" Type="http://schemas.openxmlformats.org/officeDocument/2006/relationships/image" Target="../media/image20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image" Target="../media/image5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7.wmf"/><Relationship Id="rId5" Type="http://schemas.openxmlformats.org/officeDocument/2006/relationships/image" Target="../media/image40.png"/><Relationship Id="rId15" Type="http://schemas.openxmlformats.org/officeDocument/2006/relationships/image" Target="../media/image42.png"/><Relationship Id="rId10" Type="http://schemas.openxmlformats.org/officeDocument/2006/relationships/oleObject" Target="../embeddings/oleObject6.bin"/><Relationship Id="rId4" Type="http://schemas.openxmlformats.org/officeDocument/2006/relationships/image" Target="../media/image4.wmf"/><Relationship Id="rId9" Type="http://schemas.openxmlformats.org/officeDocument/2006/relationships/image" Target="../media/image6.wmf"/><Relationship Id="rId1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jpeg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231.png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11" Type="http://schemas.openxmlformats.org/officeDocument/2006/relationships/image" Target="../media/image18.jpg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7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15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13" Type="http://schemas.openxmlformats.org/officeDocument/2006/relationships/image" Target="../media/image27.jpeg"/><Relationship Id="rId3" Type="http://schemas.openxmlformats.org/officeDocument/2006/relationships/image" Target="../media/image19.jpeg"/><Relationship Id="rId7" Type="http://schemas.openxmlformats.org/officeDocument/2006/relationships/image" Target="../media/image21.jpeg"/><Relationship Id="rId12" Type="http://schemas.openxmlformats.org/officeDocument/2006/relationships/image" Target="../media/image26.jpe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png"/><Relationship Id="rId11" Type="http://schemas.openxmlformats.org/officeDocument/2006/relationships/image" Target="../media/image25.jpeg"/><Relationship Id="rId5" Type="http://schemas.openxmlformats.org/officeDocument/2006/relationships/image" Target="../media/image20.jpeg"/><Relationship Id="rId10" Type="http://schemas.openxmlformats.org/officeDocument/2006/relationships/image" Target="../media/image24.jpeg"/><Relationship Id="rId4" Type="http://schemas.openxmlformats.org/officeDocument/2006/relationships/image" Target="../media/image380.png"/><Relationship Id="rId9" Type="http://schemas.openxmlformats.org/officeDocument/2006/relationships/image" Target="../media/image23.jpeg"/><Relationship Id="rId14" Type="http://schemas.openxmlformats.org/officeDocument/2006/relationships/image" Target="../media/image2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jpg"/><Relationship Id="rId3" Type="http://schemas.openxmlformats.org/officeDocument/2006/relationships/image" Target="../media/image36.jpeg"/><Relationship Id="rId12" Type="http://schemas.openxmlformats.org/officeDocument/2006/relationships/image" Target="../media/image440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40.jpg"/><Relationship Id="rId4" Type="http://schemas.openxmlformats.org/officeDocument/2006/relationships/image" Target="../media/image37.jpeg"/><Relationship Id="rId14" Type="http://schemas.openxmlformats.org/officeDocument/2006/relationships/image" Target="../media/image39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10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48.jpg"/><Relationship Id="rId1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6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2.wmf"/><Relationship Id="rId11" Type="http://schemas.openxmlformats.org/officeDocument/2006/relationships/image" Target="../media/image47.jpg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44.wmf"/><Relationship Id="rId4" Type="http://schemas.openxmlformats.org/officeDocument/2006/relationships/image" Target="../media/image41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4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52.jpg"/><Relationship Id="rId7" Type="http://schemas.openxmlformats.org/officeDocument/2006/relationships/image" Target="../media/image49.wmf"/><Relationship Id="rId12" Type="http://schemas.openxmlformats.org/officeDocument/2006/relationships/image" Target="../media/image55.jp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2.bin"/><Relationship Id="rId11" Type="http://schemas.openxmlformats.org/officeDocument/2006/relationships/image" Target="../media/image51.wmf"/><Relationship Id="rId5" Type="http://schemas.openxmlformats.org/officeDocument/2006/relationships/image" Target="../media/image54.jpg"/><Relationship Id="rId10" Type="http://schemas.openxmlformats.org/officeDocument/2006/relationships/oleObject" Target="../embeddings/oleObject24.bin"/><Relationship Id="rId4" Type="http://schemas.openxmlformats.org/officeDocument/2006/relationships/image" Target="../media/image53.jpg"/><Relationship Id="rId9" Type="http://schemas.openxmlformats.org/officeDocument/2006/relationships/image" Target="../media/image5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58.wmf"/><Relationship Id="rId3" Type="http://schemas.openxmlformats.org/officeDocument/2006/relationships/oleObject" Target="../embeddings/oleObject25.bin"/><Relationship Id="rId7" Type="http://schemas.openxmlformats.org/officeDocument/2006/relationships/image" Target="../media/image61.png"/><Relationship Id="rId12" Type="http://schemas.openxmlformats.org/officeDocument/2006/relationships/oleObject" Target="../embeddings/oleObject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0.jpg"/><Relationship Id="rId11" Type="http://schemas.openxmlformats.org/officeDocument/2006/relationships/image" Target="../media/image57.wmf"/><Relationship Id="rId5" Type="http://schemas.openxmlformats.org/officeDocument/2006/relationships/image" Target="../media/image59.jpg"/><Relationship Id="rId10" Type="http://schemas.openxmlformats.org/officeDocument/2006/relationships/oleObject" Target="../embeddings/oleObject26.bin"/><Relationship Id="rId4" Type="http://schemas.openxmlformats.org/officeDocument/2006/relationships/image" Target="../media/image56.wmf"/><Relationship Id="rId9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6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1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62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.bin"/><Relationship Id="rId3" Type="http://schemas.openxmlformats.org/officeDocument/2006/relationships/image" Target="../media/image59.jpg"/><Relationship Id="rId7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3.bin"/><Relationship Id="rId11" Type="http://schemas.openxmlformats.org/officeDocument/2006/relationships/image" Target="../media/image68.wmf"/><Relationship Id="rId5" Type="http://schemas.openxmlformats.org/officeDocument/2006/relationships/image" Target="../media/image65.wmf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32.bin"/><Relationship Id="rId9" Type="http://schemas.openxmlformats.org/officeDocument/2006/relationships/image" Target="../media/image67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oleObject" Target="../embeddings/oleObject40.bin"/><Relationship Id="rId18" Type="http://schemas.openxmlformats.org/officeDocument/2006/relationships/image" Target="../media/image74.wmf"/><Relationship Id="rId3" Type="http://schemas.openxmlformats.org/officeDocument/2006/relationships/image" Target="../media/image60.jpg"/><Relationship Id="rId7" Type="http://schemas.openxmlformats.org/officeDocument/2006/relationships/image" Target="../media/image58.wmf"/><Relationship Id="rId12" Type="http://schemas.openxmlformats.org/officeDocument/2006/relationships/image" Target="../media/image96.png"/><Relationship Id="rId17" Type="http://schemas.openxmlformats.org/officeDocument/2006/relationships/oleObject" Target="../embeddings/oleObject4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71.wmf"/><Relationship Id="rId5" Type="http://schemas.openxmlformats.org/officeDocument/2006/relationships/image" Target="../media/image69.wmf"/><Relationship Id="rId15" Type="http://schemas.openxmlformats.org/officeDocument/2006/relationships/oleObject" Target="../embeddings/oleObject41.bin"/><Relationship Id="rId10" Type="http://schemas.openxmlformats.org/officeDocument/2006/relationships/oleObject" Target="../embeddings/oleObject39.bin"/><Relationship Id="rId4" Type="http://schemas.openxmlformats.org/officeDocument/2006/relationships/oleObject" Target="../embeddings/oleObject36.bin"/><Relationship Id="rId9" Type="http://schemas.openxmlformats.org/officeDocument/2006/relationships/image" Target="../media/image70.wmf"/><Relationship Id="rId14" Type="http://schemas.openxmlformats.org/officeDocument/2006/relationships/image" Target="../media/image72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4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8.wmf"/><Relationship Id="rId5" Type="http://schemas.openxmlformats.org/officeDocument/2006/relationships/oleObject" Target="../embeddings/oleObject46.bin"/><Relationship Id="rId4" Type="http://schemas.openxmlformats.org/officeDocument/2006/relationships/image" Target="../media/image77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80.wmf"/><Relationship Id="rId5" Type="http://schemas.openxmlformats.org/officeDocument/2006/relationships/oleObject" Target="../embeddings/oleObject48.bin"/><Relationship Id="rId10" Type="http://schemas.openxmlformats.org/officeDocument/2006/relationships/image" Target="../media/image82.wmf"/><Relationship Id="rId4" Type="http://schemas.openxmlformats.org/officeDocument/2006/relationships/image" Target="../media/image79.wmf"/><Relationship Id="rId9" Type="http://schemas.openxmlformats.org/officeDocument/2006/relationships/oleObject" Target="../embeddings/oleObject50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oleObject" Target="../embeddings/oleObject51.bin"/><Relationship Id="rId7" Type="http://schemas.openxmlformats.org/officeDocument/2006/relationships/image" Target="../media/image101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84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83.wmf"/><Relationship Id="rId9" Type="http://schemas.openxmlformats.org/officeDocument/2006/relationships/image" Target="../media/image85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13" Type="http://schemas.openxmlformats.org/officeDocument/2006/relationships/image" Target="../media/image90.wmf"/><Relationship Id="rId18" Type="http://schemas.openxmlformats.org/officeDocument/2006/relationships/oleObject" Target="../embeddings/oleObject61.bin"/><Relationship Id="rId3" Type="http://schemas.openxmlformats.org/officeDocument/2006/relationships/image" Target="../media/image94.png"/><Relationship Id="rId7" Type="http://schemas.openxmlformats.org/officeDocument/2006/relationships/image" Target="../media/image87.wmf"/><Relationship Id="rId12" Type="http://schemas.openxmlformats.org/officeDocument/2006/relationships/oleObject" Target="../embeddings/oleObject58.bin"/><Relationship Id="rId17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0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5.bin"/><Relationship Id="rId11" Type="http://schemas.openxmlformats.org/officeDocument/2006/relationships/image" Target="../media/image89.wmf"/><Relationship Id="rId5" Type="http://schemas.openxmlformats.org/officeDocument/2006/relationships/image" Target="../media/image86.wmf"/><Relationship Id="rId15" Type="http://schemas.openxmlformats.org/officeDocument/2006/relationships/image" Target="../media/image91.wmf"/><Relationship Id="rId10" Type="http://schemas.openxmlformats.org/officeDocument/2006/relationships/oleObject" Target="../embeddings/oleObject57.bin"/><Relationship Id="rId19" Type="http://schemas.openxmlformats.org/officeDocument/2006/relationships/image" Target="../media/image93.wmf"/><Relationship Id="rId4" Type="http://schemas.openxmlformats.org/officeDocument/2006/relationships/oleObject" Target="../embeddings/oleObject54.bin"/><Relationship Id="rId9" Type="http://schemas.openxmlformats.org/officeDocument/2006/relationships/image" Target="../media/image88.wmf"/><Relationship Id="rId14" Type="http://schemas.openxmlformats.org/officeDocument/2006/relationships/oleObject" Target="../embeddings/oleObject5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oleObject" Target="../embeddings/oleObject66.bin"/><Relationship Id="rId3" Type="http://schemas.openxmlformats.org/officeDocument/2006/relationships/image" Target="../media/image117.png"/><Relationship Id="rId7" Type="http://schemas.openxmlformats.org/officeDocument/2006/relationships/image" Target="../media/image95.wmf"/><Relationship Id="rId12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63.bin"/><Relationship Id="rId11" Type="http://schemas.openxmlformats.org/officeDocument/2006/relationships/oleObject" Target="../embeddings/oleObject65.bin"/><Relationship Id="rId5" Type="http://schemas.openxmlformats.org/officeDocument/2006/relationships/image" Target="../media/image94.wmf"/><Relationship Id="rId15" Type="http://schemas.openxmlformats.org/officeDocument/2006/relationships/image" Target="../media/image119.png"/><Relationship Id="rId10" Type="http://schemas.openxmlformats.org/officeDocument/2006/relationships/image" Target="../media/image96.wmf"/><Relationship Id="rId4" Type="http://schemas.openxmlformats.org/officeDocument/2006/relationships/oleObject" Target="../embeddings/oleObject62.bin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98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103.wmf"/><Relationship Id="rId18" Type="http://schemas.openxmlformats.org/officeDocument/2006/relationships/oleObject" Target="../embeddings/oleObject74.bin"/><Relationship Id="rId26" Type="http://schemas.openxmlformats.org/officeDocument/2006/relationships/oleObject" Target="../embeddings/oleObject78.bin"/><Relationship Id="rId3" Type="http://schemas.openxmlformats.org/officeDocument/2006/relationships/oleObject" Target="../embeddings/oleObject67.bin"/><Relationship Id="rId21" Type="http://schemas.openxmlformats.org/officeDocument/2006/relationships/image" Target="../media/image106.wmf"/><Relationship Id="rId7" Type="http://schemas.openxmlformats.org/officeDocument/2006/relationships/image" Target="../media/image100.w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104.wmf"/><Relationship Id="rId25" Type="http://schemas.openxmlformats.org/officeDocument/2006/relationships/image" Target="../media/image10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29" Type="http://schemas.openxmlformats.org/officeDocument/2006/relationships/image" Target="../media/image111.png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102.wmf"/><Relationship Id="rId24" Type="http://schemas.openxmlformats.org/officeDocument/2006/relationships/oleObject" Target="../embeddings/oleObject77.bin"/><Relationship Id="rId5" Type="http://schemas.openxmlformats.org/officeDocument/2006/relationships/image" Target="../media/image128.png"/><Relationship Id="rId15" Type="http://schemas.openxmlformats.org/officeDocument/2006/relationships/image" Target="../media/image98.wmf"/><Relationship Id="rId23" Type="http://schemas.openxmlformats.org/officeDocument/2006/relationships/image" Target="../media/image107.wmf"/><Relationship Id="rId28" Type="http://schemas.openxmlformats.org/officeDocument/2006/relationships/image" Target="../media/image110.gi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105.wmf"/><Relationship Id="rId4" Type="http://schemas.openxmlformats.org/officeDocument/2006/relationships/image" Target="../media/image99.wmf"/><Relationship Id="rId9" Type="http://schemas.openxmlformats.org/officeDocument/2006/relationships/image" Target="../media/image101.w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Relationship Id="rId27" Type="http://schemas.openxmlformats.org/officeDocument/2006/relationships/image" Target="../media/image109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wmf"/><Relationship Id="rId3" Type="http://schemas.openxmlformats.org/officeDocument/2006/relationships/image" Target="../media/image110.gif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12.wmf"/><Relationship Id="rId5" Type="http://schemas.openxmlformats.org/officeDocument/2006/relationships/oleObject" Target="../embeddings/oleObject79.bin"/><Relationship Id="rId4" Type="http://schemas.openxmlformats.org/officeDocument/2006/relationships/image" Target="../media/image136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1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2.bin"/><Relationship Id="rId3" Type="http://schemas.openxmlformats.org/officeDocument/2006/relationships/image" Target="../media/image120.png"/><Relationship Id="rId7" Type="http://schemas.openxmlformats.org/officeDocument/2006/relationships/image" Target="../media/image11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81.bin"/><Relationship Id="rId5" Type="http://schemas.openxmlformats.org/officeDocument/2006/relationships/image" Target="../media/image122.png"/><Relationship Id="rId4" Type="http://schemas.openxmlformats.org/officeDocument/2006/relationships/image" Target="../media/image121.png"/><Relationship Id="rId9" Type="http://schemas.openxmlformats.org/officeDocument/2006/relationships/image" Target="../media/image116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20.png"/><Relationship Id="rId4" Type="http://schemas.openxmlformats.org/officeDocument/2006/relationships/image" Target="../media/image610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4.bin"/><Relationship Id="rId13" Type="http://schemas.openxmlformats.org/officeDocument/2006/relationships/image" Target="../media/image127.wmf"/><Relationship Id="rId18" Type="http://schemas.openxmlformats.org/officeDocument/2006/relationships/oleObject" Target="../embeddings/oleObject89.bin"/><Relationship Id="rId3" Type="http://schemas.openxmlformats.org/officeDocument/2006/relationships/oleObject" Target="../embeddings/oleObject83.bin"/><Relationship Id="rId21" Type="http://schemas.openxmlformats.org/officeDocument/2006/relationships/image" Target="../media/image210.png"/><Relationship Id="rId7" Type="http://schemas.openxmlformats.org/officeDocument/2006/relationships/image" Target="../media/image132.png"/><Relationship Id="rId12" Type="http://schemas.openxmlformats.org/officeDocument/2006/relationships/oleObject" Target="../embeddings/oleObject86.bin"/><Relationship Id="rId17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8.bin"/><Relationship Id="rId20" Type="http://schemas.openxmlformats.org/officeDocument/2006/relationships/image" Target="../media/image133.png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31.png"/><Relationship Id="rId11" Type="http://schemas.openxmlformats.org/officeDocument/2006/relationships/image" Target="../media/image126.wmf"/><Relationship Id="rId24" Type="http://schemas.openxmlformats.org/officeDocument/2006/relationships/image" Target="../media/image250.png"/><Relationship Id="rId5" Type="http://schemas.openxmlformats.org/officeDocument/2006/relationships/image" Target="../media/image170.png"/><Relationship Id="rId15" Type="http://schemas.openxmlformats.org/officeDocument/2006/relationships/image" Target="../media/image128.wmf"/><Relationship Id="rId23" Type="http://schemas.openxmlformats.org/officeDocument/2006/relationships/image" Target="../media/image230.png"/><Relationship Id="rId10" Type="http://schemas.openxmlformats.org/officeDocument/2006/relationships/oleObject" Target="../embeddings/oleObject85.bin"/><Relationship Id="rId19" Type="http://schemas.openxmlformats.org/officeDocument/2006/relationships/image" Target="../media/image130.wmf"/><Relationship Id="rId4" Type="http://schemas.openxmlformats.org/officeDocument/2006/relationships/image" Target="../media/image124.wmf"/><Relationship Id="rId9" Type="http://schemas.openxmlformats.org/officeDocument/2006/relationships/image" Target="../media/image125.wmf"/><Relationship Id="rId14" Type="http://schemas.openxmlformats.org/officeDocument/2006/relationships/oleObject" Target="../embeddings/oleObject87.bin"/><Relationship Id="rId22" Type="http://schemas.openxmlformats.org/officeDocument/2006/relationships/image" Target="../media/image22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13" Type="http://schemas.openxmlformats.org/officeDocument/2006/relationships/image" Target="../media/image27.jpeg"/><Relationship Id="rId3" Type="http://schemas.openxmlformats.org/officeDocument/2006/relationships/image" Target="../media/image19.jpeg"/><Relationship Id="rId7" Type="http://schemas.openxmlformats.org/officeDocument/2006/relationships/image" Target="../media/image21.jpeg"/><Relationship Id="rId12" Type="http://schemas.openxmlformats.org/officeDocument/2006/relationships/image" Target="../media/image26.jpeg"/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0.png"/><Relationship Id="rId11" Type="http://schemas.openxmlformats.org/officeDocument/2006/relationships/image" Target="../media/image25.jpeg"/><Relationship Id="rId5" Type="http://schemas.openxmlformats.org/officeDocument/2006/relationships/image" Target="../media/image20.jpeg"/><Relationship Id="rId10" Type="http://schemas.openxmlformats.org/officeDocument/2006/relationships/image" Target="../media/image24.jpeg"/><Relationship Id="rId4" Type="http://schemas.openxmlformats.org/officeDocument/2006/relationships/image" Target="../media/image380.png"/><Relationship Id="rId9" Type="http://schemas.openxmlformats.org/officeDocument/2006/relationships/image" Target="../media/image23.jpeg"/><Relationship Id="rId14" Type="http://schemas.openxmlformats.org/officeDocument/2006/relationships/image" Target="../media/image28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12" Type="http://schemas.openxmlformats.org/officeDocument/2006/relationships/image" Target="../media/image440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jpeg"/><Relationship Id="rId11" Type="http://schemas.openxmlformats.org/officeDocument/2006/relationships/image" Target="../media/image430.png"/><Relationship Id="rId5" Type="http://schemas.openxmlformats.org/officeDocument/2006/relationships/image" Target="../media/image131.png"/><Relationship Id="rId4" Type="http://schemas.openxmlformats.org/officeDocument/2006/relationships/image" Target="../media/image37.jpe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0.png"/><Relationship Id="rId13" Type="http://schemas.openxmlformats.org/officeDocument/2006/relationships/image" Target="../media/image136.wmf"/><Relationship Id="rId18" Type="http://schemas.openxmlformats.org/officeDocument/2006/relationships/oleObject" Target="../embeddings/oleObject93.bin"/><Relationship Id="rId26" Type="http://schemas.openxmlformats.org/officeDocument/2006/relationships/image" Target="../media/image47.png"/><Relationship Id="rId3" Type="http://schemas.openxmlformats.org/officeDocument/2006/relationships/image" Target="../media/image19.jpeg"/><Relationship Id="rId21" Type="http://schemas.openxmlformats.org/officeDocument/2006/relationships/image" Target="../media/image70.wmf"/><Relationship Id="rId7" Type="http://schemas.openxmlformats.org/officeDocument/2006/relationships/image" Target="../media/image135.wmf"/><Relationship Id="rId12" Type="http://schemas.openxmlformats.org/officeDocument/2006/relationships/oleObject" Target="../embeddings/oleObject91.bin"/><Relationship Id="rId17" Type="http://schemas.openxmlformats.org/officeDocument/2006/relationships/image" Target="../media/image460.png"/><Relationship Id="rId25" Type="http://schemas.openxmlformats.org/officeDocument/2006/relationships/image" Target="../media/image14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5.png"/><Relationship Id="rId20" Type="http://schemas.openxmlformats.org/officeDocument/2006/relationships/oleObject" Target="../embeddings/oleObject94.bin"/><Relationship Id="rId29" Type="http://schemas.openxmlformats.org/officeDocument/2006/relationships/image" Target="../media/image158.png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90.bin"/><Relationship Id="rId11" Type="http://schemas.openxmlformats.org/officeDocument/2006/relationships/image" Target="../media/image442.png"/><Relationship Id="rId24" Type="http://schemas.openxmlformats.org/officeDocument/2006/relationships/oleObject" Target="../embeddings/oleObject96.bin"/><Relationship Id="rId5" Type="http://schemas.openxmlformats.org/officeDocument/2006/relationships/image" Target="../media/image22.jpeg"/><Relationship Id="rId15" Type="http://schemas.openxmlformats.org/officeDocument/2006/relationships/image" Target="../media/image137.wmf"/><Relationship Id="rId23" Type="http://schemas.openxmlformats.org/officeDocument/2006/relationships/image" Target="../media/image139.wmf"/><Relationship Id="rId28" Type="http://schemas.openxmlformats.org/officeDocument/2006/relationships/image" Target="../media/image141.wmf"/><Relationship Id="rId10" Type="http://schemas.openxmlformats.org/officeDocument/2006/relationships/image" Target="../media/image43.png"/><Relationship Id="rId19" Type="http://schemas.openxmlformats.org/officeDocument/2006/relationships/image" Target="../media/image138.wmf"/><Relationship Id="rId4" Type="http://schemas.openxmlformats.org/officeDocument/2006/relationships/image" Target="../media/image20.jpeg"/><Relationship Id="rId9" Type="http://schemas.openxmlformats.org/officeDocument/2006/relationships/image" Target="../media/image420.png"/><Relationship Id="rId14" Type="http://schemas.openxmlformats.org/officeDocument/2006/relationships/oleObject" Target="../embeddings/oleObject92.bin"/><Relationship Id="rId22" Type="http://schemas.openxmlformats.org/officeDocument/2006/relationships/oleObject" Target="../embeddings/oleObject95.bin"/><Relationship Id="rId27" Type="http://schemas.openxmlformats.org/officeDocument/2006/relationships/oleObject" Target="../embeddings/oleObject97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142.wmf"/><Relationship Id="rId4" Type="http://schemas.openxmlformats.org/officeDocument/2006/relationships/oleObject" Target="../embeddings/oleObject98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8" Type="http://schemas.openxmlformats.org/officeDocument/2006/relationships/image" Target="../media/image147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0.bin"/><Relationship Id="rId12" Type="http://schemas.openxmlformats.org/officeDocument/2006/relationships/image" Target="../media/image146.wmf"/><Relationship Id="rId17" Type="http://schemas.openxmlformats.org/officeDocument/2006/relationships/oleObject" Target="../embeddings/oleObject10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jpeg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41.png"/><Relationship Id="rId11" Type="http://schemas.openxmlformats.org/officeDocument/2006/relationships/oleObject" Target="../embeddings/oleObject102.bin"/><Relationship Id="rId5" Type="http://schemas.openxmlformats.org/officeDocument/2006/relationships/image" Target="../media/image830.png"/><Relationship Id="rId15" Type="http://schemas.openxmlformats.org/officeDocument/2006/relationships/image" Target="../media/image148.jpeg"/><Relationship Id="rId10" Type="http://schemas.openxmlformats.org/officeDocument/2006/relationships/image" Target="../media/image145.wmf"/><Relationship Id="rId19" Type="http://schemas.openxmlformats.org/officeDocument/2006/relationships/image" Target="../media/image800.png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01.bin"/><Relationship Id="rId14" Type="http://schemas.openxmlformats.org/officeDocument/2006/relationships/image" Target="../media/image86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image" Target="../media/image152.wmf"/><Relationship Id="rId3" Type="http://schemas.openxmlformats.org/officeDocument/2006/relationships/image" Target="../media/image35.jpeg"/><Relationship Id="rId7" Type="http://schemas.openxmlformats.org/officeDocument/2006/relationships/oleObject" Target="../embeddings/oleObject105.bin"/><Relationship Id="rId12" Type="http://schemas.openxmlformats.org/officeDocument/2006/relationships/oleObject" Target="../embeddings/oleObject10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490.png"/><Relationship Id="rId11" Type="http://schemas.openxmlformats.org/officeDocument/2006/relationships/image" Target="../media/image851.png"/><Relationship Id="rId5" Type="http://schemas.openxmlformats.org/officeDocument/2006/relationships/image" Target="../media/image149.wmf"/><Relationship Id="rId10" Type="http://schemas.openxmlformats.org/officeDocument/2006/relationships/image" Target="../media/image151.wmf"/><Relationship Id="rId4" Type="http://schemas.openxmlformats.org/officeDocument/2006/relationships/oleObject" Target="../embeddings/oleObject104.bin"/><Relationship Id="rId9" Type="http://schemas.openxmlformats.org/officeDocument/2006/relationships/oleObject" Target="../embeddings/oleObject106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8.bin"/><Relationship Id="rId7" Type="http://schemas.openxmlformats.org/officeDocument/2006/relationships/image" Target="../media/image154.wmf"/><Relationship Id="rId12" Type="http://schemas.openxmlformats.org/officeDocument/2006/relationships/image" Target="../media/image87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09.bin"/><Relationship Id="rId11" Type="http://schemas.openxmlformats.org/officeDocument/2006/relationships/image" Target="../media/image860.png"/><Relationship Id="rId5" Type="http://schemas.openxmlformats.org/officeDocument/2006/relationships/image" Target="../media/image840.png"/><Relationship Id="rId10" Type="http://schemas.openxmlformats.org/officeDocument/2006/relationships/image" Target="../media/image155.wmf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110.bin"/><Relationship Id="rId14" Type="http://schemas.openxmlformats.org/officeDocument/2006/relationships/image" Target="../media/image156.wmf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58.wmf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57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w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66.png"/><Relationship Id="rId3" Type="http://schemas.openxmlformats.org/officeDocument/2006/relationships/image" Target="../media/image35.jpeg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63.wmf"/><Relationship Id="rId17" Type="http://schemas.openxmlformats.org/officeDocument/2006/relationships/image" Target="../media/image182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5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60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62.wmf"/><Relationship Id="rId4" Type="http://schemas.openxmlformats.org/officeDocument/2006/relationships/image" Target="../media/image148.jpeg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64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image" Target="../media/image171.wm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12" Type="http://schemas.openxmlformats.org/officeDocument/2006/relationships/oleObject" Target="../embeddings/oleObject1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68.wmf"/><Relationship Id="rId11" Type="http://schemas.openxmlformats.org/officeDocument/2006/relationships/image" Target="../media/image190.png"/><Relationship Id="rId5" Type="http://schemas.openxmlformats.org/officeDocument/2006/relationships/oleObject" Target="../embeddings/oleObject122.bin"/><Relationship Id="rId15" Type="http://schemas.openxmlformats.org/officeDocument/2006/relationships/image" Target="../media/image172.wmf"/><Relationship Id="rId10" Type="http://schemas.openxmlformats.org/officeDocument/2006/relationships/image" Target="../media/image170.wmf"/><Relationship Id="rId4" Type="http://schemas.openxmlformats.org/officeDocument/2006/relationships/image" Target="../media/image167.wmf"/><Relationship Id="rId9" Type="http://schemas.openxmlformats.org/officeDocument/2006/relationships/oleObject" Target="../embeddings/oleObject124.bin"/><Relationship Id="rId14" Type="http://schemas.openxmlformats.org/officeDocument/2006/relationships/oleObject" Target="../embeddings/oleObject126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3" Type="http://schemas.openxmlformats.org/officeDocument/2006/relationships/image" Target="../media/image173.png"/><Relationship Id="rId7" Type="http://schemas.openxmlformats.org/officeDocument/2006/relationships/image" Target="../media/image7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microsoft.com/office/2007/relationships/hdphoto" Target="../media/hdphoto2.wdp"/><Relationship Id="rId11" Type="http://schemas.openxmlformats.org/officeDocument/2006/relationships/image" Target="../media/image175.png"/><Relationship Id="rId5" Type="http://schemas.openxmlformats.org/officeDocument/2006/relationships/image" Target="../media/image174.png"/><Relationship Id="rId10" Type="http://schemas.openxmlformats.org/officeDocument/2006/relationships/image" Target="../media/image164.wmf"/><Relationship Id="rId4" Type="http://schemas.microsoft.com/office/2007/relationships/hdphoto" Target="../media/hdphoto1.wdp"/><Relationship Id="rId9" Type="http://schemas.openxmlformats.org/officeDocument/2006/relationships/oleObject" Target="../embeddings/oleObject127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jpeg"/><Relationship Id="rId7" Type="http://schemas.openxmlformats.org/officeDocument/2006/relationships/image" Target="../media/image181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0.png"/><Relationship Id="rId5" Type="http://schemas.openxmlformats.org/officeDocument/2006/relationships/image" Target="../media/image179.png"/><Relationship Id="rId4" Type="http://schemas.openxmlformats.org/officeDocument/2006/relationships/image" Target="../media/image178.jpe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2010.png"/><Relationship Id="rId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78.png"/><Relationship Id="rId11" Type="http://schemas.openxmlformats.org/officeDocument/2006/relationships/image" Target="../media/image183.png"/><Relationship Id="rId5" Type="http://schemas.openxmlformats.org/officeDocument/2006/relationships/image" Target="../media/image22.jpeg"/><Relationship Id="rId10" Type="http://schemas.openxmlformats.org/officeDocument/2006/relationships/image" Target="../media/image182.wmf"/><Relationship Id="rId4" Type="http://schemas.openxmlformats.org/officeDocument/2006/relationships/image" Target="../media/image148.jpeg"/><Relationship Id="rId9" Type="http://schemas.openxmlformats.org/officeDocument/2006/relationships/oleObject" Target="../embeddings/oleObject129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1.bin"/><Relationship Id="rId13" Type="http://schemas.openxmlformats.org/officeDocument/2006/relationships/image" Target="../media/image186.wmf"/><Relationship Id="rId3" Type="http://schemas.openxmlformats.org/officeDocument/2006/relationships/image" Target="../media/image35.jpeg"/><Relationship Id="rId7" Type="http://schemas.openxmlformats.org/officeDocument/2006/relationships/image" Target="../media/image187.png"/><Relationship Id="rId12" Type="http://schemas.openxmlformats.org/officeDocument/2006/relationships/oleObject" Target="../embeddings/oleObject1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2060.png"/><Relationship Id="rId11" Type="http://schemas.openxmlformats.org/officeDocument/2006/relationships/image" Target="../media/image185.wmf"/><Relationship Id="rId5" Type="http://schemas.openxmlformats.org/officeDocument/2006/relationships/image" Target="../media/image160.wmf"/><Relationship Id="rId15" Type="http://schemas.openxmlformats.org/officeDocument/2006/relationships/image" Target="../media/image209.png"/><Relationship Id="rId10" Type="http://schemas.openxmlformats.org/officeDocument/2006/relationships/oleObject" Target="../embeddings/oleObject132.bin"/><Relationship Id="rId4" Type="http://schemas.openxmlformats.org/officeDocument/2006/relationships/oleObject" Target="../embeddings/oleObject130.bin"/><Relationship Id="rId9" Type="http://schemas.openxmlformats.org/officeDocument/2006/relationships/image" Target="../media/image184.wmf"/><Relationship Id="rId14" Type="http://schemas.openxmlformats.org/officeDocument/2006/relationships/image" Target="../media/image188.jpe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3.png"/><Relationship Id="rId3" Type="http://schemas.openxmlformats.org/officeDocument/2006/relationships/image" Target="../media/image35.jpeg"/><Relationship Id="rId7" Type="http://schemas.openxmlformats.org/officeDocument/2006/relationships/image" Target="../media/image19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135.bin"/><Relationship Id="rId5" Type="http://schemas.openxmlformats.org/officeDocument/2006/relationships/image" Target="../media/image189.wmf"/><Relationship Id="rId4" Type="http://schemas.openxmlformats.org/officeDocument/2006/relationships/oleObject" Target="../embeddings/oleObject134.bin"/><Relationship Id="rId9" Type="http://schemas.openxmlformats.org/officeDocument/2006/relationships/image" Target="../media/image100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0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0.png"/><Relationship Id="rId5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40.png"/><Relationship Id="rId7" Type="http://schemas.openxmlformats.org/officeDocument/2006/relationships/image" Target="../media/image71.png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8.png"/><Relationship Id="rId9" Type="http://schemas.openxmlformats.org/officeDocument/2006/relationships/image" Target="../media/image6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320.png"/><Relationship Id="rId7" Type="http://schemas.openxmlformats.org/officeDocument/2006/relationships/image" Target="../media/image18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94854" y="548680"/>
            <a:ext cx="5979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Basics of Quantum Chromodynamics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36991" y="1671935"/>
            <a:ext cx="1499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000" dirty="0">
                <a:solidFill>
                  <a:schemeClr val="bg1"/>
                </a:solidFill>
              </a:rPr>
              <a:t>Faisal </a:t>
            </a:r>
            <a:r>
              <a:rPr lang="en-SG" sz="2000" dirty="0" err="1">
                <a:solidFill>
                  <a:schemeClr val="bg1"/>
                </a:solidFill>
              </a:rPr>
              <a:t>Akram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46432" y="5157192"/>
            <a:ext cx="488108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000" dirty="0">
                <a:solidFill>
                  <a:schemeClr val="bg1"/>
                </a:solidFill>
              </a:rPr>
              <a:t>5</a:t>
            </a:r>
            <a:r>
              <a:rPr lang="en-SG" sz="2000" baseline="30000" dirty="0">
                <a:solidFill>
                  <a:schemeClr val="bg1"/>
                </a:solidFill>
              </a:rPr>
              <a:t>th</a:t>
            </a:r>
            <a:r>
              <a:rPr lang="en-SG" sz="2000" dirty="0">
                <a:solidFill>
                  <a:schemeClr val="bg1"/>
                </a:solidFill>
              </a:rPr>
              <a:t> School on LHC Physics, 15-26 August 2016</a:t>
            </a:r>
          </a:p>
          <a:p>
            <a:pPr algn="ctr"/>
            <a:r>
              <a:rPr lang="en-SG" sz="2000" dirty="0">
                <a:solidFill>
                  <a:schemeClr val="bg1"/>
                </a:solidFill>
              </a:rPr>
              <a:t>NCP Islamabad</a:t>
            </a:r>
          </a:p>
          <a:p>
            <a:pPr algn="ctr"/>
            <a:r>
              <a:rPr lang="en-SG" sz="2000" dirty="0">
                <a:solidFill>
                  <a:schemeClr val="bg1"/>
                </a:solidFill>
              </a:rPr>
              <a:t>2015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62400" y="1109246"/>
            <a:ext cx="13656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(Two lectures)</a:t>
            </a:r>
          </a:p>
        </p:txBody>
      </p:sp>
    </p:spTree>
    <p:extLst>
      <p:ext uri="{BB962C8B-B14F-4D97-AF65-F5344CB8AC3E}">
        <p14:creationId xmlns:p14="http://schemas.microsoft.com/office/powerpoint/2010/main" val="132681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5453" y="430608"/>
            <a:ext cx="147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Outlines</a:t>
            </a:r>
            <a:endParaRPr lang="en-SG" sz="28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2" y="1167348"/>
            <a:ext cx="489160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brief introduction of QCD</a:t>
            </a:r>
          </a:p>
          <a:p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	</a:t>
            </a:r>
            <a:r>
              <a:rPr lang="en-US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Classical QCD </a:t>
            </a:r>
            <a:r>
              <a:rPr lang="en-US" sz="1400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Lagrangian</a:t>
            </a:r>
            <a:endParaRPr lang="en-US" sz="1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Quantization</a:t>
            </a:r>
          </a:p>
          <a:p>
            <a:r>
              <a:rPr lang="en-US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Green functions of QCD and SDE’s</a:t>
            </a:r>
          </a:p>
          <a:p>
            <a:endParaRPr lang="en-US" sz="1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sz="1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Perturbative QCD</a:t>
            </a:r>
          </a:p>
          <a:p>
            <a:pPr lvl="1"/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Perturbative calculation of QCD Green functions</a:t>
            </a:r>
          </a:p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Feynman Rules of QCD </a:t>
            </a:r>
          </a:p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Renormalization</a:t>
            </a:r>
          </a:p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Running of QCD coupling (Asymptotic freedom)</a:t>
            </a:r>
            <a:endParaRPr lang="en-SG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191000"/>
            <a:ext cx="4188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Non-Perturbative QCD</a:t>
            </a:r>
          </a:p>
          <a:p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</a:t>
            </a:r>
            <a:r>
              <a:rPr lang="en-US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Confinement</a:t>
            </a:r>
          </a:p>
          <a:p>
            <a:r>
              <a:rPr lang="en-US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QCD phase transition</a:t>
            </a:r>
          </a:p>
          <a:p>
            <a:r>
              <a:rPr lang="en-US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Dynamical breaking of chiral symmetry</a:t>
            </a:r>
            <a:endParaRPr lang="en-SG" sz="1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07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9109" y="152400"/>
            <a:ext cx="552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Elementary Particle Physics Today</a:t>
            </a:r>
            <a:endParaRPr lang="en-SG" sz="28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836712"/>
            <a:ext cx="2168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Elementary particles: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2099846"/>
            <a:ext cx="825547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Quarks: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33156" y="1981200"/>
                <a:ext cx="2248244" cy="534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</a:rPr>
                      <m:t>     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156" y="1981200"/>
                <a:ext cx="2248244" cy="534185"/>
              </a:xfrm>
              <a:prstGeom prst="rect">
                <a:avLst/>
              </a:prstGeom>
              <a:blipFill rotWithShape="0">
                <a:blip r:embed="rId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81000" y="2819400"/>
            <a:ext cx="898323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Leptons: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76540" y="2667000"/>
                <a:ext cx="2128660" cy="5520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𝑒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</a:rPr>
                      <m:t>     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540" y="2667000"/>
                <a:ext cx="2128660" cy="5520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81000" y="3544668"/>
            <a:ext cx="1415644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Gauge Bosons: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828800" y="3513469"/>
                <a:ext cx="2558393" cy="3727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𝛾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  </m:t>
                    </m:r>
                    <m:sSup>
                      <m:s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±</m:t>
                        </m:r>
                      </m:sup>
                    </m:sSup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  </m:t>
                    </m:r>
                    <m:sSup>
                      <m:s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p>
                    </m:sSup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en-SG" dirty="0">
                    <a:solidFill>
                      <a:schemeClr val="bg1"/>
                    </a:solidFill>
                  </a:rPr>
                  <a:t> and 8 gluons</a:t>
                </a:r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513469"/>
                <a:ext cx="2558393" cy="372731"/>
              </a:xfrm>
              <a:prstGeom prst="rect">
                <a:avLst/>
              </a:prstGeom>
              <a:blipFill rotWithShape="0">
                <a:blip r:embed="rId4"/>
                <a:stretch>
                  <a:fillRect t="-6452" r="-1190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81000" y="4157246"/>
            <a:ext cx="1332737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Higgs Bosons: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905000" y="4126468"/>
                <a:ext cx="20428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</a:t>
                </a:r>
                <a:r>
                  <a:rPr lang="en-US" sz="1400" dirty="0">
                    <a:solidFill>
                      <a:schemeClr val="bg1"/>
                    </a:solidFill>
                  </a:rPr>
                  <a:t>(God/Mother particle)</a:t>
                </a:r>
                <a:endParaRPr lang="en-US" sz="1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126468"/>
                <a:ext cx="2042867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167451" y="2057400"/>
            <a:ext cx="937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Hadrons: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16" name="Left Brace 15"/>
          <p:cNvSpPr/>
          <p:nvPr/>
        </p:nvSpPr>
        <p:spPr>
          <a:xfrm>
            <a:off x="5083887" y="1981200"/>
            <a:ext cx="326313" cy="512177"/>
          </a:xfrm>
          <a:prstGeom prst="lef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455175" y="1929825"/>
                <a:ext cx="1889492" cy="686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Meson: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=0,1,2…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Baryons: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175" y="1929825"/>
                <a:ext cx="1889492" cy="686213"/>
              </a:xfrm>
              <a:prstGeom prst="rect">
                <a:avLst/>
              </a:prstGeom>
              <a:blipFill rotWithShape="0">
                <a:blip r:embed="rId6"/>
                <a:stretch>
                  <a:fillRect l="-1935" t="-2679" b="-4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V="1">
            <a:off x="3558147" y="2224548"/>
            <a:ext cx="480453" cy="212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62800" y="2590800"/>
            <a:ext cx="84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Baryon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7162800" y="2971800"/>
            <a:ext cx="838200" cy="828764"/>
            <a:chOff x="2914650" y="4386218"/>
            <a:chExt cx="838200" cy="828764"/>
          </a:xfrm>
        </p:grpSpPr>
        <p:sp>
          <p:nvSpPr>
            <p:cNvPr id="36" name="Oval 35"/>
            <p:cNvSpPr/>
            <p:nvPr/>
          </p:nvSpPr>
          <p:spPr>
            <a:xfrm>
              <a:off x="2914650" y="4386218"/>
              <a:ext cx="838200" cy="82876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3200400" y="4533900"/>
              <a:ext cx="266700" cy="2667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3390900" y="4800600"/>
              <a:ext cx="266700" cy="2667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3048000" y="4800600"/>
              <a:ext cx="266700" cy="2667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5764306" y="2971800"/>
            <a:ext cx="818677" cy="801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851099" y="3228109"/>
            <a:ext cx="266700" cy="27709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6172200" y="3228109"/>
            <a:ext cx="266700" cy="277091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5736227" y="2610201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Meson: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3962400"/>
            <a:ext cx="4179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399 Mesons, 574 Baryons have been discovered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" y="4860449"/>
            <a:ext cx="5514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Strong interaction (Quantum Chromodynamics)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Electro-weak interaction (Quantum electro-flavor dynamics) </a:t>
            </a:r>
          </a:p>
        </p:txBody>
      </p:sp>
      <p:sp>
        <p:nvSpPr>
          <p:cNvPr id="52" name="Right Brace 51"/>
          <p:cNvSpPr/>
          <p:nvPr/>
        </p:nvSpPr>
        <p:spPr>
          <a:xfrm>
            <a:off x="5638800" y="4901625"/>
            <a:ext cx="457200" cy="660975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6189406" y="5034662"/>
            <a:ext cx="2145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Standard Model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592" y="1239724"/>
            <a:ext cx="748794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Quarks		Leptons		 Gauge Bosons	  Higgs Boson</a:t>
            </a:r>
          </a:p>
          <a:p>
            <a:r>
              <a:rPr lang="en-US" sz="1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(can interact through	(cannot interact through	    (mediate interactions)	    (impart mass to the elementary</a:t>
            </a:r>
          </a:p>
          <a:p>
            <a:r>
              <a:rPr lang="en-US" sz="1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strong interaction)	strong interaction)			     particles)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928" y="5805264"/>
            <a:ext cx="6956456" cy="58477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Explaining the properties of the Hadrons in terms of QCD’s fundamental  degrees </a:t>
            </a:r>
          </a:p>
          <a:p>
            <a:r>
              <a:rPr lang="en-US" sz="1600" dirty="0">
                <a:solidFill>
                  <a:schemeClr val="bg1"/>
                </a:solidFill>
              </a:rPr>
              <a:t>of freedom is the Problem laying at the forefront of Hadronic physics.</a:t>
            </a:r>
          </a:p>
        </p:txBody>
      </p:sp>
    </p:spTree>
    <p:extLst>
      <p:ext uri="{BB962C8B-B14F-4D97-AF65-F5344CB8AC3E}">
        <p14:creationId xmlns:p14="http://schemas.microsoft.com/office/powerpoint/2010/main" val="385604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/>
      <p:bldP spid="16" grpId="0" animBg="1"/>
      <p:bldP spid="17" grpId="0"/>
      <p:bldP spid="34" grpId="0"/>
      <p:bldP spid="46" grpId="0" animBg="1"/>
      <p:bldP spid="47" grpId="0" animBg="1"/>
      <p:bldP spid="48" grpId="0" animBg="1"/>
      <p:bldP spid="49" grpId="0"/>
      <p:bldP spid="50" grpId="0"/>
      <p:bldP spid="51" grpId="0"/>
      <p:bldP spid="52" grpId="0" animBg="1"/>
      <p:bldP spid="53" grpId="0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83462" y="166047"/>
            <a:ext cx="6761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How these elementary particles and the SM is discovered?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2089" y="850488"/>
            <a:ext cx="2448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Scattering Experiments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Decay Processes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Study of bound states</a:t>
            </a:r>
            <a:endParaRPr lang="en-SG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Right Brace 15"/>
          <p:cNvSpPr/>
          <p:nvPr/>
        </p:nvSpPr>
        <p:spPr>
          <a:xfrm>
            <a:off x="2721666" y="845403"/>
            <a:ext cx="315567" cy="830997"/>
          </a:xfrm>
          <a:prstGeom prst="rightBrac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ight Arrow 17"/>
          <p:cNvSpPr/>
          <p:nvPr/>
        </p:nvSpPr>
        <p:spPr>
          <a:xfrm>
            <a:off x="3200400" y="1081548"/>
            <a:ext cx="381000" cy="381000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/>
          <p:cNvSpPr txBox="1"/>
          <p:nvPr/>
        </p:nvSpPr>
        <p:spPr>
          <a:xfrm>
            <a:off x="3657600" y="990600"/>
            <a:ext cx="37642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Cross sections, Decay Constants,</a:t>
            </a:r>
          </a:p>
          <a:p>
            <a:r>
              <a:rPr lang="en-US" sz="1600" dirty="0">
                <a:solidFill>
                  <a:schemeClr val="bg1"/>
                </a:solidFill>
              </a:rPr>
              <a:t>Masses, Spin , Couplings, Form factors, etc.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20" name="Smiley Face 19"/>
          <p:cNvSpPr/>
          <p:nvPr/>
        </p:nvSpPr>
        <p:spPr>
          <a:xfrm>
            <a:off x="382089" y="2209800"/>
            <a:ext cx="540226" cy="489833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/>
          <p:cNvSpPr txBox="1"/>
          <p:nvPr/>
        </p:nvSpPr>
        <p:spPr>
          <a:xfrm>
            <a:off x="192434" y="2895600"/>
            <a:ext cx="1395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Experimental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Particle Physicist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08533" y="2370941"/>
            <a:ext cx="760136" cy="205111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Hexagon 25"/>
          <p:cNvSpPr/>
          <p:nvPr/>
        </p:nvSpPr>
        <p:spPr>
          <a:xfrm>
            <a:off x="1826102" y="2120869"/>
            <a:ext cx="1439813" cy="698531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Particle Accelerators and detectors</a:t>
            </a:r>
            <a:endParaRPr lang="en-SG" sz="1200" dirty="0"/>
          </a:p>
        </p:txBody>
      </p:sp>
      <p:sp>
        <p:nvSpPr>
          <p:cNvPr id="27" name="Right Arrow 26"/>
          <p:cNvSpPr/>
          <p:nvPr/>
        </p:nvSpPr>
        <p:spPr>
          <a:xfrm rot="5400000">
            <a:off x="2160414" y="3155907"/>
            <a:ext cx="743891" cy="259495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TextBox 27"/>
          <p:cNvSpPr txBox="1"/>
          <p:nvPr/>
        </p:nvSpPr>
        <p:spPr>
          <a:xfrm>
            <a:off x="1708108" y="3824748"/>
            <a:ext cx="1679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Measured values of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physical observables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29" name="Smiley Face 28"/>
          <p:cNvSpPr/>
          <p:nvPr/>
        </p:nvSpPr>
        <p:spPr>
          <a:xfrm>
            <a:off x="6346112" y="2224548"/>
            <a:ext cx="540226" cy="489833"/>
          </a:xfrm>
          <a:prstGeom prst="smileyFace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Hexagon 29"/>
          <p:cNvSpPr/>
          <p:nvPr/>
        </p:nvSpPr>
        <p:spPr>
          <a:xfrm>
            <a:off x="4011304" y="2133600"/>
            <a:ext cx="1439813" cy="698531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Models</a:t>
            </a:r>
            <a:endParaRPr lang="en-SG" dirty="0"/>
          </a:p>
        </p:txBody>
      </p:sp>
      <p:sp>
        <p:nvSpPr>
          <p:cNvPr id="31" name="TextBox 30"/>
          <p:cNvSpPr txBox="1"/>
          <p:nvPr/>
        </p:nvSpPr>
        <p:spPr>
          <a:xfrm>
            <a:off x="5965208" y="2819400"/>
            <a:ext cx="1465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Particle Physics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Phenomenologist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 rot="10800000">
            <a:off x="5492061" y="2391697"/>
            <a:ext cx="760136" cy="205111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Right Arrow 32"/>
          <p:cNvSpPr/>
          <p:nvPr/>
        </p:nvSpPr>
        <p:spPr>
          <a:xfrm rot="5400000">
            <a:off x="4359264" y="3152546"/>
            <a:ext cx="743891" cy="259495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3"/>
          <p:cNvSpPr txBox="1"/>
          <p:nvPr/>
        </p:nvSpPr>
        <p:spPr>
          <a:xfrm>
            <a:off x="4020983" y="3810000"/>
            <a:ext cx="1679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Calculated values of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physical observables</a:t>
            </a:r>
            <a:endParaRPr lang="en-SG" sz="1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424237" y="3886200"/>
                <a:ext cx="479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237" y="3886200"/>
                <a:ext cx="479618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miley Face 35"/>
          <p:cNvSpPr/>
          <p:nvPr/>
        </p:nvSpPr>
        <p:spPr>
          <a:xfrm>
            <a:off x="7848600" y="2209800"/>
            <a:ext cx="540226" cy="489833"/>
          </a:xfrm>
          <a:prstGeom prst="smileyFac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TextBox 37"/>
          <p:cNvSpPr txBox="1"/>
          <p:nvPr/>
        </p:nvSpPr>
        <p:spPr>
          <a:xfrm>
            <a:off x="7430289" y="2829580"/>
            <a:ext cx="1593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Theoretical Particle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Physicist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39" name="Right Arrow 38"/>
          <p:cNvSpPr/>
          <p:nvPr/>
        </p:nvSpPr>
        <p:spPr>
          <a:xfrm rot="10800000">
            <a:off x="6967467" y="2376948"/>
            <a:ext cx="760136" cy="205111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Cloud Callout 36"/>
          <p:cNvSpPr/>
          <p:nvPr/>
        </p:nvSpPr>
        <p:spPr>
          <a:xfrm>
            <a:off x="7848600" y="1064653"/>
            <a:ext cx="1174754" cy="840347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Models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2089" y="5715000"/>
            <a:ext cx="7922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Decades of observation and calculations show that the Standard Model of particle physics</a:t>
            </a:r>
          </a:p>
          <a:p>
            <a:r>
              <a:rPr lang="en-US" sz="1600" dirty="0">
                <a:solidFill>
                  <a:schemeClr val="bg1"/>
                </a:solidFill>
              </a:rPr>
              <a:t>can describe almost every thing which we have observed in the labs of high energy physics.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3366512" y="3824988"/>
            <a:ext cx="596746" cy="5947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5433098" y="4503003"/>
            <a:ext cx="3187026" cy="83099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</a:rPr>
              <a:t>It is more important to have beauty </a:t>
            </a:r>
          </a:p>
          <a:p>
            <a:r>
              <a:rPr lang="en-SG" sz="1600" dirty="0">
                <a:solidFill>
                  <a:schemeClr val="bg1"/>
                </a:solidFill>
              </a:rPr>
              <a:t>in one's equations than to have </a:t>
            </a:r>
          </a:p>
          <a:p>
            <a:r>
              <a:rPr lang="en-SG" sz="1600" dirty="0">
                <a:solidFill>
                  <a:schemeClr val="bg1"/>
                </a:solidFill>
              </a:rPr>
              <a:t>them fit experiment..... P.A.M Dirac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347535" y="2763456"/>
            <a:ext cx="627922" cy="158440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376840" y="2695340"/>
            <a:ext cx="1923360" cy="174384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77686" y="4497541"/>
            <a:ext cx="4407617" cy="83099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SG" sz="1600" dirty="0"/>
              <a:t>It doesn’t matter how </a:t>
            </a:r>
            <a:r>
              <a:rPr lang="en-SG" sz="1600" dirty="0" err="1"/>
              <a:t>beautifull</a:t>
            </a:r>
            <a:r>
              <a:rPr lang="en-SG" sz="1600" dirty="0"/>
              <a:t> your theory is,</a:t>
            </a:r>
          </a:p>
          <a:p>
            <a:r>
              <a:rPr lang="en-US" sz="1600" dirty="0"/>
              <a:t>It doesn’t matter how smart you are. If it doesn’t</a:t>
            </a:r>
          </a:p>
          <a:p>
            <a:r>
              <a:rPr lang="en-US" sz="1600" dirty="0"/>
              <a:t>agree with experiment, it’s wrong… R.P. </a:t>
            </a:r>
            <a:r>
              <a:rPr lang="en-US" sz="1600" dirty="0" err="1"/>
              <a:t>Feynmann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1911068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19" grpId="0"/>
      <p:bldP spid="20" grpId="0" animBg="1"/>
      <p:bldP spid="22" grpId="0"/>
      <p:bldP spid="23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/>
      <p:bldP spid="32" grpId="0" animBg="1"/>
      <p:bldP spid="33" grpId="0" animBg="1"/>
      <p:bldP spid="34" grpId="0"/>
      <p:bldP spid="35" grpId="0"/>
      <p:bldP spid="36" grpId="0" animBg="1"/>
      <p:bldP spid="38" grpId="0"/>
      <p:bldP spid="39" grpId="0" animBg="1"/>
      <p:bldP spid="37" grpId="0" animBg="1"/>
      <p:bldP spid="40" grpId="0"/>
      <p:bldP spid="41" grpId="0" animBg="1"/>
      <p:bldP spid="8" grpId="0" animBg="1"/>
      <p:bldP spid="4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26206" y="57090"/>
            <a:ext cx="2876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Quick review of QFT’s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0902" y="457200"/>
            <a:ext cx="773827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standard model is a quantum field theory.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 field theories, fields (defined by field functions) act as fundamental </a:t>
            </a:r>
            <a:r>
              <a:rPr lang="en-US" sz="1600" dirty="0" err="1">
                <a:solidFill>
                  <a:schemeClr val="bg1"/>
                </a:solidFill>
              </a:rPr>
              <a:t>dof</a:t>
            </a:r>
            <a:r>
              <a:rPr lang="en-US" sz="1600" dirty="0">
                <a:solidFill>
                  <a:schemeClr val="bg1"/>
                </a:solidFill>
              </a:rPr>
              <a:t> of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To every different kind of a particle we associate a field.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</a:t>
            </a:r>
            <a:r>
              <a:rPr lang="en-US" sz="1400" dirty="0">
                <a:solidFill>
                  <a:schemeClr val="bg1"/>
                </a:solidFill>
              </a:rPr>
              <a:t>(e.g., electron field, proton field, photon field </a:t>
            </a:r>
            <a:r>
              <a:rPr lang="en-US" sz="1400" dirty="0" err="1">
                <a:solidFill>
                  <a:schemeClr val="bg1"/>
                </a:solidFill>
              </a:rPr>
              <a:t>etc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Particles appear as quanta of field.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3"/>
              <p:cNvSpPr/>
              <p:nvPr/>
            </p:nvSpPr>
            <p:spPr>
              <a:xfrm>
                <a:off x="758403" y="2590800"/>
                <a:ext cx="1371600" cy="1143000"/>
              </a:xfrm>
              <a:prstGeom prst="clou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  </m:t>
                      </m:r>
                      <m:r>
                        <a:rPr lang="el-GR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𝜙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lou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03" y="2590800"/>
                <a:ext cx="1371600" cy="1143000"/>
              </a:xfrm>
              <a:prstGeom prst="clou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4"/>
          <p:cNvSpPr/>
          <p:nvPr/>
        </p:nvSpPr>
        <p:spPr>
          <a:xfrm>
            <a:off x="2363397" y="2955498"/>
            <a:ext cx="754710" cy="2648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Cloud 5"/>
          <p:cNvSpPr/>
          <p:nvPr/>
        </p:nvSpPr>
        <p:spPr>
          <a:xfrm>
            <a:off x="3384642" y="2590800"/>
            <a:ext cx="1371600" cy="1143000"/>
          </a:xfrm>
          <a:prstGeom prst="cloud">
            <a:avLst/>
          </a:prstGeom>
          <a:pattFill prst="lgConfetti">
            <a:fgClr>
              <a:schemeClr val="tx1"/>
            </a:fgClr>
            <a:bgClr>
              <a:srgbClr val="FFC000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538638" y="2824693"/>
            <a:ext cx="791765" cy="16927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65660" y="2633246"/>
            <a:ext cx="3397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Quanta of field has particle properties.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09800" y="2667000"/>
            <a:ext cx="1125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Quantization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1000" y="3776246"/>
            <a:ext cx="3164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Equation of motion of the 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57200" y="4412556"/>
                <a:ext cx="2443298" cy="88761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Free Scalar Field: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)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1600" i="1" dirty="0">
                  <a:solidFill>
                    <a:schemeClr val="bg1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†</m:t>
                          </m:r>
                        </m:sup>
                      </m:sSup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r>
                        <a:rPr lang="en-US" sz="160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𝜙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†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𝜙</m:t>
                      </m:r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412556"/>
                <a:ext cx="2443298" cy="887615"/>
              </a:xfrm>
              <a:prstGeom prst="rect">
                <a:avLst/>
              </a:prstGeom>
              <a:blipFill>
                <a:blip r:embed="rId3"/>
                <a:stretch>
                  <a:fillRect l="-1247" t="-2069" b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33953" y="5711675"/>
                <a:ext cx="2233047" cy="8965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Free Dirac Field: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𝑚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𝑖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</m:acc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r>
                        <a:rPr lang="en-US" sz="160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𝜓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𝑚</m:t>
                      </m:r>
                      <m:acc>
                        <m:accPr>
                          <m:chr m:val="̅"/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</m:acc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𝜓</m:t>
                      </m:r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53" y="5711675"/>
                <a:ext cx="2233047" cy="896592"/>
              </a:xfrm>
              <a:prstGeom prst="rect">
                <a:avLst/>
              </a:prstGeom>
              <a:blipFill>
                <a:blip r:embed="rId4"/>
                <a:stretch>
                  <a:fillRect l="-1362" t="-2041" b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24200" y="4361900"/>
                <a:ext cx="2359107" cy="131433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Free abelian Vector Field: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)=0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400" b="0" i="0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b>
                      </m:sSub>
                      <m:sSup>
                        <m:sSup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p>
                      </m:sSup>
                    </m:oMath>
                  </m:oMathPara>
                </a14:m>
                <a:endParaRPr lang="en-US" sz="1600" b="0" i="1" dirty="0">
                  <a:solidFill>
                    <a:schemeClr val="bg1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𝜈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𝜈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4361900"/>
                <a:ext cx="2359107" cy="1314334"/>
              </a:xfrm>
              <a:prstGeom prst="rect">
                <a:avLst/>
              </a:prstGeom>
              <a:blipFill>
                <a:blip r:embed="rId5"/>
                <a:stretch>
                  <a:fillRect l="-1554" t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81000" y="4111823"/>
                <a:ext cx="7337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=0)</m:t>
                    </m:r>
                  </m:oMath>
                </a14:m>
                <a:endParaRPr lang="en-SG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4111823"/>
                <a:ext cx="733727" cy="307777"/>
              </a:xfrm>
              <a:prstGeom prst="rect">
                <a:avLst/>
              </a:prstGeom>
              <a:blipFill>
                <a:blip r:embed="rId6"/>
                <a:stretch>
                  <a:fillRect l="-250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74122" y="5407223"/>
                <a:ext cx="9212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=1/2)</m:t>
                    </m:r>
                  </m:oMath>
                </a14:m>
                <a:endParaRPr lang="en-SG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22" y="5407223"/>
                <a:ext cx="921278" cy="307777"/>
              </a:xfrm>
              <a:prstGeom prst="rect">
                <a:avLst/>
              </a:prstGeom>
              <a:blipFill>
                <a:blip r:embed="rId7"/>
                <a:stretch>
                  <a:fillRect l="-1974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48000" y="4038600"/>
                <a:ext cx="7337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=1)</m:t>
                    </m:r>
                  </m:oMath>
                </a14:m>
                <a:endParaRPr lang="en-SG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038600"/>
                <a:ext cx="733727" cy="307777"/>
              </a:xfrm>
              <a:prstGeom prst="rect">
                <a:avLst/>
              </a:prstGeom>
              <a:blipFill>
                <a:blip r:embed="rId8"/>
                <a:stretch>
                  <a:fillRect l="-250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570933" y="4357255"/>
                <a:ext cx="3268267" cy="1074333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i="1" dirty="0">
                    <a:solidFill>
                      <a:schemeClr val="bg1"/>
                    </a:solidFill>
                  </a:rPr>
                  <a:t>Fee</a:t>
                </a:r>
                <a:r>
                  <a:rPr lang="en-US" sz="1600" dirty="0">
                    <a:solidFill>
                      <a:schemeClr val="bg1"/>
                    </a:solidFill>
                  </a:rPr>
                  <a:t> Non-abelian Vector Field: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</m:sub>
                      </m:sSub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p>
                      </m:sSubSup>
                    </m:oMath>
                  </m:oMathPara>
                </a14:m>
                <a:endParaRPr lang="en-US" sz="1600" b="0" i="1" dirty="0">
                  <a:solidFill>
                    <a:schemeClr val="bg1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p>
                      </m:sSub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𝜈</m:t>
                          </m:r>
                        </m:sup>
                      </m:sSub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𝜈</m:t>
                          </m:r>
                        </m:sup>
                      </m:sSup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b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𝑎𝑏𝑐</m:t>
                          </m:r>
                        </m:sub>
                      </m:sSub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𝑏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bSup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𝑐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𝜈</m:t>
                          </m:r>
                        </m:sup>
                      </m:sSubSup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0933" y="4357255"/>
                <a:ext cx="3268267" cy="1074333"/>
              </a:xfrm>
              <a:prstGeom prst="rect">
                <a:avLst/>
              </a:prstGeom>
              <a:blipFill>
                <a:blip r:embed="rId9"/>
                <a:stretch>
                  <a:fillRect l="-1119" t="-1705" b="-17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514673" y="4035623"/>
                <a:ext cx="7337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=1)</m:t>
                    </m:r>
                  </m:oMath>
                </a14:m>
                <a:endParaRPr lang="en-SG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673" y="4035623"/>
                <a:ext cx="733727" cy="307777"/>
              </a:xfrm>
              <a:prstGeom prst="rect">
                <a:avLst/>
              </a:prstGeom>
              <a:blipFill>
                <a:blip r:embed="rId10"/>
                <a:stretch>
                  <a:fillRect l="-2500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1103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  <p:bldP spid="9" grpId="0"/>
      <p:bldP spid="10" grpId="0"/>
      <p:bldP spid="11" grpId="0" animBg="1"/>
      <p:bldP spid="12" grpId="0" animBg="1"/>
      <p:bldP spid="13" grpId="0" animBg="1"/>
      <p:bldP spid="15" grpId="0"/>
      <p:bldP spid="16" grpId="0"/>
      <p:bldP spid="17" grpId="0"/>
      <p:bldP spid="18" grpId="0" animBg="1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11003" y="762000"/>
                <a:ext cx="4643900" cy="8591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Interaction is introduced by the coupling of fields</a:t>
                </a:r>
                <a:r>
                  <a:rPr lang="en-SG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.</a:t>
                </a:r>
              </a:p>
              <a:p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      </a:t>
                </a:r>
              </a:p>
              <a:p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     For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𝐼</m:t>
                        </m:r>
                      </m:sub>
                    </m:sSub>
                    <m:r>
                      <a:rPr lang="en-US" sz="1600" i="1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/>
                        <a:ea typeface="Cambria Math"/>
                      </a:rPr>
                      <m:t>𝑒</m:t>
                    </m:r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r>
                      <a:rPr lang="en-US" sz="1600" i="1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/>
                        <a:ea typeface="Cambria Math"/>
                      </a:rPr>
                      <m:t>𝜓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for QED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03" y="762000"/>
                <a:ext cx="4643900" cy="859146"/>
              </a:xfrm>
              <a:prstGeom prst="rect">
                <a:avLst/>
              </a:prstGeom>
              <a:blipFill>
                <a:blip r:embed="rId2"/>
                <a:stretch>
                  <a:fillRect l="-525" t="-2128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70059" y="3705761"/>
                <a:ext cx="4944941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 gauge theories coupling are further constrained by the </a:t>
                </a:r>
                <a:r>
                  <a:rPr lang="en-US" sz="16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gauge symmetries</a:t>
                </a:r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.</a:t>
                </a:r>
              </a:p>
              <a:p>
                <a:endParaRPr lang="en-US" sz="16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/>
                  </a:rPr>
                  <a:t>        i)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𝑆𝑈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chemeClr val="accent6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accent6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</m:d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𝐿</m:t>
                        </m:r>
                      </m:sub>
                    </m:sSub>
                    <m:r>
                      <a:rPr lang="en-US" sz="1600" i="1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/>
                        <a:ea typeface="Cambria Math"/>
                      </a:rPr>
                      <m:t>⊗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𝑈</m:t>
                        </m:r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(1)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SG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for electroweak interaction.</a:t>
                </a:r>
              </a:p>
              <a:p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       ii)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</a:rPr>
                          <m:t>𝑆𝑈</m:t>
                        </m:r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</a:rPr>
                          <m:t>(3)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SG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for strong interaction.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59" y="3705761"/>
                <a:ext cx="4944941" cy="1323439"/>
              </a:xfrm>
              <a:prstGeom prst="rect">
                <a:avLst/>
              </a:prstGeom>
              <a:blipFill>
                <a:blip r:embed="rId3"/>
                <a:stretch>
                  <a:fillRect l="-493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62000" y="2590800"/>
            <a:ext cx="4285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Only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Lorentz invariant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couplings are allowed.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43000" y="1582098"/>
            <a:ext cx="916615" cy="789086"/>
            <a:chOff x="5336352" y="2389496"/>
            <a:chExt cx="916615" cy="789086"/>
          </a:xfrm>
        </p:grpSpPr>
        <p:pic>
          <p:nvPicPr>
            <p:cNvPr id="12" name="Picture 5" descr="C:\Users\Faisal Akram\Desktop\Untitled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6352" y="2389496"/>
              <a:ext cx="916615" cy="789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489513" y="2889365"/>
                  <a:ext cx="30514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000" i="1" smtClean="0">
                            <a:latin typeface="Cambria Math"/>
                            <a:ea typeface="Cambria Math"/>
                          </a:rPr>
                          <m:t>𝜓</m:t>
                        </m:r>
                      </m:oMath>
                    </m:oMathPara>
                  </a14:m>
                  <a:endParaRPr lang="en-SG" sz="1000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9513" y="2889365"/>
                  <a:ext cx="305147" cy="246221"/>
                </a:xfrm>
                <a:prstGeom prst="rect">
                  <a:avLst/>
                </a:prstGeom>
                <a:blipFill>
                  <a:blip r:embed="rId5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509949" y="2435095"/>
                  <a:ext cx="305147" cy="2478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l-GR" sz="10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l-GR" sz="1000" i="1" smtClean="0">
                                <a:latin typeface="Cambria Math"/>
                                <a:ea typeface="Cambria Math"/>
                              </a:rPr>
                              <m:t>𝜓</m:t>
                            </m:r>
                          </m:e>
                        </m:acc>
                      </m:oMath>
                    </m:oMathPara>
                  </a14:m>
                  <a:endParaRPr lang="en-SG" sz="10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9949" y="2435095"/>
                  <a:ext cx="305147" cy="247825"/>
                </a:xfrm>
                <a:prstGeom prst="rect">
                  <a:avLst/>
                </a:prstGeom>
                <a:blipFill>
                  <a:blip r:embed="rId6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877327" y="2477024"/>
                  <a:ext cx="284309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000" i="1" smtClean="0">
                            <a:latin typeface="Cambria Math"/>
                            <a:ea typeface="Cambria Math"/>
                          </a:rPr>
                          <m:t>𝛾</m:t>
                        </m:r>
                      </m:oMath>
                    </m:oMathPara>
                  </a14:m>
                  <a:endParaRPr lang="en-SG" sz="10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7327" y="2477024"/>
                  <a:ext cx="284309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78894" y="2971800"/>
                <a:ext cx="5414880" cy="36683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ℒ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𝐼</m:t>
                        </m:r>
                      </m:sub>
                    </m:sSub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; </a:t>
                </a:r>
                <a:r>
                  <a:rPr lang="en-US" sz="1600" dirty="0">
                    <a:solidFill>
                      <a:schemeClr val="bg1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5</m:t>
                        </m:r>
                      </m:sup>
                    </m:sSup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  <a:ea typeface="Cambria Math"/>
                  </a:rPr>
                  <a:t>;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5</m:t>
                        </m:r>
                      </m:sup>
                    </m:sSup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;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r>
                      <a:rPr lang="en-US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/>
                      </a:rPr>
                      <m:t>;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. . . .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894" y="2971800"/>
                <a:ext cx="5414880" cy="366832"/>
              </a:xfrm>
              <a:prstGeom prst="rect">
                <a:avLst/>
              </a:prstGeom>
              <a:blipFill>
                <a:blip r:embed="rId8"/>
                <a:stretch>
                  <a:fillRect t="-1667" r="-45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3226206" y="76200"/>
            <a:ext cx="2876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A Quick review of QFT’s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925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86384" y="152400"/>
            <a:ext cx="3355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Quantum Chromo Dynamics (QCD)</a:t>
            </a:r>
          </a:p>
          <a:p>
            <a:pPr algn="ctr"/>
            <a:r>
              <a:rPr lang="en-US" sz="12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(Foundations)</a:t>
            </a:r>
            <a:endParaRPr lang="en-SG" sz="12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0" y="685800"/>
            <a:ext cx="76532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QCD is the theory of strong interaction of quarks, which </a:t>
            </a:r>
            <a:r>
              <a:rPr lang="en-US" sz="1400" dirty="0">
                <a:solidFill>
                  <a:schemeClr val="bg1"/>
                </a:solidFill>
              </a:rPr>
              <a:t>is based on SU(3)</a:t>
            </a:r>
            <a:r>
              <a:rPr lang="en-US" sz="1400" baseline="-25000" dirty="0">
                <a:solidFill>
                  <a:schemeClr val="bg1"/>
                </a:solidFill>
              </a:rPr>
              <a:t>c</a:t>
            </a:r>
            <a:r>
              <a:rPr lang="en-US" sz="1400" dirty="0">
                <a:solidFill>
                  <a:schemeClr val="bg1"/>
                </a:solidFill>
              </a:rPr>
              <a:t> color symmetry. </a:t>
            </a:r>
            <a:endParaRPr lang="en-US" sz="1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It assumes each flavor of quark comes in three different </a:t>
            </a:r>
            <a:r>
              <a:rPr lang="en-US" sz="1400" i="1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colors</a:t>
            </a:r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color states of quarks are SU(3) triplets.</a:t>
            </a:r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066800" y="2057400"/>
            <a:ext cx="2124174" cy="950567"/>
            <a:chOff x="950319" y="1603821"/>
            <a:chExt cx="2124174" cy="9505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/>
                <p:cNvSpPr/>
                <p:nvPr/>
              </p:nvSpPr>
              <p:spPr>
                <a:xfrm>
                  <a:off x="950319" y="1639190"/>
                  <a:ext cx="533400" cy="53340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Oval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0319" y="1639190"/>
                  <a:ext cx="533400" cy="53340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/>
                <p:cNvSpPr/>
                <p:nvPr/>
              </p:nvSpPr>
              <p:spPr>
                <a:xfrm>
                  <a:off x="1716301" y="1614964"/>
                  <a:ext cx="533400" cy="533400"/>
                </a:xfrm>
                <a:prstGeom prst="ellipse">
                  <a:avLst/>
                </a:prstGeom>
                <a:solidFill>
                  <a:srgbClr val="00B05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Oval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16301" y="1614964"/>
                  <a:ext cx="533400" cy="53340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/>
                <p:cNvSpPr/>
                <p:nvPr/>
              </p:nvSpPr>
              <p:spPr>
                <a:xfrm>
                  <a:off x="2541093" y="1603821"/>
                  <a:ext cx="533400" cy="533400"/>
                </a:xfrm>
                <a:prstGeom prst="ellipse">
                  <a:avLst/>
                </a:prstGeom>
                <a:solidFill>
                  <a:srgbClr val="3333FF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Oval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1093" y="1603821"/>
                  <a:ext cx="533400" cy="533400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1021132" y="2137221"/>
                  <a:ext cx="3917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132" y="2137221"/>
                  <a:ext cx="39177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1814547" y="2145270"/>
                  <a:ext cx="39356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4547" y="2145270"/>
                  <a:ext cx="39356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609758" y="2185056"/>
                  <a:ext cx="3960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9758" y="2185056"/>
                  <a:ext cx="396070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/>
          <p:cNvSpPr txBox="1"/>
          <p:nvPr/>
        </p:nvSpPr>
        <p:spPr>
          <a:xfrm>
            <a:off x="860995" y="3959423"/>
            <a:ext cx="37648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color states of quarks are SU(3)</a:t>
            </a:r>
            <a:r>
              <a:rPr lang="en-US" sz="1400" baseline="-25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triplets.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5715000"/>
            <a:ext cx="39937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Free and Classical QCD </a:t>
            </a:r>
            <a:r>
              <a:rPr lang="en-US" sz="1600" dirty="0" err="1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Lagrangian</a:t>
            </a:r>
            <a:endParaRPr lang="en-US" sz="1600" dirty="0">
              <a:solidFill>
                <a:srgbClr val="FFFF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652470" y="4267200"/>
                <a:ext cx="2815130" cy="83369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̅"/>
                                  <m:ctrlP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𝜓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sup>
                          </m:sSup>
                        </m:e>
                      </m:nary>
                      <m:d>
                        <m:d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</m:oMath>
                  </m:oMathPara>
                </a14:m>
                <a:endParaRPr lang="en-US" sz="16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470" y="4267200"/>
                <a:ext cx="2815130" cy="83369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40611" y="4318247"/>
                <a:ext cx="1179105" cy="93955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p>
                      </m:sSup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  <m:sup>
                                    <m:r>
                                      <a:rPr lang="en-US" sz="1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𝐺</m:t>
                                    </m:r>
                                  </m:sub>
                                  <m:sup>
                                    <m:r>
                                      <a:rPr lang="en-US" sz="1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en-US" sz="1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1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𝐵</m:t>
                                    </m:r>
                                  </m:sub>
                                  <m:sup>
                                    <m:r>
                                      <a:rPr lang="en-US" sz="14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𝑓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611" y="4318247"/>
                <a:ext cx="1179105" cy="93955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630728"/>
              </p:ext>
            </p:extLst>
          </p:nvPr>
        </p:nvGraphicFramePr>
        <p:xfrm>
          <a:off x="2287588" y="4876800"/>
          <a:ext cx="13954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1" name="Equation" r:id="rId11" imgW="888840" imgH="228600" progId="Equation.3">
                  <p:embed/>
                </p:oleObj>
              </mc:Choice>
              <mc:Fallback>
                <p:oleObj name="Equation" r:id="rId11" imgW="88884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87588" y="4876800"/>
                        <a:ext cx="1395412" cy="3603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615832" y="5181600"/>
            <a:ext cx="2775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This </a:t>
            </a:r>
            <a:r>
              <a:rPr lang="en-US" sz="1400" dirty="0" err="1">
                <a:solidFill>
                  <a:schemeClr val="bg1"/>
                </a:solidFill>
              </a:rPr>
              <a:t>Lagrangian</a:t>
            </a:r>
            <a:r>
              <a:rPr lang="en-US" sz="1400" dirty="0">
                <a:solidFill>
                  <a:schemeClr val="bg1"/>
                </a:solidFill>
              </a:rPr>
              <a:t> is invariant under</a:t>
            </a:r>
          </a:p>
          <a:p>
            <a:r>
              <a:rPr lang="en-US" sz="1400" dirty="0">
                <a:solidFill>
                  <a:schemeClr val="bg1"/>
                </a:solidFill>
              </a:rPr>
              <a:t>global SU(3)</a:t>
            </a:r>
            <a:r>
              <a:rPr lang="en-US" sz="1400" baseline="-25000" dirty="0">
                <a:solidFill>
                  <a:schemeClr val="bg1"/>
                </a:solidFill>
              </a:rPr>
              <a:t>c</a:t>
            </a:r>
            <a:r>
              <a:rPr lang="en-US" sz="1400" dirty="0">
                <a:solidFill>
                  <a:schemeClr val="bg1"/>
                </a:solidFill>
              </a:rPr>
              <a:t> gauge transformation.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849154" y="5300246"/>
                <a:ext cx="304480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Where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are Gell-Mann matrices.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154" y="5300246"/>
                <a:ext cx="3044808" cy="338554"/>
              </a:xfrm>
              <a:prstGeom prst="rect">
                <a:avLst/>
              </a:prstGeom>
              <a:blipFill>
                <a:blip r:embed="rId13"/>
                <a:stretch>
                  <a:fillRect l="-1000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898093" y="2895600"/>
            <a:ext cx="2732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Free </a:t>
            </a:r>
            <a:r>
              <a:rPr lang="en-US" sz="1600" dirty="0" err="1">
                <a:solidFill>
                  <a:srgbClr val="FFFF00"/>
                </a:solidFill>
              </a:rPr>
              <a:t>Lagrangian</a:t>
            </a:r>
            <a:r>
              <a:rPr lang="en-US" sz="1600" dirty="0">
                <a:solidFill>
                  <a:srgbClr val="FFFF00"/>
                </a:solidFill>
              </a:rPr>
              <a:t> of the Quarks: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969337" y="3220979"/>
                <a:ext cx="2993063" cy="741421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sz="1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𝜓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𝐶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𝑓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sz="14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𝑖</m:t>
                                  </m:r>
                                  <m:sSup>
                                    <m:sSupPr>
                                      <m:ctrlP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𝜇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𝜕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  <a:ea typeface="Cambria Math"/>
                                        </a:rPr>
                                        <m:t>𝜇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−</m:t>
                                  </m:r>
                                  <m:sSubSup>
                                    <m:sSubSupPr>
                                      <m:ctrlP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1400" i="1">
                                          <a:solidFill>
                                            <a:schemeClr val="bg1"/>
                                          </a:solidFill>
                                          <a:latin typeface="Cambria Math"/>
                                        </a:rPr>
                                        <m:t>𝑓</m:t>
                                      </m:r>
                                    </m:sup>
                                  </m:sSubSup>
                                </m:e>
                              </m:d>
                              <m:sSubSup>
                                <m:sSubSupPr>
                                  <m:ctrlPr>
                                    <a:rPr lang="en-US" sz="1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  <m:sup>
                                  <m:r>
                                    <a:rPr lang="en-US" sz="14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p>
                              </m:sSubSup>
                            </m:e>
                          </m:nary>
                        </m:e>
                      </m:nary>
                    </m:oMath>
                  </m:oMathPara>
                </a14:m>
                <a:endParaRPr lang="en-US" sz="1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37" y="3220979"/>
                <a:ext cx="2993063" cy="74142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733800" y="2133600"/>
                <a:ext cx="2133600" cy="430695"/>
              </a:xfrm>
              <a:prstGeom prst="rect">
                <a:avLst/>
              </a:prstGeom>
              <a:solidFill>
                <a:srgbClr val="E46C0A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Quark Fields: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  <m:sup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p>
                    </m:sSub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800" y="2133600"/>
                <a:ext cx="2133600" cy="430695"/>
              </a:xfrm>
              <a:prstGeom prst="rect">
                <a:avLst/>
              </a:prstGeom>
              <a:blipFill>
                <a:blip r:embed="rId15"/>
                <a:stretch>
                  <a:fillRect l="-2571" b="-197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151797"/>
              </p:ext>
            </p:extLst>
          </p:nvPr>
        </p:nvGraphicFramePr>
        <p:xfrm>
          <a:off x="960438" y="5684838"/>
          <a:ext cx="1284287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2" name="Equation" r:id="rId16" imgW="876240" imgH="228600" progId="Equation.3">
                  <p:embed/>
                </p:oleObj>
              </mc:Choice>
              <mc:Fallback>
                <p:oleObj name="Equation" r:id="rId16" imgW="876240" imgH="228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60438" y="5684838"/>
                        <a:ext cx="1284287" cy="3349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6218309" y="2057400"/>
                <a:ext cx="1325491" cy="5404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=1,2,3…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1400" b="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309" y="2057400"/>
                <a:ext cx="1325491" cy="54046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Bent Arrow 31"/>
          <p:cNvSpPr/>
          <p:nvPr/>
        </p:nvSpPr>
        <p:spPr>
          <a:xfrm rot="5400000">
            <a:off x="4743759" y="2813909"/>
            <a:ext cx="748132" cy="2006050"/>
          </a:xfrm>
          <a:prstGeom prst="ben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543800" y="2189575"/>
                <a:ext cx="753796" cy="325025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US" sz="14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800" y="2189575"/>
                <a:ext cx="753796" cy="325025"/>
              </a:xfrm>
              <a:prstGeom prst="rect">
                <a:avLst/>
              </a:prstGeom>
              <a:blipFill>
                <a:blip r:embed="rId19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830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1" grpId="0" animBg="1"/>
      <p:bldP spid="24" grpId="0"/>
      <p:bldP spid="2" grpId="0"/>
      <p:bldP spid="23" grpId="0"/>
      <p:bldP spid="26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6384" y="76200"/>
            <a:ext cx="33559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Quantum Chromo Dynamics (QCD)</a:t>
            </a:r>
          </a:p>
          <a:p>
            <a:pPr algn="ctr"/>
            <a:r>
              <a:rPr lang="en-US" sz="14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(Foundations)</a:t>
            </a:r>
            <a:endParaRPr lang="en-SG" sz="1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09600" y="685800"/>
            <a:ext cx="4993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Extending the global gauge symmetry to local symmetry. 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9612225"/>
              </p:ext>
            </p:extLst>
          </p:nvPr>
        </p:nvGraphicFramePr>
        <p:xfrm>
          <a:off x="890588" y="1295400"/>
          <a:ext cx="1928812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2" name="Equation" r:id="rId3" imgW="1485720" imgH="228600" progId="Equation.3">
                  <p:embed/>
                </p:oleObj>
              </mc:Choice>
              <mc:Fallback>
                <p:oleObj name="Equation" r:id="rId3" imgW="1485720" imgH="228600" progId="Equation.3">
                  <p:embed/>
                  <p:pic>
                    <p:nvPicPr>
                      <p:cNvPr id="20" name="Object 1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0588" y="1295400"/>
                        <a:ext cx="1928812" cy="2984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0782" y="990600"/>
            <a:ext cx="22178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Local gauge transformation: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86968" y="2061910"/>
                <a:ext cx="2793906" cy="401457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b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</m:oMath>
                  </m:oMathPara>
                </a14:m>
                <a:endParaRPr lang="en-US" sz="1600" b="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" y="2061910"/>
                <a:ext cx="2793906" cy="401457"/>
              </a:xfrm>
              <a:prstGeom prst="rect">
                <a:avLst/>
              </a:prstGeom>
              <a:blipFill>
                <a:blip r:embed="rId5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759218" y="1757110"/>
            <a:ext cx="3817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Free Lagrangian does not possess local symmetry: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0974337"/>
              </p:ext>
            </p:extLst>
          </p:nvPr>
        </p:nvGraphicFramePr>
        <p:xfrm>
          <a:off x="4598067" y="1295400"/>
          <a:ext cx="1954990" cy="46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3" name="Equation" r:id="rId6" imgW="2158920" imgH="520560" progId="Equation.3">
                  <p:embed/>
                </p:oleObj>
              </mc:Choice>
              <mc:Fallback>
                <p:oleObj name="Equation" r:id="rId6" imgW="2158920" imgH="5205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98067" y="1295400"/>
                        <a:ext cx="1954990" cy="4691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553200" y="1281545"/>
            <a:ext cx="2270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Global gauge transformation</a:t>
            </a:r>
          </a:p>
          <a:p>
            <a:r>
              <a:rPr lang="en-US" sz="1400" dirty="0">
                <a:solidFill>
                  <a:srgbClr val="FFFF00"/>
                </a:solidFill>
              </a:rPr>
              <a:t>Local gauge transformation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070952"/>
              </p:ext>
            </p:extLst>
          </p:nvPr>
        </p:nvGraphicFramePr>
        <p:xfrm>
          <a:off x="4581525" y="1954213"/>
          <a:ext cx="2203450" cy="303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4" name="Equation" r:id="rId8" imgW="1752480" imgH="241200" progId="Equation.3">
                  <p:embed/>
                </p:oleObj>
              </mc:Choice>
              <mc:Fallback>
                <p:oleObj name="Equation" r:id="rId8" imgW="1752480" imgH="241200" progId="Equation.3">
                  <p:embed/>
                  <p:pic>
                    <p:nvPicPr>
                      <p:cNvPr id="21" name="Object 20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81525" y="1954213"/>
                        <a:ext cx="2203450" cy="3032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95800" y="2365841"/>
            <a:ext cx="872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Such that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47954"/>
              </p:ext>
            </p:extLst>
          </p:nvPr>
        </p:nvGraphicFramePr>
        <p:xfrm>
          <a:off x="5403122" y="2377547"/>
          <a:ext cx="1366645" cy="284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5" name="Equation" r:id="rId10" imgW="1218960" imgH="253800" progId="Equation.3">
                  <p:embed/>
                </p:oleObj>
              </mc:Choice>
              <mc:Fallback>
                <p:oleObj name="Equation" r:id="rId10" imgW="1218960" imgH="253800" progId="Equation.3">
                  <p:embed/>
                  <p:pic>
                    <p:nvPicPr>
                      <p:cNvPr id="12" name="Object 11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403122" y="2377547"/>
                        <a:ext cx="1366645" cy="284364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8670451"/>
              </p:ext>
            </p:extLst>
          </p:nvPr>
        </p:nvGraphicFramePr>
        <p:xfrm>
          <a:off x="4552085" y="2743200"/>
          <a:ext cx="2229715" cy="4300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6" name="Equation" r:id="rId12" imgW="2234880" imgH="431640" progId="Equation.3">
                  <p:embed/>
                </p:oleObj>
              </mc:Choice>
              <mc:Fallback>
                <p:oleObj name="Equation" r:id="rId12" imgW="2234880" imgH="431640" progId="Equation.3">
                  <p:embed/>
                  <p:pic>
                    <p:nvPicPr>
                      <p:cNvPr id="2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2085" y="2743200"/>
                        <a:ext cx="2229715" cy="43006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62403" y="4724400"/>
                <a:ext cx="7595797" cy="132055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ℒ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b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b>
                      </m:sSub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p>
                      </m:sSubSup>
                    </m:oMath>
                  </m:oMathPara>
                </a14:m>
                <a:endParaRPr lang="en-US" sz="1600" b="0" dirty="0">
                  <a:solidFill>
                    <a:schemeClr val="bg1"/>
                  </a:solidFill>
                </a:endParaRP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where,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𝑎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𝜇𝜈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𝜕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𝑎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𝜈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𝜕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𝜈</m:t>
                        </m:r>
                      </m:sup>
                    </m:sSup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𝑎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𝑔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𝑎𝑏𝑐</m:t>
                        </m:r>
                      </m:sub>
                    </m:sSub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bSup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𝑐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𝜈</m:t>
                        </m:r>
                      </m:sup>
                    </m:sSubSup>
                    <m:r>
                      <a:rPr lang="en-US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</m:oMath>
                </a14:m>
                <a:r>
                  <a:rPr lang="en-US" sz="1600" i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= 1, 2,. . .,8)</m:t>
                    </m:r>
                  </m:oMath>
                </a14:m>
                <a:r>
                  <a:rPr lang="en-US" sz="1600" i="1" dirty="0">
                    <a:solidFill>
                      <a:schemeClr val="bg1"/>
                    </a:solidFill>
                  </a:rPr>
                  <a:t>  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fields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sz="16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flavors x 3 Color)+(8 gauge bosons);  7 parameter = 6 masses +  1 coupling  </a:t>
                </a:r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03" y="4724400"/>
                <a:ext cx="7595797" cy="1320554"/>
              </a:xfrm>
              <a:prstGeom prst="rect">
                <a:avLst/>
              </a:prstGeom>
              <a:blipFill>
                <a:blip r:embed="rId14"/>
                <a:stretch>
                  <a:fillRect l="-401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Down Arrow 16"/>
          <p:cNvSpPr/>
          <p:nvPr/>
        </p:nvSpPr>
        <p:spPr>
          <a:xfrm>
            <a:off x="2057400" y="2673618"/>
            <a:ext cx="228600" cy="5462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838200" y="3276600"/>
                <a:ext cx="4468211" cy="95680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ℒ</m:t>
                      </m:r>
                      <m:r>
                        <a:rPr lang="en-US" sz="160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 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b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</m:oMath>
                  </m:oMathPara>
                </a14:m>
                <a:endParaRPr lang="en-US" sz="1600" b="0" dirty="0">
                  <a:solidFill>
                    <a:schemeClr val="bg1"/>
                  </a:solidFill>
                </a:endParaRP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ℒ</m:t>
                      </m:r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 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b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276600"/>
                <a:ext cx="4468211" cy="956800"/>
              </a:xfrm>
              <a:prstGeom prst="rect">
                <a:avLst/>
              </a:prstGeom>
              <a:blipFill>
                <a:blip r:embed="rId15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762000" y="4419600"/>
            <a:ext cx="34093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FF00"/>
                </a:solidFill>
              </a:rPr>
              <a:t>Including kinetic energy term of gauge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138446"/>
            <a:ext cx="6934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This complete Lagrangian is invariant under local SU(3)</a:t>
            </a:r>
            <a:r>
              <a:rPr lang="en-US" sz="1400" baseline="-250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en-US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gauge transformation.</a:t>
            </a:r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006803"/>
              </p:ext>
            </p:extLst>
          </p:nvPr>
        </p:nvGraphicFramePr>
        <p:xfrm>
          <a:off x="7173913" y="4237038"/>
          <a:ext cx="1284287" cy="33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817" name="Equation" r:id="rId16" imgW="876240" imgH="228600" progId="Equation.3">
                  <p:embed/>
                </p:oleObj>
              </mc:Choice>
              <mc:Fallback>
                <p:oleObj name="Equation" r:id="rId16" imgW="876240" imgH="228600" progId="Equation.3">
                  <p:embed/>
                  <p:pic>
                    <p:nvPicPr>
                      <p:cNvPr id="3" name="Object 2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7173913" y="4237038"/>
                        <a:ext cx="1284287" cy="3349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345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1" grpId="0"/>
      <p:bldP spid="13" grpId="0"/>
      <p:bldP spid="16" grpId="0" animBg="1"/>
      <p:bldP spid="17" grpId="0" animBg="1"/>
      <p:bldP spid="18" grpId="0" animBg="1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6384" y="76200"/>
            <a:ext cx="33559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Quantum Chromo Dynamics (QCD)</a:t>
            </a:r>
          </a:p>
          <a:p>
            <a:pPr algn="ctr"/>
            <a:r>
              <a:rPr lang="en-US" sz="14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(Foundations)</a:t>
            </a:r>
            <a:endParaRPr lang="en-SG" sz="1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09600" y="1041646"/>
                <a:ext cx="5693803" cy="107433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ℒ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b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r>
                        <a:rPr lang="en-US" sz="16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̅"/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</m:e>
                          </m:acc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−</m:t>
                      </m:r>
                      <m:f>
                        <m:f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</m:sub>
                      </m:sSub>
                      <m:sSubSup>
                        <m:sSub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𝑎</m:t>
                          </m:r>
                        </m:sub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p>
                      </m:sSubSup>
                    </m:oMath>
                  </m:oMathPara>
                </a14:m>
                <a:endParaRPr lang="en-US" sz="1600" b="0" dirty="0">
                  <a:solidFill>
                    <a:schemeClr val="bg1"/>
                  </a:solidFill>
                </a:endParaRPr>
              </a:p>
              <a:p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where,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𝐹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𝑎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𝜇𝜈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𝜕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𝑎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𝜈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𝜕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𝜈</m:t>
                        </m:r>
                      </m:sup>
                    </m:sSup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𝑎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+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𝑔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𝑓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𝑎𝑏𝑐</m:t>
                        </m:r>
                      </m:sub>
                    </m:sSub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𝑏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bSup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𝑐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𝜈</m:t>
                        </m:r>
                      </m:sup>
                    </m:sSubSup>
                    <m:r>
                      <a:rPr lang="en-US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/>
                      </a:rPr>
                      <m:t>, </m:t>
                    </m:r>
                  </m:oMath>
                </a14:m>
                <a:r>
                  <a:rPr lang="en-US" sz="1600" i="1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= 1, 2,. . .,8)</m:t>
                    </m:r>
                  </m:oMath>
                </a14:m>
                <a:r>
                  <a:rPr lang="en-US" sz="1600" i="1" dirty="0">
                    <a:solidFill>
                      <a:schemeClr val="bg1"/>
                    </a:solidFill>
                  </a:rPr>
                  <a:t> 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041646"/>
                <a:ext cx="5693803" cy="1074333"/>
              </a:xfrm>
              <a:prstGeom prst="rect">
                <a:avLst/>
              </a:prstGeom>
              <a:blipFill>
                <a:blip r:embed="rId3"/>
                <a:stretch>
                  <a:fillRect l="-535" b="-56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23817" y="685800"/>
            <a:ext cx="3590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Interacting Classical QCD </a:t>
            </a:r>
            <a:r>
              <a:rPr lang="en-US" sz="160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Lagrangian</a:t>
            </a:r>
            <a:r>
              <a:rPr lang="en-US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9108741"/>
              </p:ext>
            </p:extLst>
          </p:nvPr>
        </p:nvGraphicFramePr>
        <p:xfrm>
          <a:off x="609600" y="2538413"/>
          <a:ext cx="55022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605" name="Equation" r:id="rId4" imgW="4991040" imgH="825480" progId="Equation.3">
                  <p:embed/>
                </p:oleObj>
              </mc:Choice>
              <mc:Fallback>
                <p:oleObj name="Equation" r:id="rId4" imgW="4991040" imgH="825480" progId="Equation.3">
                  <p:embed/>
                  <p:pic>
                    <p:nvPicPr>
                      <p:cNvPr id="2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538413"/>
                        <a:ext cx="5502275" cy="90487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Oval 6"/>
          <p:cNvSpPr/>
          <p:nvPr/>
        </p:nvSpPr>
        <p:spPr>
          <a:xfrm>
            <a:off x="3297854" y="1066800"/>
            <a:ext cx="1632364" cy="609600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8" name="Oval 7"/>
          <p:cNvSpPr/>
          <p:nvPr/>
        </p:nvSpPr>
        <p:spPr>
          <a:xfrm>
            <a:off x="2234244" y="2949120"/>
            <a:ext cx="1970107" cy="529600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/>
          <p:cNvSpPr/>
          <p:nvPr/>
        </p:nvSpPr>
        <p:spPr>
          <a:xfrm>
            <a:off x="3777844" y="2479295"/>
            <a:ext cx="2383830" cy="582560"/>
          </a:xfrm>
          <a:prstGeom prst="ellipse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0" name="Picture 4" descr="C:\My Presentations\qcd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464" y="4038600"/>
            <a:ext cx="3389136" cy="95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09600" y="5257800"/>
            <a:ext cx="25420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Quark-gluon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3-point gluon interaction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4-point gluon interaction</a:t>
            </a:r>
          </a:p>
        </p:txBody>
      </p:sp>
    </p:spTree>
    <p:extLst>
      <p:ext uri="{BB962C8B-B14F-4D97-AF65-F5344CB8AC3E}">
        <p14:creationId xmlns:p14="http://schemas.microsoft.com/office/powerpoint/2010/main" val="901253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819400" y="742890"/>
                <a:ext cx="5484269" cy="40011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0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𝐺</m:t>
                      </m:r>
                      <m:d>
                        <m:dPr>
                          <m:ctrlPr>
                            <a:rPr lang="en-SG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SG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SG" sz="20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SG" sz="20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  <m:d>
                        <m:dPr>
                          <m:begChr m:val="⟨"/>
                          <m:endChr m:val="⟩"/>
                          <m:ctrlPr>
                            <a:rPr lang="en-SG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l-GR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SG" sz="20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𝑇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SG" sz="20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SG" sz="20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SG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SG" sz="20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SG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SG" sz="20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…</m:t>
                                  </m:r>
                                  <m:r>
                                    <a:rPr lang="en-SG" sz="20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SG" sz="2000" b="0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SG" sz="2000" b="0" i="1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/>
                                              <a:ea typeface="Cambria Math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</m:d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</m:oMath>
                  </m:oMathPara>
                </a14:m>
                <a:endParaRPr 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742890"/>
                <a:ext cx="5484269" cy="400110"/>
              </a:xfrm>
              <a:prstGeom prst="rect">
                <a:avLst/>
              </a:prstGeom>
              <a:blipFill rotWithShape="0">
                <a:blip r:embed="rId3"/>
                <a:stretch>
                  <a:fillRect b="-10294"/>
                </a:stretch>
              </a:blip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19400" y="1295400"/>
                <a:ext cx="6267613" cy="1713354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endParaRPr lang="en-US" dirty="0">
                  <a:solidFill>
                    <a:schemeClr val="bg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SG" i="1">
                        <a:solidFill>
                          <a:schemeClr val="bg1"/>
                        </a:solidFill>
                        <a:latin typeface="Cambria Math"/>
                      </a:rPr>
                      <m:t>𝐺</m:t>
                    </m:r>
                    <m:d>
                      <m:dPr>
                        <m:ctrlPr>
                          <a:rPr lang="en-SG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SG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SG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SG" i="1">
                            <a:solidFill>
                              <a:schemeClr val="bg1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SG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SG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SG" i="1">
                            <a:solidFill>
                              <a:schemeClr val="bg1"/>
                            </a:solidFill>
                            <a:latin typeface="Cambria Math"/>
                          </a:rPr>
                          <m:t>,…,</m:t>
                        </m:r>
                        <m:sSub>
                          <m:sSubPr>
                            <m:ctrlPr>
                              <a:rPr lang="en-SG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SG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SG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 </m:t>
                    </m:r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𝑍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(0)</m:t>
                        </m:r>
                      </m:den>
                    </m:f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</m:num>
                      <m:den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𝐽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den>
                    </m:f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</m:num>
                      <m:den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𝐽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den>
                    </m:f>
                  </m:oMath>
                </a14:m>
                <a:r>
                  <a:rPr lang="en-SG" dirty="0">
                    <a:solidFill>
                      <a:schemeClr val="bg1"/>
                    </a:solidFill>
                  </a:rPr>
                  <a:t>. . . .</a:t>
                </a:r>
                <a:r>
                  <a:rPr lang="en-US" dirty="0">
                    <a:solidFill>
                      <a:schemeClr val="bg1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</m:num>
                      <m:den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𝛿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𝐽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den>
                    </m:f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𝑍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(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𝐽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𝐽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=0</m:t>
                        </m:r>
                      </m:sub>
                    </m:sSub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Generating function: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𝑍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𝐽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)=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lim</m:t>
                            </m:r>
                          </m:e>
                          <m:lim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𝑡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→∞(1−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𝜖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)</m:t>
                            </m:r>
                          </m:lim>
                        </m:limLow>
                        <m:nary>
                          <m:naryPr>
                            <m:limLoc m:val="undOvr"/>
                            <m:subHide m:val="on"/>
                            <m:supHide m:val="on"/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naryPr>
                          <m:sub/>
                          <m:sup/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𝑑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𝜙</m:t>
                                </m:r>
                              </m:e>
                            </m:d>
                          </m:e>
                        </m:nary>
                      </m:fName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𝑖</m:t>
                            </m:r>
                            <m:nary>
                              <m:naryPr>
                                <m:ctrl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/>
                                    <a:ea typeface="Cambria Math"/>
                                  </a:rPr>
                                  <m:t>𝑇</m:t>
                                </m:r>
                              </m:sup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𝑑𝑡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ℒ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+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𝐽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)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𝜙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(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𝑥</m:t>
                                    </m:r>
                                    <m:r>
                                      <a:rPr lang="en-US" b="0" i="1" smtClean="0">
                                        <a:solidFill>
                                          <a:schemeClr val="bg1"/>
                                        </a:solidFill>
                                        <a:latin typeface="Cambria Math"/>
                                        <a:ea typeface="Cambria Math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</m:nary>
                          </m:sup>
                        </m:sSup>
                      </m:e>
                    </m:func>
                  </m:oMath>
                </a14:m>
                <a:endParaRPr lang="en-SG" dirty="0">
                  <a:solidFill>
                    <a:schemeClr val="bg1"/>
                  </a:solidFill>
                </a:endParaRPr>
              </a:p>
              <a:p>
                <a:endParaRPr lang="en-SG" sz="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295400"/>
                <a:ext cx="6267613" cy="1713354"/>
              </a:xfrm>
              <a:prstGeom prst="rect">
                <a:avLst/>
              </a:prstGeom>
              <a:blipFill rotWithShape="0">
                <a:blip r:embed="rId4"/>
                <a:stretch>
                  <a:fillRect l="-875" t="-56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609600" y="1828800"/>
            <a:ext cx="1881840" cy="114462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SG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Cross sections</a:t>
            </a:r>
          </a:p>
          <a:p>
            <a:r>
              <a:rPr lang="en-SG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Decay constants</a:t>
            </a:r>
          </a:p>
          <a:p>
            <a:r>
              <a:rPr lang="en-SG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Bound State masses</a:t>
            </a:r>
          </a:p>
          <a:p>
            <a:r>
              <a:rPr lang="en-SG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Couplings</a:t>
            </a:r>
          </a:p>
          <a:p>
            <a:r>
              <a:rPr lang="en-SG" sz="1400" dirty="0">
                <a:latin typeface="Tahoma" pitchFamily="34" charset="0"/>
                <a:ea typeface="Tahoma" pitchFamily="34" charset="0"/>
                <a:cs typeface="Tahoma" pitchFamily="34" charset="0"/>
              </a:rPr>
              <a:t>Form factors</a:t>
            </a:r>
          </a:p>
        </p:txBody>
      </p:sp>
      <p:sp>
        <p:nvSpPr>
          <p:cNvPr id="11" name="Left Arrow 10"/>
          <p:cNvSpPr/>
          <p:nvPr/>
        </p:nvSpPr>
        <p:spPr>
          <a:xfrm rot="16200000">
            <a:off x="1148068" y="1178665"/>
            <a:ext cx="645067" cy="502803"/>
          </a:xfrm>
          <a:prstGeom prst="lef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TextBox 12"/>
          <p:cNvSpPr txBox="1"/>
          <p:nvPr/>
        </p:nvSpPr>
        <p:spPr>
          <a:xfrm>
            <a:off x="381000" y="707031"/>
            <a:ext cx="25017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Green Functions of QFT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810" y="55602"/>
            <a:ext cx="33271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Quantum Chromo Dynamics (QCD)</a:t>
            </a:r>
          </a:p>
          <a:p>
            <a:pPr algn="ctr"/>
            <a:r>
              <a:rPr lang="en-US" sz="14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(Quantization)</a:t>
            </a:r>
            <a:endParaRPr lang="en-SG" sz="1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400" y="3200400"/>
            <a:ext cx="2848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Generating function of QCD: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4127386"/>
              </p:ext>
            </p:extLst>
          </p:nvPr>
        </p:nvGraphicFramePr>
        <p:xfrm>
          <a:off x="639763" y="3581400"/>
          <a:ext cx="4846637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8" name="Equation" r:id="rId5" imgW="3009600" imgH="330120" progId="Equation.3">
                  <p:embed/>
                </p:oleObj>
              </mc:Choice>
              <mc:Fallback>
                <p:oleObj name="Equation" r:id="rId5" imgW="300960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3581400"/>
                        <a:ext cx="4846637" cy="531813"/>
                      </a:xfrm>
                      <a:prstGeom prst="rect">
                        <a:avLst/>
                      </a:prstGeom>
                      <a:solidFill>
                        <a:srgbClr val="FAC09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2646148"/>
              </p:ext>
            </p:extLst>
          </p:nvPr>
        </p:nvGraphicFramePr>
        <p:xfrm>
          <a:off x="640790" y="4813206"/>
          <a:ext cx="1784477" cy="417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9" name="Equation" r:id="rId7" imgW="1841400" imgH="431640" progId="Equation.3">
                  <p:embed/>
                </p:oleObj>
              </mc:Choice>
              <mc:Fallback>
                <p:oleObj name="Equation" r:id="rId7" imgW="18414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90" y="4813206"/>
                        <a:ext cx="1784477" cy="41742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6847" y="4267200"/>
            <a:ext cx="41540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path integration over gauge fields diverges due to </a:t>
            </a:r>
          </a:p>
          <a:p>
            <a:r>
              <a:rPr lang="en-US" sz="1400" dirty="0">
                <a:solidFill>
                  <a:schemeClr val="bg1"/>
                </a:solidFill>
              </a:rPr>
              <a:t>integrating over gauge equivalent configurations.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2706" y="5435025"/>
            <a:ext cx="4535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Fixing the gauge means choosing one configuration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out of gauge equivalent configurations.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096000" y="3962400"/>
            <a:ext cx="2667000" cy="2263588"/>
            <a:chOff x="6096000" y="3962400"/>
            <a:chExt cx="2667000" cy="2263588"/>
          </a:xfrm>
        </p:grpSpPr>
        <p:sp>
          <p:nvSpPr>
            <p:cNvPr id="4" name="Freeform 3"/>
            <p:cNvSpPr/>
            <p:nvPr/>
          </p:nvSpPr>
          <p:spPr>
            <a:xfrm>
              <a:off x="6931165" y="4801675"/>
              <a:ext cx="1374635" cy="915424"/>
            </a:xfrm>
            <a:custGeom>
              <a:avLst/>
              <a:gdLst>
                <a:gd name="connsiteX0" fmla="*/ 1011453 w 1374635"/>
                <a:gd name="connsiteY0" fmla="*/ 21337 h 915424"/>
                <a:gd name="connsiteX1" fmla="*/ 29817 w 1374635"/>
                <a:gd name="connsiteY1" fmla="*/ 169254 h 915424"/>
                <a:gd name="connsiteX2" fmla="*/ 352547 w 1374635"/>
                <a:gd name="connsiteY2" fmla="*/ 908842 h 915424"/>
                <a:gd name="connsiteX3" fmla="*/ 1347629 w 1374635"/>
                <a:gd name="connsiteY3" fmla="*/ 505431 h 915424"/>
                <a:gd name="connsiteX4" fmla="*/ 1011453 w 1374635"/>
                <a:gd name="connsiteY4" fmla="*/ 21337 h 91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4635" h="915424">
                  <a:moveTo>
                    <a:pt x="1011453" y="21337"/>
                  </a:moveTo>
                  <a:cubicBezTo>
                    <a:pt x="791818" y="-34692"/>
                    <a:pt x="139635" y="21336"/>
                    <a:pt x="29817" y="169254"/>
                  </a:cubicBezTo>
                  <a:cubicBezTo>
                    <a:pt x="-80001" y="317172"/>
                    <a:pt x="132912" y="852813"/>
                    <a:pt x="352547" y="908842"/>
                  </a:cubicBezTo>
                  <a:cubicBezTo>
                    <a:pt x="572182" y="964871"/>
                    <a:pt x="1242294" y="648866"/>
                    <a:pt x="1347629" y="505431"/>
                  </a:cubicBezTo>
                  <a:cubicBezTo>
                    <a:pt x="1452964" y="361996"/>
                    <a:pt x="1231088" y="77366"/>
                    <a:pt x="1011453" y="21337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6642572" y="4601277"/>
              <a:ext cx="1891828" cy="1319911"/>
            </a:xfrm>
            <a:custGeom>
              <a:avLst/>
              <a:gdLst>
                <a:gd name="connsiteX0" fmla="*/ 1011453 w 1374635"/>
                <a:gd name="connsiteY0" fmla="*/ 21337 h 915424"/>
                <a:gd name="connsiteX1" fmla="*/ 29817 w 1374635"/>
                <a:gd name="connsiteY1" fmla="*/ 169254 h 915424"/>
                <a:gd name="connsiteX2" fmla="*/ 352547 w 1374635"/>
                <a:gd name="connsiteY2" fmla="*/ 908842 h 915424"/>
                <a:gd name="connsiteX3" fmla="*/ 1347629 w 1374635"/>
                <a:gd name="connsiteY3" fmla="*/ 505431 h 915424"/>
                <a:gd name="connsiteX4" fmla="*/ 1011453 w 1374635"/>
                <a:gd name="connsiteY4" fmla="*/ 21337 h 91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4635" h="915424">
                  <a:moveTo>
                    <a:pt x="1011453" y="21337"/>
                  </a:moveTo>
                  <a:cubicBezTo>
                    <a:pt x="791818" y="-34692"/>
                    <a:pt x="139635" y="21336"/>
                    <a:pt x="29817" y="169254"/>
                  </a:cubicBezTo>
                  <a:cubicBezTo>
                    <a:pt x="-80001" y="317172"/>
                    <a:pt x="132912" y="852813"/>
                    <a:pt x="352547" y="908842"/>
                  </a:cubicBezTo>
                  <a:cubicBezTo>
                    <a:pt x="572182" y="964871"/>
                    <a:pt x="1242294" y="648866"/>
                    <a:pt x="1347629" y="505431"/>
                  </a:cubicBezTo>
                  <a:cubicBezTo>
                    <a:pt x="1452964" y="361996"/>
                    <a:pt x="1231088" y="77366"/>
                    <a:pt x="1011453" y="21337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6096000" y="4397188"/>
              <a:ext cx="2667000" cy="1828800"/>
            </a:xfrm>
            <a:custGeom>
              <a:avLst/>
              <a:gdLst>
                <a:gd name="connsiteX0" fmla="*/ 1011453 w 1374635"/>
                <a:gd name="connsiteY0" fmla="*/ 21337 h 915424"/>
                <a:gd name="connsiteX1" fmla="*/ 29817 w 1374635"/>
                <a:gd name="connsiteY1" fmla="*/ 169254 h 915424"/>
                <a:gd name="connsiteX2" fmla="*/ 352547 w 1374635"/>
                <a:gd name="connsiteY2" fmla="*/ 908842 h 915424"/>
                <a:gd name="connsiteX3" fmla="*/ 1347629 w 1374635"/>
                <a:gd name="connsiteY3" fmla="*/ 505431 h 915424"/>
                <a:gd name="connsiteX4" fmla="*/ 1011453 w 1374635"/>
                <a:gd name="connsiteY4" fmla="*/ 21337 h 91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4635" h="915424">
                  <a:moveTo>
                    <a:pt x="1011453" y="21337"/>
                  </a:moveTo>
                  <a:cubicBezTo>
                    <a:pt x="791818" y="-34692"/>
                    <a:pt x="139635" y="21336"/>
                    <a:pt x="29817" y="169254"/>
                  </a:cubicBezTo>
                  <a:cubicBezTo>
                    <a:pt x="-80001" y="317172"/>
                    <a:pt x="132912" y="852813"/>
                    <a:pt x="352547" y="908842"/>
                  </a:cubicBezTo>
                  <a:cubicBezTo>
                    <a:pt x="572182" y="964871"/>
                    <a:pt x="1242294" y="648866"/>
                    <a:pt x="1347629" y="505431"/>
                  </a:cubicBezTo>
                  <a:cubicBezTo>
                    <a:pt x="1452964" y="361996"/>
                    <a:pt x="1231088" y="77366"/>
                    <a:pt x="1011453" y="21337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7013864" y="4857852"/>
              <a:ext cx="69273" cy="692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7159765" y="4954075"/>
              <a:ext cx="917435" cy="509913"/>
            </a:xfrm>
            <a:custGeom>
              <a:avLst/>
              <a:gdLst>
                <a:gd name="connsiteX0" fmla="*/ 1011453 w 1374635"/>
                <a:gd name="connsiteY0" fmla="*/ 21337 h 915424"/>
                <a:gd name="connsiteX1" fmla="*/ 29817 w 1374635"/>
                <a:gd name="connsiteY1" fmla="*/ 169254 h 915424"/>
                <a:gd name="connsiteX2" fmla="*/ 352547 w 1374635"/>
                <a:gd name="connsiteY2" fmla="*/ 908842 h 915424"/>
                <a:gd name="connsiteX3" fmla="*/ 1347629 w 1374635"/>
                <a:gd name="connsiteY3" fmla="*/ 505431 h 915424"/>
                <a:gd name="connsiteX4" fmla="*/ 1011453 w 1374635"/>
                <a:gd name="connsiteY4" fmla="*/ 21337 h 915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74635" h="915424">
                  <a:moveTo>
                    <a:pt x="1011453" y="21337"/>
                  </a:moveTo>
                  <a:cubicBezTo>
                    <a:pt x="791818" y="-34692"/>
                    <a:pt x="139635" y="21336"/>
                    <a:pt x="29817" y="169254"/>
                  </a:cubicBezTo>
                  <a:cubicBezTo>
                    <a:pt x="-80001" y="317172"/>
                    <a:pt x="132912" y="852813"/>
                    <a:pt x="352547" y="908842"/>
                  </a:cubicBezTo>
                  <a:cubicBezTo>
                    <a:pt x="572182" y="964871"/>
                    <a:pt x="1242294" y="648866"/>
                    <a:pt x="1347629" y="505431"/>
                  </a:cubicBezTo>
                  <a:cubicBezTo>
                    <a:pt x="1452964" y="361996"/>
                    <a:pt x="1231088" y="77366"/>
                    <a:pt x="1011453" y="21337"/>
                  </a:cubicBezTo>
                  <a:close/>
                </a:path>
              </a:pathLst>
            </a:cu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19186" y="3962400"/>
              <a:ext cx="772136" cy="1196788"/>
            </a:xfrm>
            <a:custGeom>
              <a:avLst/>
              <a:gdLst>
                <a:gd name="connsiteX0" fmla="*/ 735285 w 772136"/>
                <a:gd name="connsiteY0" fmla="*/ 1196788 h 1196788"/>
                <a:gd name="connsiteX1" fmla="*/ 762179 w 772136"/>
                <a:gd name="connsiteY1" fmla="*/ 995082 h 1196788"/>
                <a:gd name="connsiteX2" fmla="*/ 587367 w 772136"/>
                <a:gd name="connsiteY2" fmla="*/ 833717 h 1196788"/>
                <a:gd name="connsiteX3" fmla="*/ 22590 w 772136"/>
                <a:gd name="connsiteY3" fmla="*/ 537882 h 1196788"/>
                <a:gd name="connsiteX4" fmla="*/ 103273 w 772136"/>
                <a:gd name="connsiteY4" fmla="*/ 0 h 1196788"/>
                <a:gd name="connsiteX5" fmla="*/ 103273 w 772136"/>
                <a:gd name="connsiteY5" fmla="*/ 0 h 1196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2136" h="1196788">
                  <a:moveTo>
                    <a:pt x="735285" y="1196788"/>
                  </a:moveTo>
                  <a:cubicBezTo>
                    <a:pt x="761058" y="1126191"/>
                    <a:pt x="786832" y="1055594"/>
                    <a:pt x="762179" y="995082"/>
                  </a:cubicBezTo>
                  <a:cubicBezTo>
                    <a:pt x="737526" y="934570"/>
                    <a:pt x="710632" y="909917"/>
                    <a:pt x="587367" y="833717"/>
                  </a:cubicBezTo>
                  <a:cubicBezTo>
                    <a:pt x="464102" y="757517"/>
                    <a:pt x="103272" y="676835"/>
                    <a:pt x="22590" y="537882"/>
                  </a:cubicBezTo>
                  <a:cubicBezTo>
                    <a:pt x="-58092" y="398929"/>
                    <a:pt x="103273" y="0"/>
                    <a:pt x="103273" y="0"/>
                  </a:cubicBezTo>
                  <a:lnTo>
                    <a:pt x="103273" y="0"/>
                  </a:ln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/>
            <p:cNvSpPr/>
            <p:nvPr/>
          </p:nvSpPr>
          <p:spPr>
            <a:xfrm>
              <a:off x="7736541" y="4930588"/>
              <a:ext cx="69273" cy="692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7162800" y="4603376"/>
              <a:ext cx="69273" cy="692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6990433" y="4383741"/>
              <a:ext cx="69273" cy="692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7543800" y="4764741"/>
              <a:ext cx="69273" cy="6927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2708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4" grpId="0"/>
      <p:bldP spid="17" grpId="0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723601"/>
              </p:ext>
            </p:extLst>
          </p:nvPr>
        </p:nvGraphicFramePr>
        <p:xfrm>
          <a:off x="385454" y="1066800"/>
          <a:ext cx="7650802" cy="57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0" name="Equation" r:id="rId3" imgW="4368600" imgH="330120" progId="Equation.3">
                  <p:embed/>
                </p:oleObj>
              </mc:Choice>
              <mc:Fallback>
                <p:oleObj name="Equation" r:id="rId3" imgW="4368600" imgH="3301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5454" y="1066800"/>
                        <a:ext cx="7650802" cy="57898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7890736"/>
              </p:ext>
            </p:extLst>
          </p:nvPr>
        </p:nvGraphicFramePr>
        <p:xfrm>
          <a:off x="381000" y="1804987"/>
          <a:ext cx="5251450" cy="55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1" name="Equation" r:id="rId5" imgW="4063680" imgH="431640" progId="Equation.3">
                  <p:embed/>
                </p:oleObj>
              </mc:Choice>
              <mc:Fallback>
                <p:oleObj name="Equation" r:id="rId5" imgW="406368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81000" y="1804987"/>
                        <a:ext cx="5251450" cy="55721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1000" y="2667000"/>
            <a:ext cx="7921271" cy="13542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generating function </a:t>
            </a:r>
            <a:r>
              <a:rPr lang="en-US" sz="1600" i="1" dirty="0">
                <a:solidFill>
                  <a:schemeClr val="bg1"/>
                </a:solidFill>
              </a:rPr>
              <a:t>Z</a:t>
            </a:r>
            <a:r>
              <a:rPr lang="en-US" sz="1600" dirty="0">
                <a:solidFill>
                  <a:schemeClr val="bg1"/>
                </a:solidFill>
              </a:rPr>
              <a:t> must be gauge invariant because gauge transformation amounts to</a:t>
            </a:r>
          </a:p>
          <a:p>
            <a:r>
              <a:rPr lang="en-US" sz="1600" dirty="0">
                <a:solidFill>
                  <a:schemeClr val="bg1"/>
                </a:solidFill>
              </a:rPr>
              <a:t>redefine the variables integration.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This trivial requirement of Gauge invariance of the generating function translates into </a:t>
            </a:r>
          </a:p>
          <a:p>
            <a:r>
              <a:rPr lang="en-US" sz="1600" dirty="0">
                <a:solidFill>
                  <a:schemeClr val="bg1"/>
                </a:solidFill>
              </a:rPr>
              <a:t>non-trivial identities </a:t>
            </a:r>
            <a:r>
              <a:rPr lang="en-US" sz="1600">
                <a:solidFill>
                  <a:schemeClr val="bg1"/>
                </a:solidFill>
              </a:rPr>
              <a:t>which all Green </a:t>
            </a:r>
            <a:r>
              <a:rPr lang="en-US" sz="1600" dirty="0">
                <a:solidFill>
                  <a:schemeClr val="bg1"/>
                </a:solidFill>
              </a:rPr>
              <a:t>functions carrying gauge field(s) must satisfy.  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72702" y="990600"/>
            <a:ext cx="966054" cy="51347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5738756" y="1496671"/>
            <a:ext cx="1043044" cy="36361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81800" y="1752600"/>
            <a:ext cx="19743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Not gauge invariant due </a:t>
            </a:r>
          </a:p>
          <a:p>
            <a:r>
              <a:rPr lang="en-US" sz="1400" dirty="0">
                <a:solidFill>
                  <a:schemeClr val="bg1"/>
                </a:solidFill>
              </a:rPr>
              <a:t>to gauge fixing.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800" y="4382869"/>
            <a:ext cx="40492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QED: </a:t>
            </a:r>
          </a:p>
          <a:p>
            <a:r>
              <a:rPr lang="en-US" dirty="0">
                <a:solidFill>
                  <a:schemeClr val="bg1"/>
                </a:solidFill>
              </a:rPr>
              <a:t>Wards-Green-Takahashi identities (WGTI)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14047" y="4343400"/>
            <a:ext cx="290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QCD: </a:t>
            </a:r>
          </a:p>
          <a:p>
            <a:r>
              <a:rPr lang="en-US" dirty="0" err="1">
                <a:solidFill>
                  <a:schemeClr val="bg1"/>
                </a:solidFill>
              </a:rPr>
              <a:t>Slavnov</a:t>
            </a:r>
            <a:r>
              <a:rPr lang="en-US" dirty="0">
                <a:solidFill>
                  <a:schemeClr val="bg1"/>
                </a:solidFill>
              </a:rPr>
              <a:t> Taylor identities (STI)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3542" y="762000"/>
            <a:ext cx="1850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Gauge fixing implies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95600" y="55602"/>
            <a:ext cx="33559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Quantum Chromo Dynamics (QCD)</a:t>
            </a:r>
          </a:p>
          <a:p>
            <a:pPr algn="ctr"/>
            <a:r>
              <a:rPr lang="en-US" sz="14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(Quantization)</a:t>
            </a:r>
            <a:endParaRPr lang="en-SG" sz="1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5881800"/>
              </p:ext>
            </p:extLst>
          </p:nvPr>
        </p:nvGraphicFramePr>
        <p:xfrm>
          <a:off x="398463" y="5021263"/>
          <a:ext cx="2671762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2" name="Equation" r:id="rId7" imgW="1815840" imgH="723600" progId="Equation.3">
                  <p:embed/>
                </p:oleObj>
              </mc:Choice>
              <mc:Fallback>
                <p:oleObj name="Equation" r:id="rId7" imgW="1815840" imgH="7236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8463" y="5021263"/>
                        <a:ext cx="2671762" cy="106362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2676885"/>
              </p:ext>
            </p:extLst>
          </p:nvPr>
        </p:nvGraphicFramePr>
        <p:xfrm>
          <a:off x="4917141" y="5019259"/>
          <a:ext cx="4094162" cy="1290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23" name="Equation" r:id="rId9" imgW="3060360" imgH="965160" progId="Equation.3">
                  <p:embed/>
                </p:oleObj>
              </mc:Choice>
              <mc:Fallback>
                <p:oleObj name="Equation" r:id="rId9" imgW="3060360" imgH="9651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7141" y="5019259"/>
                        <a:ext cx="4094162" cy="1290638"/>
                      </a:xfrm>
                      <a:prstGeom prst="rect">
                        <a:avLst/>
                      </a:prstGeom>
                      <a:solidFill>
                        <a:srgbClr val="DCE6F2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183" y="3141452"/>
            <a:ext cx="1400175" cy="1247775"/>
          </a:xfrm>
          <a:prstGeom prst="rect">
            <a:avLst/>
          </a:prstGeom>
        </p:spPr>
      </p:pic>
      <p:cxnSp>
        <p:nvCxnSpPr>
          <p:cNvPr id="20" name="Straight Arrow Connector 19"/>
          <p:cNvCxnSpPr/>
          <p:nvPr/>
        </p:nvCxnSpPr>
        <p:spPr>
          <a:xfrm>
            <a:off x="5410200" y="2382632"/>
            <a:ext cx="2191983" cy="96147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918005" y="1858136"/>
            <a:ext cx="1711424" cy="4243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25160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11" grpId="0"/>
      <p:bldP spid="12" grpId="0"/>
      <p:bldP spid="13" grpId="0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4200" y="152400"/>
            <a:ext cx="2910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Green Functions of QCD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85800"/>
            <a:ext cx="265951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SG" dirty="0">
                <a:latin typeface="Tahoma" pitchFamily="34" charset="0"/>
                <a:ea typeface="Tahoma" pitchFamily="34" charset="0"/>
                <a:cs typeface="Tahoma" pitchFamily="34" charset="0"/>
              </a:rPr>
              <a:t>2-point Green functions: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000" y="1143000"/>
                <a:ext cx="2393283" cy="37029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𝑇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),</m:t>
                              </m:r>
                              <m:acc>
                                <m:accPr>
                                  <m:chr m:val="̅"/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</m:d>
                        </m:e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  <m:r>
                        <a:rPr lang="en-SG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2393283" cy="370294"/>
              </a:xfrm>
              <a:prstGeom prst="rect">
                <a:avLst/>
              </a:prstGeom>
              <a:blipFill rotWithShape="1">
                <a:blip r:embed="rId2"/>
                <a:stretch>
                  <a:fillRect b="-4839"/>
                </a:stretch>
              </a:blip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C:\Users\Faisal Akram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496" y="1232682"/>
            <a:ext cx="1249095" cy="26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8296" y="1600200"/>
                <a:ext cx="2691763" cy="376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𝑇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𝜇</m:t>
                                  </m:r>
                                </m:sub>
                                <m:sup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SG" sz="16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),</m:t>
                              </m:r>
                              <m:sSubSup>
                                <m:sSubSup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𝜐</m:t>
                                  </m:r>
                                </m:sub>
                                <m:sup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SG" sz="16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</m:d>
                        </m:e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  <m:r>
                        <a:rPr lang="en-SG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96" y="1600200"/>
                <a:ext cx="2691763" cy="376000"/>
              </a:xfrm>
              <a:prstGeom prst="rect">
                <a:avLst/>
              </a:prstGeom>
              <a:blipFill rotWithShape="1">
                <a:blip r:embed="rId4"/>
                <a:stretch>
                  <a:fillRect b="-3175"/>
                </a:stretch>
              </a:blip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 descr="C:\Users\Faisal Akram\Desktop\Untitled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638" y="1590538"/>
            <a:ext cx="1232526" cy="2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1944" y="2043752"/>
                <a:ext cx="2645340" cy="37029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𝑇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𝑐</m:t>
                                  </m:r>
                                </m:e>
                                <m:sub/>
                                <m:sup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SG" sz="16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),</m:t>
                              </m:r>
                              <m:sSubSup>
                                <m:sSubSup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𝑐</m:t>
                                  </m:r>
                                </m:e>
                                <m:sub/>
                                <m:sup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SG" sz="16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</m:d>
                        </m:e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  <m:r>
                        <a:rPr lang="en-SG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44" y="2043752"/>
                <a:ext cx="2645340" cy="370294"/>
              </a:xfrm>
              <a:prstGeom prst="rect">
                <a:avLst/>
              </a:prstGeom>
              <a:blipFill rotWithShape="1">
                <a:blip r:embed="rId6"/>
                <a:stretch>
                  <a:fillRect b="-4762"/>
                </a:stretch>
              </a:blip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3" name="Picture 9" descr="C:\Users\Faisal Akram\Desktop\Untitled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325" y="2100247"/>
            <a:ext cx="1176247" cy="25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60968" y="2667000"/>
            <a:ext cx="247683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SG" dirty="0"/>
              <a:t>3-Point Green functions:</a:t>
            </a:r>
          </a:p>
        </p:txBody>
      </p:sp>
      <p:pic>
        <p:nvPicPr>
          <p:cNvPr id="1034" name="Picture 10" descr="C:\Users\Faisal Akram\Desktop\Untitled1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68" y="3178822"/>
            <a:ext cx="1127615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Faisal Akram\Desktop\Untitled1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833" y="3047314"/>
            <a:ext cx="1230869" cy="109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Faisal Akram\Desktop\Untitled1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94" y="4272946"/>
            <a:ext cx="1245913" cy="112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0" y="2590800"/>
            <a:ext cx="2652586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SG" dirty="0">
                <a:latin typeface="Tahoma" pitchFamily="34" charset="0"/>
                <a:ea typeface="Tahoma" pitchFamily="34" charset="0"/>
                <a:cs typeface="Tahoma" pitchFamily="34" charset="0"/>
              </a:rPr>
              <a:t>4-Point Green functions:</a:t>
            </a:r>
          </a:p>
        </p:txBody>
      </p:sp>
      <p:pic>
        <p:nvPicPr>
          <p:cNvPr id="1037" name="Picture 13" descr="C:\Users\Faisal Akram\Desktop\Untitled1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338" y="3048000"/>
            <a:ext cx="881062" cy="88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:\Users\Faisal Akram\Desktop\Untitled1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328" y="3016709"/>
            <a:ext cx="904747" cy="90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C:\Users\Faisal Akram\Desktop\Untitled1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724" y="3048000"/>
            <a:ext cx="895351" cy="89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C:\Users\Faisal Akram\Desktop\Untitled1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47" y="4038600"/>
            <a:ext cx="1016485" cy="100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86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 animBg="1"/>
      <p:bldP spid="14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2282933" y="164068"/>
            <a:ext cx="457497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800" dirty="0">
                <a:solidFill>
                  <a:srgbClr val="FFC000"/>
                </a:solidFill>
              </a:rPr>
              <a:t>Schwinger-Dyson Equations (SDEs) of QCD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60" y="1062097"/>
            <a:ext cx="8252708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QFT the Green functions satisfy a set of exact mathematical equations called SDEs.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Corresponding to each green function we have a SDE.</a:t>
            </a:r>
          </a:p>
          <a:p>
            <a:endParaRPr lang="en-SG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SG" sz="16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6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These are exact equations and can be used to find Green functions </a:t>
            </a:r>
            <a:r>
              <a:rPr lang="en-SG" sz="1600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perturbatively</a:t>
            </a:r>
            <a:endParaRPr lang="en-SG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    as well as non-</a:t>
            </a:r>
            <a:r>
              <a:rPr lang="en-SG" sz="1600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perturbatively</a:t>
            </a:r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5101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59" y="430191"/>
            <a:ext cx="6403181" cy="5669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2807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457200"/>
            <a:ext cx="2238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 Propagator:</a:t>
            </a:r>
          </a:p>
        </p:txBody>
      </p:sp>
      <p:pic>
        <p:nvPicPr>
          <p:cNvPr id="2051" name="Picture 3" descr="C:\Users\Faisal Akram\Desktop\Untitled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733469"/>
            <a:ext cx="3284616" cy="53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05232" y="1649682"/>
            <a:ext cx="2222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Gluon Propagator:</a:t>
            </a:r>
          </a:p>
        </p:txBody>
      </p:sp>
      <p:pic>
        <p:nvPicPr>
          <p:cNvPr id="2055" name="Picture 7" descr="C:\Users\Faisal Akram\Desktop\Untitled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942274"/>
            <a:ext cx="3224910" cy="74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9034" y="2667000"/>
            <a:ext cx="2326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quark-gluon vertex:</a:t>
            </a:r>
          </a:p>
        </p:txBody>
      </p:sp>
      <p:pic>
        <p:nvPicPr>
          <p:cNvPr id="2057" name="Picture 9" descr="C:\Users\Faisal Akram\Desktop\Untitled1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90" y="3048000"/>
            <a:ext cx="3224910" cy="684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810000" y="2133600"/>
            <a:ext cx="870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</a:rPr>
              <a:t>+ 5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3969" y="3217515"/>
            <a:ext cx="870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</a:rPr>
              <a:t>+ 7 terms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9746" y="533400"/>
            <a:ext cx="3373231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Non </a:t>
            </a:r>
            <a:r>
              <a:rPr lang="en-US" sz="1600" dirty="0" err="1">
                <a:solidFill>
                  <a:srgbClr val="FFFF00"/>
                </a:solidFill>
              </a:rPr>
              <a:t>Perturbative</a:t>
            </a:r>
            <a:r>
              <a:rPr lang="en-US" sz="1600" dirty="0">
                <a:solidFill>
                  <a:srgbClr val="FFFF00"/>
                </a:solidFill>
              </a:rPr>
              <a:t> Truncation:</a:t>
            </a:r>
          </a:p>
          <a:p>
            <a:r>
              <a:rPr lang="en-US" sz="1600" dirty="0">
                <a:solidFill>
                  <a:schemeClr val="bg1"/>
                </a:solidFill>
              </a:rPr>
              <a:t>One or more Green functions are</a:t>
            </a:r>
          </a:p>
          <a:p>
            <a:r>
              <a:rPr lang="en-US" sz="1600" dirty="0">
                <a:solidFill>
                  <a:schemeClr val="bg1"/>
                </a:solidFill>
              </a:rPr>
              <a:t>modeled subjecting to some </a:t>
            </a:r>
          </a:p>
          <a:p>
            <a:r>
              <a:rPr lang="en-US" sz="1600" dirty="0">
                <a:solidFill>
                  <a:schemeClr val="bg1"/>
                </a:solidFill>
              </a:rPr>
              <a:t>general field theoretical constraints.</a:t>
            </a:r>
          </a:p>
          <a:p>
            <a:r>
              <a:rPr lang="en-US" sz="1600" dirty="0">
                <a:solidFill>
                  <a:schemeClr val="bg1"/>
                </a:solidFill>
              </a:rPr>
              <a:t>Or </a:t>
            </a:r>
          </a:p>
          <a:p>
            <a:r>
              <a:rPr lang="en-US" sz="1600" dirty="0">
                <a:solidFill>
                  <a:schemeClr val="bg1"/>
                </a:solidFill>
              </a:rPr>
              <a:t>Using the results obtained from </a:t>
            </a:r>
            <a:r>
              <a:rPr lang="en-US" sz="1600" dirty="0" err="1">
                <a:solidFill>
                  <a:schemeClr val="bg1"/>
                </a:solidFill>
              </a:rPr>
              <a:t>lQCD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</a:p>
          <a:p>
            <a:endParaRPr lang="en-SG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590800" y="5741724"/>
                <a:ext cx="386837" cy="2918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SG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5741724"/>
                <a:ext cx="386837" cy="291811"/>
              </a:xfrm>
              <a:prstGeom prst="rect">
                <a:avLst/>
              </a:prstGeom>
              <a:blipFill rotWithShape="1">
                <a:blip r:embed="rId12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2666049" y="76200"/>
            <a:ext cx="38087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800" dirty="0">
                <a:solidFill>
                  <a:srgbClr val="FFC000"/>
                </a:solidFill>
              </a:rPr>
              <a:t>Schwinger-Dyson Equations of QCD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05" y="4845313"/>
            <a:ext cx="6108595" cy="48868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236472"/>
            <a:ext cx="3669216" cy="48792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5451684"/>
            <a:ext cx="3245519" cy="7967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57200" y="3852446"/>
            <a:ext cx="22025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FF00"/>
                </a:solidFill>
              </a:rPr>
              <a:t>Perturbative</a:t>
            </a:r>
            <a:r>
              <a:rPr lang="en-US" sz="1600" dirty="0">
                <a:solidFill>
                  <a:srgbClr val="FFFF00"/>
                </a:solidFill>
              </a:rPr>
              <a:t> Truncation</a:t>
            </a:r>
            <a:r>
              <a:rPr lang="en-US" sz="1400" dirty="0">
                <a:solidFill>
                  <a:schemeClr val="bg1"/>
                </a:solidFill>
              </a:rPr>
              <a:t>:</a:t>
            </a:r>
            <a:endParaRPr lang="en-SG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198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78678" y="152400"/>
            <a:ext cx="2383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Feynman Rules of QCD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710309"/>
              </p:ext>
            </p:extLst>
          </p:nvPr>
        </p:nvGraphicFramePr>
        <p:xfrm>
          <a:off x="784515" y="3609243"/>
          <a:ext cx="531299" cy="279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4" name="Equation" r:id="rId3" imgW="482400" imgH="253800" progId="Equation.3">
                  <p:embed/>
                </p:oleObj>
              </mc:Choice>
              <mc:Fallback>
                <p:oleObj name="Equation" r:id="rId3" imgW="48240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4515" y="3609243"/>
                        <a:ext cx="531299" cy="27974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184622"/>
              </p:ext>
            </p:extLst>
          </p:nvPr>
        </p:nvGraphicFramePr>
        <p:xfrm>
          <a:off x="1752600" y="3620560"/>
          <a:ext cx="2161195" cy="5080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5" name="Equation" r:id="rId5" imgW="2158920" imgH="507960" progId="Equation.3">
                  <p:embed/>
                </p:oleObj>
              </mc:Choice>
              <mc:Fallback>
                <p:oleObj name="Equation" r:id="rId5" imgW="2158920" imgH="5079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52600" y="3620560"/>
                        <a:ext cx="2161195" cy="5080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0931903"/>
              </p:ext>
            </p:extLst>
          </p:nvPr>
        </p:nvGraphicFramePr>
        <p:xfrm>
          <a:off x="4166869" y="3620045"/>
          <a:ext cx="862331" cy="307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6" name="Equation" r:id="rId7" imgW="711000" imgH="253800" progId="Equation.3">
                  <p:embed/>
                </p:oleObj>
              </mc:Choice>
              <mc:Fallback>
                <p:oleObj name="Equation" r:id="rId7" imgW="71100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166869" y="3620045"/>
                        <a:ext cx="862331" cy="30772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9056464"/>
              </p:ext>
            </p:extLst>
          </p:nvPr>
        </p:nvGraphicFramePr>
        <p:xfrm>
          <a:off x="5410200" y="3622965"/>
          <a:ext cx="2135909" cy="787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7" name="Equation" r:id="rId9" imgW="2133360" imgH="787320" progId="Equation.3">
                  <p:embed/>
                </p:oleObj>
              </mc:Choice>
              <mc:Fallback>
                <p:oleObj name="Equation" r:id="rId9" imgW="2133360" imgH="7873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410200" y="3622965"/>
                        <a:ext cx="2135909" cy="78797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654486"/>
            <a:ext cx="6245475" cy="92691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666" y="4531030"/>
            <a:ext cx="5565334" cy="650570"/>
          </a:xfrm>
          <a:prstGeom prst="rect">
            <a:avLst/>
          </a:prstGeom>
          <a:solidFill>
            <a:srgbClr val="FFC000"/>
          </a:solidFill>
        </p:spPr>
      </p:pic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462938"/>
              </p:ext>
            </p:extLst>
          </p:nvPr>
        </p:nvGraphicFramePr>
        <p:xfrm>
          <a:off x="510309" y="5248433"/>
          <a:ext cx="4214091" cy="1180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8" name="Equation" r:id="rId13" imgW="4622760" imgH="1295280" progId="Equation.3">
                  <p:embed/>
                </p:oleObj>
              </mc:Choice>
              <mc:Fallback>
                <p:oleObj name="Equation" r:id="rId13" imgW="4622760" imgH="1295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309" y="5248433"/>
                        <a:ext cx="4214091" cy="118078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66159" y="2328446"/>
            <a:ext cx="9054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Vertices: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067" y="4191000"/>
            <a:ext cx="11431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</a:rPr>
              <a:t>Propgators</a:t>
            </a:r>
            <a:r>
              <a:rPr lang="en-US" sz="1600" dirty="0">
                <a:solidFill>
                  <a:schemeClr val="bg1"/>
                </a:solidFill>
              </a:rPr>
              <a:t>:</a:t>
            </a: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567218"/>
              </p:ext>
            </p:extLst>
          </p:nvPr>
        </p:nvGraphicFramePr>
        <p:xfrm>
          <a:off x="457200" y="762000"/>
          <a:ext cx="5284932" cy="783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79" name="Equation" r:id="rId15" imgW="4825800" imgH="698400" progId="Equation.3">
                  <p:embed/>
                </p:oleObj>
              </mc:Choice>
              <mc:Fallback>
                <p:oleObj name="Equation" r:id="rId15" imgW="4825800" imgH="69840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762000"/>
                        <a:ext cx="5284932" cy="783647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1000" y="457200"/>
            <a:ext cx="1869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QCD full Lagrangian: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76862"/>
              </p:ext>
            </p:extLst>
          </p:nvPr>
        </p:nvGraphicFramePr>
        <p:xfrm>
          <a:off x="4368065" y="1614369"/>
          <a:ext cx="4547335" cy="74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680" name="Equation" r:id="rId17" imgW="4991040" imgH="825480" progId="Equation.3">
                  <p:embed/>
                </p:oleObj>
              </mc:Choice>
              <mc:Fallback>
                <p:oleObj name="Equation" r:id="rId17" imgW="4991040" imgH="825480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8065" y="1614369"/>
                        <a:ext cx="4547335" cy="747831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581400" y="1600200"/>
            <a:ext cx="800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Where,</a:t>
            </a:r>
          </a:p>
        </p:txBody>
      </p:sp>
    </p:spTree>
    <p:extLst>
      <p:ext uri="{BB962C8B-B14F-4D97-AF65-F5344CB8AC3E}">
        <p14:creationId xmlns:p14="http://schemas.microsoft.com/office/powerpoint/2010/main" val="224098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1" grpId="0"/>
      <p:bldP spid="13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3400" y="381000"/>
            <a:ext cx="1516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Color Algebra: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200"/>
            <a:ext cx="1981200" cy="5905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2590800"/>
            <a:ext cx="1838325" cy="6762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3810000"/>
            <a:ext cx="1762125" cy="657225"/>
          </a:xfrm>
          <a:prstGeom prst="rect">
            <a:avLst/>
          </a:prstGeom>
        </p:spPr>
      </p:pic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9324758"/>
              </p:ext>
            </p:extLst>
          </p:nvPr>
        </p:nvGraphicFramePr>
        <p:xfrm>
          <a:off x="2971800" y="4323195"/>
          <a:ext cx="404653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6" name="Equation" r:id="rId6" imgW="2197080" imgH="241200" progId="Equation.3">
                  <p:embed/>
                </p:oleObj>
              </mc:Choice>
              <mc:Fallback>
                <p:oleObj name="Equation" r:id="rId6" imgW="219708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971800" y="4323195"/>
                        <a:ext cx="4046537" cy="444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1067685"/>
              </p:ext>
            </p:extLst>
          </p:nvPr>
        </p:nvGraphicFramePr>
        <p:xfrm>
          <a:off x="2994025" y="1367271"/>
          <a:ext cx="3635375" cy="7663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7" name="Equation" r:id="rId8" imgW="2171520" imgH="457200" progId="Equation.3">
                  <p:embed/>
                </p:oleObj>
              </mc:Choice>
              <mc:Fallback>
                <p:oleObj name="Equation" r:id="rId8" imgW="217152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94025" y="1367271"/>
                        <a:ext cx="3635375" cy="76632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415157"/>
              </p:ext>
            </p:extLst>
          </p:nvPr>
        </p:nvGraphicFramePr>
        <p:xfrm>
          <a:off x="2962275" y="2590800"/>
          <a:ext cx="2532063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418" name="Equation" r:id="rId10" imgW="1663560" imgH="393480" progId="Equation.3">
                  <p:embed/>
                </p:oleObj>
              </mc:Choice>
              <mc:Fallback>
                <p:oleObj name="Equation" r:id="rId10" imgW="166356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962275" y="2590800"/>
                        <a:ext cx="2532063" cy="5969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648200"/>
            <a:ext cx="1762125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021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686531"/>
              </p:ext>
            </p:extLst>
          </p:nvPr>
        </p:nvGraphicFramePr>
        <p:xfrm>
          <a:off x="304800" y="1741488"/>
          <a:ext cx="48006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6" name="Equation" r:id="rId3" imgW="4025880" imgH="457200" progId="Equation.3">
                  <p:embed/>
                </p:oleObj>
              </mc:Choice>
              <mc:Fallback>
                <p:oleObj name="Equation" r:id="rId3" imgW="40258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1741488"/>
                        <a:ext cx="4800600" cy="54451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803335"/>
            <a:ext cx="4036138" cy="8730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739765"/>
            <a:ext cx="6870023" cy="9178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05400" y="2023646"/>
                <a:ext cx="98116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→∞)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2023646"/>
                <a:ext cx="981166" cy="338554"/>
              </a:xfrm>
              <a:prstGeom prst="rect">
                <a:avLst/>
              </a:prstGeom>
              <a:blipFill>
                <a:blip r:embed="rId7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>
            <a:off x="5257800" y="1981200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943600" y="1676400"/>
                <a:ext cx="2872453" cy="5241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en-US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𝑑𝑘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lang="en-US" dirty="0"/>
                  <a:t>  </a:t>
                </a:r>
                <a:r>
                  <a:rPr lang="en-US" sz="1600" dirty="0">
                    <a:solidFill>
                      <a:schemeClr val="bg1"/>
                    </a:solidFill>
                  </a:rPr>
                  <a:t>(Linearly divergent)</a:t>
                </a:r>
                <a:endParaRPr lang="en-US" sz="1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1676400"/>
                <a:ext cx="2872453" cy="524182"/>
              </a:xfrm>
              <a:prstGeom prst="rect">
                <a:avLst/>
              </a:prstGeom>
              <a:blipFill>
                <a:blip r:embed="rId8"/>
                <a:stretch>
                  <a:fillRect r="-212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218647" y="6184342"/>
                <a:ext cx="3403047" cy="445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𝑑𝑘</m:t>
                        </m:r>
                      </m:e>
                    </m:nary>
                  </m:oMath>
                </a14:m>
                <a:r>
                  <a:rPr lang="en-US" dirty="0"/>
                  <a:t>  </a:t>
                </a:r>
                <a:r>
                  <a:rPr lang="en-US" sz="1600" dirty="0">
                    <a:solidFill>
                      <a:schemeClr val="bg1"/>
                    </a:solidFill>
                  </a:rPr>
                  <a:t>(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Quadratically</a:t>
                </a:r>
                <a:r>
                  <a:rPr lang="en-US" sz="1600" dirty="0">
                    <a:solidFill>
                      <a:schemeClr val="bg1"/>
                    </a:solidFill>
                  </a:rPr>
                  <a:t> divergent)</a:t>
                </a:r>
                <a:endParaRPr lang="en-US" sz="16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8647" y="6184342"/>
                <a:ext cx="3403047" cy="445058"/>
              </a:xfrm>
              <a:prstGeom prst="rect">
                <a:avLst/>
              </a:prstGeom>
              <a:blipFill>
                <a:blip r:embed="rId9"/>
                <a:stretch>
                  <a:fillRect l="-5376" t="-113514" b="-175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8839518"/>
              </p:ext>
            </p:extLst>
          </p:nvPr>
        </p:nvGraphicFramePr>
        <p:xfrm>
          <a:off x="304800" y="4402137"/>
          <a:ext cx="6992937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7" name="Equation" r:id="rId10" imgW="5778360" imgH="1473120" progId="Equation.3">
                  <p:embed/>
                </p:oleObj>
              </mc:Choice>
              <mc:Fallback>
                <p:oleObj name="Equation" r:id="rId10" imgW="5778360" imgH="14731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04800" y="4402137"/>
                        <a:ext cx="6992937" cy="177006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532263"/>
              </p:ext>
            </p:extLst>
          </p:nvPr>
        </p:nvGraphicFramePr>
        <p:xfrm>
          <a:off x="304800" y="3743325"/>
          <a:ext cx="48164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458" name="Equation" r:id="rId12" imgW="2717640" imgH="253800" progId="Equation.3">
                  <p:embed/>
                </p:oleObj>
              </mc:Choice>
              <mc:Fallback>
                <p:oleObj name="Equation" r:id="rId12" imgW="271764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04800" y="3743325"/>
                        <a:ext cx="4816475" cy="4476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28600" y="2404646"/>
            <a:ext cx="17125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Gluon propagator: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457200"/>
            <a:ext cx="17205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Quark propagator: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8000" y="76200"/>
            <a:ext cx="31575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Leading order QCD green functions</a:t>
            </a:r>
          </a:p>
        </p:txBody>
      </p:sp>
    </p:spTree>
    <p:extLst>
      <p:ext uri="{BB962C8B-B14F-4D97-AF65-F5344CB8AC3E}">
        <p14:creationId xmlns:p14="http://schemas.microsoft.com/office/powerpoint/2010/main" val="399671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692170"/>
            <a:ext cx="4319786" cy="10604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1853625"/>
            <a:ext cx="7432099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If theory is </a:t>
            </a:r>
            <a:r>
              <a:rPr lang="en-US" sz="1600" dirty="0" err="1">
                <a:solidFill>
                  <a:schemeClr val="bg1"/>
                </a:solidFill>
              </a:rPr>
              <a:t>renormalizable</a:t>
            </a:r>
            <a:r>
              <a:rPr lang="en-US" sz="1600" dirty="0">
                <a:solidFill>
                  <a:schemeClr val="bg1"/>
                </a:solidFill>
              </a:rPr>
              <a:t> then at any order of perturbation, all the divergences can be</a:t>
            </a:r>
          </a:p>
          <a:p>
            <a:r>
              <a:rPr lang="en-US" sz="1600" dirty="0">
                <a:solidFill>
                  <a:schemeClr val="bg1"/>
                </a:solidFill>
              </a:rPr>
              <a:t>absorbed by redefinitions of the coupling and fields.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757999" y="1002742"/>
                <a:ext cx="3199466" cy="4450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</m:t>
                    </m:r>
                    <m:nary>
                      <m:nary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𝑑𝑘</m:t>
                        </m:r>
                      </m:e>
                    </m:nary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 </a:t>
                </a:r>
                <a:r>
                  <a:rPr lang="en-US" sz="1600" dirty="0">
                    <a:solidFill>
                      <a:schemeClr val="bg1"/>
                    </a:solidFill>
                  </a:rPr>
                  <a:t>(Logarithm divergent)</a:t>
                </a:r>
                <a:endParaRPr lang="en-US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999" y="1002742"/>
                <a:ext cx="3199466" cy="445058"/>
              </a:xfrm>
              <a:prstGeom prst="rect">
                <a:avLst/>
              </a:prstGeom>
              <a:blipFill>
                <a:blip r:embed="rId4"/>
                <a:stretch>
                  <a:fillRect l="-5916" t="-113514" r="-191" b="-1756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304800" y="2554069"/>
            <a:ext cx="80951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Redefinitions of coupling and fields are made through multiplicative constants called</a:t>
            </a:r>
          </a:p>
          <a:p>
            <a:r>
              <a:rPr lang="en-US" dirty="0">
                <a:solidFill>
                  <a:schemeClr val="bg1"/>
                </a:solidFill>
              </a:rPr>
              <a:t>renormalization constants.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934126"/>
              </p:ext>
            </p:extLst>
          </p:nvPr>
        </p:nvGraphicFramePr>
        <p:xfrm>
          <a:off x="395288" y="3224213"/>
          <a:ext cx="3871912" cy="180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91" name="Equation" r:id="rId5" imgW="2616120" imgH="1218960" progId="Equation.3">
                  <p:embed/>
                </p:oleObj>
              </mc:Choice>
              <mc:Fallback>
                <p:oleObj name="Equation" r:id="rId5" imgW="2616120" imgH="12189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95288" y="3224213"/>
                        <a:ext cx="3871912" cy="1804987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04800" y="5053622"/>
                <a:ext cx="6283387" cy="14995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Gauge invariance which is expressed in terms of STI’s enforce that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 err="1">
                    <a:solidFill>
                      <a:schemeClr val="bg1"/>
                    </a:solidFill>
                  </a:rPr>
                  <a:t>i</a:t>
                </a:r>
                <a:r>
                  <a:rPr lang="en-US" dirty="0">
                    <a:solidFill>
                      <a:schemeClr val="bg1"/>
                    </a:solidFill>
                  </a:rPr>
                  <a:t>) All quarks are renormalized by same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ii) All gluons are renormalized by same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iii) All ghost are also renormalized by same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053622"/>
                <a:ext cx="6283387" cy="1499578"/>
              </a:xfrm>
              <a:prstGeom prst="rect">
                <a:avLst/>
              </a:prstGeom>
              <a:blipFill>
                <a:blip r:embed="rId7"/>
                <a:stretch>
                  <a:fillRect l="-776" t="-2033" r="-776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31079" y="347246"/>
            <a:ext cx="22597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Quark gluon vertex (1PI):</a:t>
            </a:r>
          </a:p>
        </p:txBody>
      </p:sp>
    </p:spTree>
    <p:extLst>
      <p:ext uri="{BB962C8B-B14F-4D97-AF65-F5344CB8AC3E}">
        <p14:creationId xmlns:p14="http://schemas.microsoft.com/office/powerpoint/2010/main" val="894279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685800"/>
            <a:ext cx="7814640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Summery: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 QCD we have  5 different interactions</a:t>
            </a:r>
          </a:p>
          <a:p>
            <a:r>
              <a:rPr lang="en-US" sz="1600" dirty="0">
                <a:solidFill>
                  <a:schemeClr val="bg1"/>
                </a:solidFill>
              </a:rPr>
              <a:t>	</a:t>
            </a:r>
            <a:r>
              <a:rPr lang="en-US" sz="1400" dirty="0" err="1">
                <a:solidFill>
                  <a:schemeClr val="bg1"/>
                </a:solidFill>
              </a:rPr>
              <a:t>i</a:t>
            </a:r>
            <a:r>
              <a:rPr lang="en-US" sz="1400" dirty="0">
                <a:solidFill>
                  <a:schemeClr val="bg1"/>
                </a:solidFill>
              </a:rPr>
              <a:t>) Quark-Gluon interaction</a:t>
            </a:r>
          </a:p>
          <a:p>
            <a:r>
              <a:rPr lang="en-US" sz="1400" dirty="0">
                <a:solidFill>
                  <a:schemeClr val="bg1"/>
                </a:solidFill>
              </a:rPr>
              <a:t>	ii) 3 Gluon interaction</a:t>
            </a:r>
          </a:p>
          <a:p>
            <a:r>
              <a:rPr lang="en-US" sz="1400" dirty="0">
                <a:solidFill>
                  <a:schemeClr val="bg1"/>
                </a:solidFill>
              </a:rPr>
              <a:t>	iii) 4 Gluon interaction</a:t>
            </a:r>
          </a:p>
          <a:p>
            <a:r>
              <a:rPr lang="en-US" sz="1400" dirty="0">
                <a:solidFill>
                  <a:schemeClr val="bg1"/>
                </a:solidFill>
              </a:rPr>
              <a:t>	iv) Ghost-Gluon interaction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QCD green functions satisfy SDE’s which are exact but unsolvable unless truncated.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 perturbative truncation the amplitude of QCD green functions can be written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directly from the Feynman diagram using Feynman rules.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Naïve analysis show that these Green function carry ultraviolet divergences.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Since QCD in </a:t>
            </a:r>
            <a:r>
              <a:rPr lang="en-US" sz="1600" dirty="0" err="1">
                <a:solidFill>
                  <a:schemeClr val="bg1"/>
                </a:solidFill>
              </a:rPr>
              <a:t>renormalizable</a:t>
            </a:r>
            <a:r>
              <a:rPr lang="en-US" sz="1600" dirty="0">
                <a:solidFill>
                  <a:schemeClr val="bg1"/>
                </a:solidFill>
              </a:rPr>
              <a:t>, therefore, the divergences can be absorbed by redefinition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coupling and field of QCD.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Next Lecture: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We will continue renormalization program in QCD using dimensional regularization.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Discuss some non-perturbative aspects of QCD.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77652" y="304800"/>
            <a:ext cx="1773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End of Lecture 1</a:t>
            </a:r>
          </a:p>
        </p:txBody>
      </p:sp>
    </p:spTree>
    <p:extLst>
      <p:ext uri="{BB962C8B-B14F-4D97-AF65-F5344CB8AC3E}">
        <p14:creationId xmlns:p14="http://schemas.microsoft.com/office/powerpoint/2010/main" val="14786540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04800"/>
            <a:ext cx="3042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Procedure of Renormalization: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990600"/>
            <a:ext cx="732841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Regularize the field theory. </a:t>
            </a:r>
          </a:p>
          <a:p>
            <a:r>
              <a:rPr lang="en-US" dirty="0">
                <a:solidFill>
                  <a:schemeClr val="bg1"/>
                </a:solidFill>
              </a:rPr>
              <a:t>     </a:t>
            </a:r>
            <a:r>
              <a:rPr lang="en-US" sz="1600" dirty="0">
                <a:solidFill>
                  <a:schemeClr val="bg1"/>
                </a:solidFill>
              </a:rPr>
              <a:t>(i.e., to modify it temporarily in such way that all divergent integrals become finite)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</a:t>
            </a:r>
            <a:r>
              <a:rPr lang="en-US" sz="1600" dirty="0" err="1">
                <a:solidFill>
                  <a:schemeClr val="bg1"/>
                </a:solidFill>
              </a:rPr>
              <a:t>i</a:t>
            </a:r>
            <a:r>
              <a:rPr lang="en-US" sz="1600" dirty="0">
                <a:solidFill>
                  <a:schemeClr val="bg1"/>
                </a:solidFill>
              </a:rPr>
              <a:t>) Dimensional regularization	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  (breaks only scale invariance)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ii) Pauli-Villars regularization 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    (breaks </a:t>
            </a:r>
            <a:r>
              <a:rPr lang="en-US" sz="1600" dirty="0" err="1">
                <a:solidFill>
                  <a:schemeClr val="bg1"/>
                </a:solidFill>
              </a:rPr>
              <a:t>Hermicity</a:t>
            </a:r>
            <a:r>
              <a:rPr lang="en-US" sz="1600" dirty="0">
                <a:solidFill>
                  <a:schemeClr val="bg1"/>
                </a:solidFill>
              </a:rPr>
              <a:t> and gauge invariance in non-Abelian gauge theories)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iii) Lattice regularization 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continuous space-time is replace by discrete Lattice of space-time. 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     Lattice spacing acts as regularizing parameter.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          (breaks </a:t>
            </a:r>
            <a:r>
              <a:rPr lang="en-US" sz="1600" dirty="0" err="1">
                <a:solidFill>
                  <a:schemeClr val="bg1"/>
                </a:solidFill>
              </a:rPr>
              <a:t>Poincaré</a:t>
            </a:r>
            <a:r>
              <a:rPr lang="en-US" sz="1600" dirty="0">
                <a:solidFill>
                  <a:schemeClr val="bg1"/>
                </a:solidFill>
              </a:rPr>
              <a:t> invariance)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9884327"/>
              </p:ext>
            </p:extLst>
          </p:nvPr>
        </p:nvGraphicFramePr>
        <p:xfrm>
          <a:off x="1175827" y="2101883"/>
          <a:ext cx="1338773" cy="260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1" name="Equation" r:id="rId3" imgW="914400" imgH="177480" progId="Equation.3">
                  <p:embed/>
                </p:oleObj>
              </mc:Choice>
              <mc:Fallback>
                <p:oleObj name="Equation" r:id="rId3" imgW="914400" imgH="177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75827" y="2101883"/>
                        <a:ext cx="1338773" cy="26031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0282340"/>
              </p:ext>
            </p:extLst>
          </p:nvPr>
        </p:nvGraphicFramePr>
        <p:xfrm>
          <a:off x="1219200" y="3333623"/>
          <a:ext cx="2427986" cy="476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2" name="Equation" r:id="rId5" imgW="2006280" imgH="393480" progId="Equation.3">
                  <p:embed/>
                </p:oleObj>
              </mc:Choice>
              <mc:Fallback>
                <p:oleObj name="Equation" r:id="rId5" imgW="200628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19200" y="3333623"/>
                        <a:ext cx="2427986" cy="47637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251147"/>
              </p:ext>
            </p:extLst>
          </p:nvPr>
        </p:nvGraphicFramePr>
        <p:xfrm>
          <a:off x="3865563" y="1900238"/>
          <a:ext cx="2519362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453" name="Equation" r:id="rId7" imgW="2082600" imgH="444240" progId="Equation.3">
                  <p:embed/>
                </p:oleObj>
              </mc:Choice>
              <mc:Fallback>
                <p:oleObj name="Equation" r:id="rId7" imgW="208260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65563" y="1900238"/>
                        <a:ext cx="2519362" cy="53816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70447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4800"/>
            <a:ext cx="4439752" cy="960372"/>
          </a:xfrm>
          <a:prstGeom prst="rect">
            <a:avLst/>
          </a:prstGeom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1549078"/>
              </p:ext>
            </p:extLst>
          </p:nvPr>
        </p:nvGraphicFramePr>
        <p:xfrm>
          <a:off x="304800" y="2030413"/>
          <a:ext cx="4281488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7" name="Equation" r:id="rId4" imgW="3263760" imgH="457200" progId="Equation.3">
                  <p:embed/>
                </p:oleObj>
              </mc:Choice>
              <mc:Fallback>
                <p:oleObj name="Equation" r:id="rId4" imgW="326376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030413"/>
                        <a:ext cx="4281488" cy="598487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529792"/>
              </p:ext>
            </p:extLst>
          </p:nvPr>
        </p:nvGraphicFramePr>
        <p:xfrm>
          <a:off x="328024" y="1536692"/>
          <a:ext cx="2491376" cy="347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8" name="Equation" r:id="rId6" imgW="1726920" imgH="241200" progId="Equation.3">
                  <p:embed/>
                </p:oleObj>
              </mc:Choice>
              <mc:Fallback>
                <p:oleObj name="Equation" r:id="rId6" imgW="17269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024" y="1536692"/>
                        <a:ext cx="2491376" cy="347678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327198"/>
              </p:ext>
            </p:extLst>
          </p:nvPr>
        </p:nvGraphicFramePr>
        <p:xfrm>
          <a:off x="306388" y="2741613"/>
          <a:ext cx="4449762" cy="155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9" name="Equation" r:id="rId8" imgW="3390840" imgH="1193760" progId="Equation.3">
                  <p:embed/>
                </p:oleObj>
              </mc:Choice>
              <mc:Fallback>
                <p:oleObj name="Equation" r:id="rId8" imgW="3390840" imgH="1193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8" y="2741613"/>
                        <a:ext cx="4449762" cy="15589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5411954"/>
              </p:ext>
            </p:extLst>
          </p:nvPr>
        </p:nvGraphicFramePr>
        <p:xfrm>
          <a:off x="377825" y="4489450"/>
          <a:ext cx="3279775" cy="160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0" name="Equation" r:id="rId10" imgW="2463480" imgH="1206360" progId="Equation.3">
                  <p:embed/>
                </p:oleObj>
              </mc:Choice>
              <mc:Fallback>
                <p:oleObj name="Equation" r:id="rId10" imgW="2463480" imgH="12063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7825" y="4489450"/>
                        <a:ext cx="3279775" cy="160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143311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77565"/>
            <a:ext cx="6870023" cy="917835"/>
          </a:xfrm>
          <a:prstGeom prst="rect">
            <a:avLst/>
          </a:prstGeom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40803"/>
              </p:ext>
            </p:extLst>
          </p:nvPr>
        </p:nvGraphicFramePr>
        <p:xfrm>
          <a:off x="304800" y="1828800"/>
          <a:ext cx="7332806" cy="1715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79" name="Equation" r:id="rId4" imgW="6298920" imgH="1485720" progId="Equation.3">
                  <p:embed/>
                </p:oleObj>
              </mc:Choice>
              <mc:Fallback>
                <p:oleObj name="Equation" r:id="rId4" imgW="6298920" imgH="14857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4800" y="1828800"/>
                        <a:ext cx="7332806" cy="171594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0196137"/>
              </p:ext>
            </p:extLst>
          </p:nvPr>
        </p:nvGraphicFramePr>
        <p:xfrm>
          <a:off x="304800" y="1371600"/>
          <a:ext cx="4378614" cy="4069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0" name="Equation" r:id="rId6" imgW="2717640" imgH="253800" progId="Equation.3">
                  <p:embed/>
                </p:oleObj>
              </mc:Choice>
              <mc:Fallback>
                <p:oleObj name="Equation" r:id="rId6" imgW="271764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04800" y="1371600"/>
                        <a:ext cx="4378614" cy="406977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0999913"/>
              </p:ext>
            </p:extLst>
          </p:nvPr>
        </p:nvGraphicFramePr>
        <p:xfrm>
          <a:off x="304800" y="3657600"/>
          <a:ext cx="1024773" cy="51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1" name="Equation" r:id="rId8" imgW="914400" imgH="457200" progId="Equation.3">
                  <p:embed/>
                </p:oleObj>
              </mc:Choice>
              <mc:Fallback>
                <p:oleObj name="Equation" r:id="rId8" imgW="914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3657600"/>
                        <a:ext cx="1024773" cy="51238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ight Arrow 5"/>
          <p:cNvSpPr/>
          <p:nvPr/>
        </p:nvSpPr>
        <p:spPr>
          <a:xfrm>
            <a:off x="1447800" y="3810000"/>
            <a:ext cx="3810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8086784"/>
              </p:ext>
            </p:extLst>
          </p:nvPr>
        </p:nvGraphicFramePr>
        <p:xfrm>
          <a:off x="1967292" y="3769042"/>
          <a:ext cx="929704" cy="345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2" name="Equation" r:id="rId10" imgW="685800" imgH="253800" progId="Equation.3">
                  <p:embed/>
                </p:oleObj>
              </mc:Choice>
              <mc:Fallback>
                <p:oleObj name="Equation" r:id="rId10" imgW="68580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292" y="3769042"/>
                        <a:ext cx="929704" cy="345758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28600" y="4191000"/>
                <a:ext cx="5764655" cy="4192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The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𝜇𝜈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gluon</m:t>
                        </m:r>
                      </m:sup>
                    </m:sSubSup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𝜇𝜈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1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g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host</m:t>
                        </m:r>
                      </m:sup>
                    </m:sSubSup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do not satisfy the condition of </a:t>
                </a:r>
                <a:r>
                  <a:rPr lang="en-US" sz="1600" dirty="0" err="1">
                    <a:solidFill>
                      <a:schemeClr val="bg1"/>
                    </a:solidFill>
                  </a:rPr>
                  <a:t>transversality</a:t>
                </a:r>
                <a:r>
                  <a:rPr lang="en-US" sz="16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4191000"/>
                <a:ext cx="5764655" cy="419282"/>
              </a:xfrm>
              <a:prstGeom prst="rect">
                <a:avLst/>
              </a:prstGeom>
              <a:blipFill rotWithShape="0">
                <a:blip r:embed="rId12"/>
                <a:stretch>
                  <a:fillRect l="-635" r="-317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854876"/>
              </p:ext>
            </p:extLst>
          </p:nvPr>
        </p:nvGraphicFramePr>
        <p:xfrm>
          <a:off x="325005" y="4653395"/>
          <a:ext cx="6075795" cy="5282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3" name="Equation" r:id="rId13" imgW="5219640" imgH="457200" progId="Equation.3">
                  <p:embed/>
                </p:oleObj>
              </mc:Choice>
              <mc:Fallback>
                <p:oleObj name="Equation" r:id="rId13" imgW="521964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5005" y="4653395"/>
                        <a:ext cx="6075795" cy="52820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119544"/>
              </p:ext>
            </p:extLst>
          </p:nvPr>
        </p:nvGraphicFramePr>
        <p:xfrm>
          <a:off x="304800" y="5410200"/>
          <a:ext cx="247173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4" name="Equation" r:id="rId15" imgW="1930320" imgH="253800" progId="Equation.3">
                  <p:embed/>
                </p:oleObj>
              </mc:Choice>
              <mc:Fallback>
                <p:oleObj name="Equation" r:id="rId15" imgW="193032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04800" y="5410200"/>
                        <a:ext cx="2471738" cy="3238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755298"/>
              </p:ext>
            </p:extLst>
          </p:nvPr>
        </p:nvGraphicFramePr>
        <p:xfrm>
          <a:off x="304800" y="5867400"/>
          <a:ext cx="6176962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5" name="Equation" r:id="rId17" imgW="5308560" imgH="507960" progId="Equation.3">
                  <p:embed/>
                </p:oleObj>
              </mc:Choice>
              <mc:Fallback>
                <p:oleObj name="Equation" r:id="rId17" imgW="5308560" imgH="5079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4800" y="5867400"/>
                        <a:ext cx="6176962" cy="58896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19955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1000"/>
            <a:ext cx="4319786" cy="1060430"/>
          </a:xfrm>
          <a:prstGeom prst="rect">
            <a:avLst/>
          </a:prstGeom>
        </p:spPr>
      </p:pic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1702454"/>
              </p:ext>
            </p:extLst>
          </p:nvPr>
        </p:nvGraphicFramePr>
        <p:xfrm>
          <a:off x="457200" y="1685925"/>
          <a:ext cx="49085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3" name="Equation" r:id="rId4" imgW="3352680" imgH="253800" progId="Equation.3">
                  <p:embed/>
                </p:oleObj>
              </mc:Choice>
              <mc:Fallback>
                <p:oleObj name="Equation" r:id="rId4" imgW="335268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1685925"/>
                        <a:ext cx="4908550" cy="37147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522169"/>
              </p:ext>
            </p:extLst>
          </p:nvPr>
        </p:nvGraphicFramePr>
        <p:xfrm>
          <a:off x="438149" y="2279650"/>
          <a:ext cx="6191251" cy="198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424" name="Equation" r:id="rId6" imgW="4228920" imgH="1358640" progId="Equation.3">
                  <p:embed/>
                </p:oleObj>
              </mc:Choice>
              <mc:Fallback>
                <p:oleObj name="Equation" r:id="rId6" imgW="4228920" imgH="1358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8149" y="2279650"/>
                        <a:ext cx="6191251" cy="198755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73294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84534" y="152400"/>
            <a:ext cx="1777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Renormalization: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6836048"/>
              </p:ext>
            </p:extLst>
          </p:nvPr>
        </p:nvGraphicFramePr>
        <p:xfrm>
          <a:off x="685800" y="533400"/>
          <a:ext cx="3871912" cy="180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5" name="Equation" r:id="rId3" imgW="2616120" imgH="1218960" progId="Equation.3">
                  <p:embed/>
                </p:oleObj>
              </mc:Choice>
              <mc:Fallback>
                <p:oleObj name="Equation" r:id="rId3" imgW="2616120" imgH="12189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5800" y="533400"/>
                        <a:ext cx="3871912" cy="1804988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2683" y="2907268"/>
            <a:ext cx="4161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Multiplicative Renormalization Strategy: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2942549"/>
              </p:ext>
            </p:extLst>
          </p:nvPr>
        </p:nvGraphicFramePr>
        <p:xfrm>
          <a:off x="685800" y="3276600"/>
          <a:ext cx="2286000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736" name="Equation" r:id="rId5" imgW="1777680" imgH="977760" progId="Equation.3">
                  <p:embed/>
                </p:oleObj>
              </mc:Choice>
              <mc:Fallback>
                <p:oleObj name="Equation" r:id="rId5" imgW="177768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276600"/>
                        <a:ext cx="2286000" cy="125571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232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2122" y="392668"/>
            <a:ext cx="270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Counter terms Strategy: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956968"/>
              </p:ext>
            </p:extLst>
          </p:nvPr>
        </p:nvGraphicFramePr>
        <p:xfrm>
          <a:off x="609600" y="1918132"/>
          <a:ext cx="8162925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0" name="Equation" r:id="rId3" imgW="6159240" imgH="711000" progId="Equation.3">
                  <p:embed/>
                </p:oleObj>
              </mc:Choice>
              <mc:Fallback>
                <p:oleObj name="Equation" r:id="rId3" imgW="6159240" imgH="711000" progId="Equation.3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1918132"/>
                        <a:ext cx="8162925" cy="9636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700890"/>
              </p:ext>
            </p:extLst>
          </p:nvPr>
        </p:nvGraphicFramePr>
        <p:xfrm>
          <a:off x="609600" y="2999513"/>
          <a:ext cx="3960537" cy="35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1" name="Equation" r:id="rId5" imgW="2705040" imgH="241200" progId="Equation.3">
                  <p:embed/>
                </p:oleObj>
              </mc:Choice>
              <mc:Fallback>
                <p:oleObj name="Equation" r:id="rId5" imgW="2705040" imgH="241200" progId="Equation.3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9600" y="2999513"/>
                        <a:ext cx="3960537" cy="35328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2450839"/>
              </p:ext>
            </p:extLst>
          </p:nvPr>
        </p:nvGraphicFramePr>
        <p:xfrm>
          <a:off x="609600" y="3854450"/>
          <a:ext cx="7912100" cy="186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2" name="Equation" r:id="rId7" imgW="5968800" imgH="1371600" progId="Equation.3">
                  <p:embed/>
                </p:oleObj>
              </mc:Choice>
              <mc:Fallback>
                <p:oleObj name="Equation" r:id="rId7" imgW="5968800" imgH="1371600" progId="Equation.3">
                  <p:embed/>
                  <p:pic>
                    <p:nvPicPr>
                      <p:cNvPr id="1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3854450"/>
                        <a:ext cx="7912100" cy="18605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785035"/>
              </p:ext>
            </p:extLst>
          </p:nvPr>
        </p:nvGraphicFramePr>
        <p:xfrm>
          <a:off x="609600" y="838200"/>
          <a:ext cx="653097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93" name="Equation" r:id="rId9" imgW="4927320" imgH="698400" progId="Equation.3">
                  <p:embed/>
                </p:oleObj>
              </mc:Choice>
              <mc:Fallback>
                <p:oleObj name="Equation" r:id="rId9" imgW="4927320" imgH="698400" progId="Equation.3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838200"/>
                        <a:ext cx="6530975" cy="94773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7137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228600"/>
            <a:ext cx="2660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Renormalization Schemes: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4200609"/>
              </p:ext>
            </p:extLst>
          </p:nvPr>
        </p:nvGraphicFramePr>
        <p:xfrm>
          <a:off x="609600" y="649288"/>
          <a:ext cx="2286000" cy="1255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0" name="Equation" r:id="rId3" imgW="1777680" imgH="977760" progId="Equation.3">
                  <p:embed/>
                </p:oleObj>
              </mc:Choice>
              <mc:Fallback>
                <p:oleObj name="Equation" r:id="rId3" imgW="177768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649288"/>
                        <a:ext cx="2286000" cy="1255712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429000" y="228600"/>
            <a:ext cx="2941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renormalization constant Z: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0062371"/>
              </p:ext>
            </p:extLst>
          </p:nvPr>
        </p:nvGraphicFramePr>
        <p:xfrm>
          <a:off x="3524769" y="617415"/>
          <a:ext cx="3104631" cy="296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1" name="Equation" r:id="rId5" imgW="2120760" imgH="203040" progId="Equation.3">
                  <p:embed/>
                </p:oleObj>
              </mc:Choice>
              <mc:Fallback>
                <p:oleObj name="Equation" r:id="rId5" imgW="2120760" imgH="203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24769" y="617415"/>
                        <a:ext cx="3104631" cy="29698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124200" y="914400"/>
            <a:ext cx="52223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divergent part is chosen in such a way that it cancels 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the pole in un-renormalized Green function.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Each different way of choosing the finite part defines a 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different renormalization scheme.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3400" y="2438400"/>
                <a:ext cx="8097986" cy="20319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FF00"/>
                    </a:solidFill>
                  </a:rPr>
                  <a:t>Minimal subtraction (MS) scheme: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The renormalization constants only cancel the divergent parts of the Green functions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without affecting their finite part.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rgbClr val="FFFF00"/>
                    </a:solidFill>
                  </a:rPr>
                  <a:t>Modified Minimal subtraction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MS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rgbClr val="FFFF00"/>
                    </a:solidFill>
                  </a:rPr>
                  <a:t>) scheme:</a:t>
                </a:r>
                <a:endParaRPr lang="en-US" dirty="0">
                  <a:solidFill>
                    <a:schemeClr val="bg1"/>
                  </a:solidFill>
                </a:endParaRP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The renormalization constant also cancel a finite part in the Green function</a:t>
                </a:r>
              </a:p>
              <a:p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2438400"/>
                <a:ext cx="8097986" cy="2031903"/>
              </a:xfrm>
              <a:prstGeom prst="rect">
                <a:avLst/>
              </a:prstGeom>
              <a:blipFill rotWithShape="0">
                <a:blip r:embed="rId7"/>
                <a:stretch>
                  <a:fillRect l="-678" t="-1502" r="-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3388648"/>
              </p:ext>
            </p:extLst>
          </p:nvPr>
        </p:nvGraphicFramePr>
        <p:xfrm>
          <a:off x="688340" y="4191000"/>
          <a:ext cx="1369060" cy="4330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612" name="Equation" r:id="rId8" imgW="1244520" imgH="393480" progId="Equation.3">
                  <p:embed/>
                </p:oleObj>
              </mc:Choice>
              <mc:Fallback>
                <p:oleObj name="Equation" r:id="rId8" imgW="124452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688340" y="4191000"/>
                        <a:ext cx="1369060" cy="43307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28600" y="4944070"/>
            <a:ext cx="8354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These renormalization schemes are called mass independent renormalization schemes.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224840" y="5498068"/>
            <a:ext cx="6166560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results of perturbative calculations are scheme dependent. </a:t>
            </a:r>
          </a:p>
        </p:txBody>
      </p:sp>
    </p:spTree>
    <p:extLst>
      <p:ext uri="{BB962C8B-B14F-4D97-AF65-F5344CB8AC3E}">
        <p14:creationId xmlns:p14="http://schemas.microsoft.com/office/powerpoint/2010/main" val="188091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3" grpId="0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200" y="228600"/>
                <a:ext cx="5619808" cy="3699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Renormalization constants of QCD in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MS</m:t>
                        </m:r>
                      </m:e>
                    </m:acc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at 1 loop order: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28600"/>
                <a:ext cx="5619808" cy="369909"/>
              </a:xfrm>
              <a:prstGeom prst="rect">
                <a:avLst/>
              </a:prstGeom>
              <a:blipFill>
                <a:blip r:embed="rId3"/>
                <a:stretch>
                  <a:fillRect l="-868" t="-833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106038"/>
              </p:ext>
            </p:extLst>
          </p:nvPr>
        </p:nvGraphicFramePr>
        <p:xfrm>
          <a:off x="573088" y="620713"/>
          <a:ext cx="2890837" cy="2351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27" name="Equation" r:id="rId4" imgW="2171520" imgH="1765080" progId="Equation.3">
                  <p:embed/>
                </p:oleObj>
              </mc:Choice>
              <mc:Fallback>
                <p:oleObj name="Equation" r:id="rId4" imgW="2171520" imgH="17650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3088" y="620713"/>
                        <a:ext cx="2890837" cy="235108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366219"/>
              </p:ext>
            </p:extLst>
          </p:nvPr>
        </p:nvGraphicFramePr>
        <p:xfrm>
          <a:off x="381000" y="3962400"/>
          <a:ext cx="2289175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28" name="Equation" r:id="rId6" imgW="1587240" imgH="228600" progId="Equation.3">
                  <p:embed/>
                </p:oleObj>
              </mc:Choice>
              <mc:Fallback>
                <p:oleObj name="Equation" r:id="rId6" imgW="1587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962400"/>
                        <a:ext cx="2289175" cy="32861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59704"/>
              </p:ext>
            </p:extLst>
          </p:nvPr>
        </p:nvGraphicFramePr>
        <p:xfrm>
          <a:off x="381000" y="4391025"/>
          <a:ext cx="2781300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29" name="Equation" r:id="rId8" imgW="2120760" imgH="1130040" progId="Equation.3">
                  <p:embed/>
                </p:oleObj>
              </mc:Choice>
              <mc:Fallback>
                <p:oleObj name="Equation" r:id="rId8" imgW="2120760" imgH="1130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391025"/>
                        <a:ext cx="2781300" cy="147637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04800" y="3276600"/>
            <a:ext cx="32087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Renormalized quark propagator </a:t>
            </a:r>
          </a:p>
          <a:p>
            <a:r>
              <a:rPr lang="en-US" dirty="0">
                <a:solidFill>
                  <a:schemeClr val="bg1"/>
                </a:solidFill>
              </a:rPr>
              <a:t>at 1 loop order: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710049"/>
              </p:ext>
            </p:extLst>
          </p:nvPr>
        </p:nvGraphicFramePr>
        <p:xfrm>
          <a:off x="381000" y="5961570"/>
          <a:ext cx="2163674" cy="591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30" name="Equation" r:id="rId10" imgW="1625400" imgH="444240" progId="Equation.3">
                  <p:embed/>
                </p:oleObj>
              </mc:Choice>
              <mc:Fallback>
                <p:oleObj name="Equation" r:id="rId10" imgW="162540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81000" y="5961570"/>
                        <a:ext cx="2163674" cy="591630"/>
                      </a:xfrm>
                      <a:prstGeom prst="rect">
                        <a:avLst/>
                      </a:prstGeom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24400" y="725269"/>
            <a:ext cx="3197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Renormalized gluon propagator </a:t>
            </a:r>
          </a:p>
          <a:p>
            <a:r>
              <a:rPr lang="en-US" dirty="0">
                <a:solidFill>
                  <a:schemeClr val="bg1"/>
                </a:solidFill>
              </a:rPr>
              <a:t>at 1 loop order: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7675279"/>
              </p:ext>
            </p:extLst>
          </p:nvPr>
        </p:nvGraphicFramePr>
        <p:xfrm>
          <a:off x="4828362" y="1406866"/>
          <a:ext cx="2029638" cy="3358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31" name="Equation" r:id="rId12" imgW="1523880" imgH="253800" progId="Equation.3">
                  <p:embed/>
                </p:oleObj>
              </mc:Choice>
              <mc:Fallback>
                <p:oleObj name="Equation" r:id="rId12" imgW="152388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828362" y="1406866"/>
                        <a:ext cx="2029638" cy="335868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6785327"/>
              </p:ext>
            </p:extLst>
          </p:nvPr>
        </p:nvGraphicFramePr>
        <p:xfrm>
          <a:off x="4800600" y="1828800"/>
          <a:ext cx="3197225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32" name="Equation" r:id="rId14" imgW="2400120" imgH="736560" progId="Equation.3">
                  <p:embed/>
                </p:oleObj>
              </mc:Choice>
              <mc:Fallback>
                <p:oleObj name="Equation" r:id="rId14" imgW="2400120" imgH="7365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00600" y="1828800"/>
                        <a:ext cx="3197225" cy="976312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584432"/>
              </p:ext>
            </p:extLst>
          </p:nvPr>
        </p:nvGraphicFramePr>
        <p:xfrm>
          <a:off x="4778188" y="3613368"/>
          <a:ext cx="42100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33" name="Equation" r:id="rId16" imgW="3162240" imgH="469800" progId="Equation.3">
                  <p:embed/>
                </p:oleObj>
              </mc:Choice>
              <mc:Fallback>
                <p:oleObj name="Equation" r:id="rId16" imgW="3162240" imgH="469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778188" y="3613368"/>
                        <a:ext cx="4210050" cy="6191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59690"/>
              </p:ext>
            </p:extLst>
          </p:nvPr>
        </p:nvGraphicFramePr>
        <p:xfrm>
          <a:off x="4778188" y="2916531"/>
          <a:ext cx="35321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034" name="Equation" r:id="rId18" imgW="3035160" imgH="457200" progId="Equation.3">
                  <p:embed/>
                </p:oleObj>
              </mc:Choice>
              <mc:Fallback>
                <p:oleObj name="Equation" r:id="rId18" imgW="303516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4778188" y="2916531"/>
                        <a:ext cx="3532188" cy="5302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30754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81000"/>
            <a:ext cx="265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Scale dependence in QCD: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533400" y="990600"/>
                <a:ext cx="819294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Dimensional regularization necessitate the introduction of a scale parameter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990600"/>
                <a:ext cx="8192948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521" t="-1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922687"/>
              </p:ext>
            </p:extLst>
          </p:nvPr>
        </p:nvGraphicFramePr>
        <p:xfrm>
          <a:off x="914400" y="1371600"/>
          <a:ext cx="3268980" cy="340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60" name="Equation" r:id="rId4" imgW="2311200" imgH="241200" progId="Equation.3">
                  <p:embed/>
                </p:oleObj>
              </mc:Choice>
              <mc:Fallback>
                <p:oleObj name="Equation" r:id="rId4" imgW="231120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371600"/>
                        <a:ext cx="3268980" cy="340519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149816"/>
              </p:ext>
            </p:extLst>
          </p:nvPr>
        </p:nvGraphicFramePr>
        <p:xfrm>
          <a:off x="863600" y="3268663"/>
          <a:ext cx="3708400" cy="127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61" name="Equation" r:id="rId6" imgW="2882880" imgH="990360" progId="Equation.3">
                  <p:embed/>
                </p:oleObj>
              </mc:Choice>
              <mc:Fallback>
                <p:oleObj name="Equation" r:id="rId6" imgW="2882880" imgH="990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3268663"/>
                        <a:ext cx="3708400" cy="1271587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33400" y="1868269"/>
                <a:ext cx="792165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This dependence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can easily be removed by redefining the renormalization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      constants </a:t>
                </a:r>
                <a:r>
                  <a:rPr lang="en-US" i="1" dirty="0">
                    <a:solidFill>
                      <a:schemeClr val="bg1"/>
                    </a:solidFill>
                  </a:rPr>
                  <a:t>Z’</a:t>
                </a:r>
                <a:r>
                  <a:rPr lang="en-US" dirty="0">
                    <a:solidFill>
                      <a:schemeClr val="bg1"/>
                    </a:solidFill>
                  </a:rPr>
                  <a:t>s.</a:t>
                </a:r>
                <a:r>
                  <a:rPr lang="en-US" i="1" dirty="0">
                    <a:solidFill>
                      <a:schemeClr val="bg1"/>
                    </a:solidFill>
                  </a:rPr>
                  <a:t> </a:t>
                </a:r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1868269"/>
                <a:ext cx="7921656" cy="646331"/>
              </a:xfrm>
              <a:prstGeom prst="rect">
                <a:avLst/>
              </a:prstGeom>
              <a:blipFill rotWithShape="0">
                <a:blip r:embed="rId8"/>
                <a:stretch>
                  <a:fillRect l="-539" t="-4673" r="-616" b="-13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2891282"/>
              </p:ext>
            </p:extLst>
          </p:nvPr>
        </p:nvGraphicFramePr>
        <p:xfrm>
          <a:off x="914400" y="2586038"/>
          <a:ext cx="1490663" cy="53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62" name="Equation" r:id="rId9" imgW="1231560" imgH="444240" progId="Equation.3">
                  <p:embed/>
                </p:oleObj>
              </mc:Choice>
              <mc:Fallback>
                <p:oleObj name="Equation" r:id="rId9" imgW="123156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4400" y="2586038"/>
                        <a:ext cx="1490663" cy="53816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103849"/>
              </p:ext>
            </p:extLst>
          </p:nvPr>
        </p:nvGraphicFramePr>
        <p:xfrm>
          <a:off x="2618740" y="2565400"/>
          <a:ext cx="106172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63" name="Equation" r:id="rId11" imgW="965160" imgH="507960" progId="Equation.3">
                  <p:embed/>
                </p:oleObj>
              </mc:Choice>
              <mc:Fallback>
                <p:oleObj name="Equation" r:id="rId11" imgW="965160" imgH="5079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18740" y="2565400"/>
                        <a:ext cx="1061720" cy="5588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5829488"/>
              </p:ext>
            </p:extLst>
          </p:nvPr>
        </p:nvGraphicFramePr>
        <p:xfrm>
          <a:off x="4038600" y="2514600"/>
          <a:ext cx="25193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64" name="Equation" r:id="rId13" imgW="1892160" imgH="482400" progId="Equation.3">
                  <p:embed/>
                </p:oleObj>
              </mc:Choice>
              <mc:Fallback>
                <p:oleObj name="Equation" r:id="rId13" imgW="1892160" imgH="48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038600" y="2514600"/>
                        <a:ext cx="2519362" cy="64293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57200" y="4648200"/>
                <a:ext cx="7797584" cy="1628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Renormalized green functions are now function of arbitrary scale parameter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1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However, the physical observables must not depend upon the choice of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This is ensured by</a:t>
                </a:r>
              </a:p>
              <a:p>
                <a:r>
                  <a:rPr lang="en-US" sz="1400" dirty="0">
                    <a:solidFill>
                      <a:schemeClr val="bg1"/>
                    </a:solidFill>
                    <a:ea typeface="Cambria Math"/>
                  </a:rPr>
                  <a:t>      a correct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dependence of fundament constants (m’s and g’s) of the field theory.</a:t>
                </a:r>
              </a:p>
              <a:p>
                <a:endParaRPr lang="en-US" sz="1400" b="0" dirty="0">
                  <a:solidFill>
                    <a:schemeClr val="bg1"/>
                  </a:solidFill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1400" dirty="0">
                    <a:solidFill>
                      <a:schemeClr val="bg1"/>
                    </a:solidFill>
                    <a:ea typeface="Tahoma" panose="020B0604030504040204" pitchFamily="34" charset="0"/>
                    <a:cs typeface="Tahoma" panose="020B060403050404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𝐴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𝑜𝑏𝑠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𝐴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𝑚</m:t>
                        </m:r>
                        <m:d>
                          <m:dPr>
                            <m:ctrlPr>
                              <a:rPr lang="en-US" sz="1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1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ahoma" panose="020B0604030504040204" pitchFamily="34" charset="0"/>
                              </a:rPr>
                              <m:t>𝜈</m:t>
                            </m:r>
                          </m:e>
                        </m:d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</m:d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gre</m:t>
                        </m:r>
                        <m:r>
                          <a:rPr lang="en-US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.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fun</m:t>
                        </m:r>
                        <m:r>
                          <a:rPr lang="en-US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.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4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𝜈</m:t>
                            </m:r>
                          </m:e>
                        </m:d>
                      </m:e>
                    </m:d>
                  </m:oMath>
                </a14:m>
                <a:endParaRPr lang="en-SG" sz="1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648200"/>
                <a:ext cx="7797584" cy="1628138"/>
              </a:xfrm>
              <a:prstGeom prst="rect">
                <a:avLst/>
              </a:prstGeom>
              <a:blipFill rotWithShape="0">
                <a:blip r:embed="rId15"/>
                <a:stretch>
                  <a:fillRect l="-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798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316468"/>
            <a:ext cx="2949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running of QCD coupling: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1781348"/>
              </p:ext>
            </p:extLst>
          </p:nvPr>
        </p:nvGraphicFramePr>
        <p:xfrm>
          <a:off x="466725" y="914400"/>
          <a:ext cx="1554163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03" name="Equation" r:id="rId3" imgW="965160" imgH="241200" progId="Equation.3">
                  <p:embed/>
                </p:oleObj>
              </mc:Choice>
              <mc:Fallback>
                <p:oleObj name="Equation" r:id="rId3" imgW="96516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6725" y="914400"/>
                        <a:ext cx="1554163" cy="3889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81000" y="1371600"/>
                <a:ext cx="294760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Taking the derivative w.r.t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log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371600"/>
                <a:ext cx="2947602" cy="338554"/>
              </a:xfrm>
              <a:prstGeom prst="rect">
                <a:avLst/>
              </a:prstGeom>
              <a:blipFill rotWithShape="0">
                <a:blip r:embed="rId5"/>
                <a:stretch>
                  <a:fillRect l="-1242" t="-5357" r="-20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6299621"/>
              </p:ext>
            </p:extLst>
          </p:nvPr>
        </p:nvGraphicFramePr>
        <p:xfrm>
          <a:off x="457200" y="1794828"/>
          <a:ext cx="2089912" cy="53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04" name="Equation" r:id="rId6" imgW="1726920" imgH="444240" progId="Equation.3">
                  <p:embed/>
                </p:oleObj>
              </mc:Choice>
              <mc:Fallback>
                <p:oleObj name="Equation" r:id="rId6" imgW="172692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7200" y="1794828"/>
                        <a:ext cx="2089912" cy="53784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7818303"/>
              </p:ext>
            </p:extLst>
          </p:nvPr>
        </p:nvGraphicFramePr>
        <p:xfrm>
          <a:off x="2979738" y="1766888"/>
          <a:ext cx="1422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05" name="Equation" r:id="rId8" imgW="1066680" imgH="419040" progId="Equation.3">
                  <p:embed/>
                </p:oleObj>
              </mc:Choice>
              <mc:Fallback>
                <p:oleObj name="Equation" r:id="rId8" imgW="106668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79738" y="1766888"/>
                        <a:ext cx="1422400" cy="5588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6890771"/>
              </p:ext>
            </p:extLst>
          </p:nvPr>
        </p:nvGraphicFramePr>
        <p:xfrm>
          <a:off x="457200" y="2544763"/>
          <a:ext cx="165417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06" name="Equation" r:id="rId10" imgW="1244520" imgH="444240" progId="Equation.3">
                  <p:embed/>
                </p:oleObj>
              </mc:Choice>
              <mc:Fallback>
                <p:oleObj name="Equation" r:id="rId10" imgW="124452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7200" y="2544763"/>
                        <a:ext cx="1654175" cy="59213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4275327"/>
              </p:ext>
            </p:extLst>
          </p:nvPr>
        </p:nvGraphicFramePr>
        <p:xfrm>
          <a:off x="454025" y="3352800"/>
          <a:ext cx="3127375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07" name="Equation" r:id="rId12" imgW="2349360" imgH="444240" progId="Equation.3">
                  <p:embed/>
                </p:oleObj>
              </mc:Choice>
              <mc:Fallback>
                <p:oleObj name="Equation" r:id="rId12" imgW="234936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54025" y="3352800"/>
                        <a:ext cx="3127375" cy="5921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5261832"/>
              </p:ext>
            </p:extLst>
          </p:nvPr>
        </p:nvGraphicFramePr>
        <p:xfrm>
          <a:off x="3962400" y="3383192"/>
          <a:ext cx="2082117" cy="5313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08" name="Equation" r:id="rId14" imgW="1892160" imgH="482400" progId="Equation.3">
                  <p:embed/>
                </p:oleObj>
              </mc:Choice>
              <mc:Fallback>
                <p:oleObj name="Equation" r:id="rId14" imgW="1892160" imgH="48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62400" y="3383192"/>
                        <a:ext cx="2082117" cy="531353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4515022"/>
              </p:ext>
            </p:extLst>
          </p:nvPr>
        </p:nvGraphicFramePr>
        <p:xfrm>
          <a:off x="457200" y="4114800"/>
          <a:ext cx="2768601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09" name="Equation" r:id="rId16" imgW="2082600" imgH="444240" progId="Equation.3">
                  <p:embed/>
                </p:oleObj>
              </mc:Choice>
              <mc:Fallback>
                <p:oleObj name="Equation" r:id="rId16" imgW="208260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7200" y="4114800"/>
                        <a:ext cx="2768601" cy="5921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5753243"/>
              </p:ext>
            </p:extLst>
          </p:nvPr>
        </p:nvGraphicFramePr>
        <p:xfrm>
          <a:off x="3530600" y="4138613"/>
          <a:ext cx="17272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10" name="Equation" r:id="rId18" imgW="1295280" imgH="393480" progId="Equation.3">
                  <p:embed/>
                </p:oleObj>
              </mc:Choice>
              <mc:Fallback>
                <p:oleObj name="Equation" r:id="rId18" imgW="1295280" imgH="39348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3530600" y="4138613"/>
                        <a:ext cx="1727200" cy="523875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0764624"/>
              </p:ext>
            </p:extLst>
          </p:nvPr>
        </p:nvGraphicFramePr>
        <p:xfrm>
          <a:off x="457200" y="4929404"/>
          <a:ext cx="1811850" cy="591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11" name="Equation" r:id="rId20" imgW="1358640" imgH="444240" progId="Equation.3">
                  <p:embed/>
                </p:oleObj>
              </mc:Choice>
              <mc:Fallback>
                <p:oleObj name="Equation" r:id="rId20" imgW="135864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457200" y="4929404"/>
                        <a:ext cx="1811850" cy="59170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65090"/>
              </p:ext>
            </p:extLst>
          </p:nvPr>
        </p:nvGraphicFramePr>
        <p:xfrm>
          <a:off x="2667000" y="4932363"/>
          <a:ext cx="1287463" cy="557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12" name="Equation" r:id="rId22" imgW="965160" imgH="419040" progId="Equation.3">
                  <p:embed/>
                </p:oleObj>
              </mc:Choice>
              <mc:Fallback>
                <p:oleObj name="Equation" r:id="rId22" imgW="96516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667000" y="4932363"/>
                        <a:ext cx="1287463" cy="557212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1852077"/>
              </p:ext>
            </p:extLst>
          </p:nvPr>
        </p:nvGraphicFramePr>
        <p:xfrm>
          <a:off x="457200" y="5730875"/>
          <a:ext cx="14573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13" name="Equation" r:id="rId24" imgW="1091880" imgH="419040" progId="Equation.3">
                  <p:embed/>
                </p:oleObj>
              </mc:Choice>
              <mc:Fallback>
                <p:oleObj name="Equation" r:id="rId24" imgW="109188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57200" y="5730875"/>
                        <a:ext cx="1457325" cy="5588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ight Arrow 20"/>
          <p:cNvSpPr/>
          <p:nvPr/>
        </p:nvSpPr>
        <p:spPr>
          <a:xfrm>
            <a:off x="2209800" y="5867400"/>
            <a:ext cx="2590800" cy="2743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0537963"/>
              </p:ext>
            </p:extLst>
          </p:nvPr>
        </p:nvGraphicFramePr>
        <p:xfrm>
          <a:off x="5085778" y="5639334"/>
          <a:ext cx="3296222" cy="608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14" name="Equation" r:id="rId26" imgW="2476440" imgH="457200" progId="Equation.3">
                  <p:embed/>
                </p:oleObj>
              </mc:Choice>
              <mc:Fallback>
                <p:oleObj name="Equation" r:id="rId26" imgW="2476440" imgH="457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085778" y="5639334"/>
                        <a:ext cx="3296222" cy="608533"/>
                      </a:xfrm>
                      <a:prstGeom prst="rect">
                        <a:avLst/>
                      </a:prstGeom>
                      <a:solidFill>
                        <a:schemeClr val="bg2">
                          <a:lumMod val="5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12" descr="http://www.odec.ca/projects/2007/hart7j2/asymptotic_freedom_clip_image001.gif"/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3216238"/>
            <a:ext cx="2336541" cy="222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248400" y="2819400"/>
            <a:ext cx="2358531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QCD is asymptotically free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91219" y="501134"/>
            <a:ext cx="2450901" cy="20424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0" y="152400"/>
            <a:ext cx="22508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Running coupling of QED</a:t>
            </a:r>
          </a:p>
        </p:txBody>
      </p:sp>
    </p:spTree>
    <p:extLst>
      <p:ext uri="{BB962C8B-B14F-4D97-AF65-F5344CB8AC3E}">
        <p14:creationId xmlns:p14="http://schemas.microsoft.com/office/powerpoint/2010/main" val="306491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1" grpId="0" animBg="1"/>
      <p:bldP spid="3" grpId="0" animBg="1"/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05200" y="3048000"/>
            <a:ext cx="1759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END of Lecture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95600" y="3733800"/>
            <a:ext cx="3335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Lecture 2 (non-perturbative QCD)</a:t>
            </a:r>
          </a:p>
        </p:txBody>
      </p:sp>
    </p:spTree>
    <p:extLst>
      <p:ext uri="{BB962C8B-B14F-4D97-AF65-F5344CB8AC3E}">
        <p14:creationId xmlns:p14="http://schemas.microsoft.com/office/powerpoint/2010/main" val="24030195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36991" y="2266890"/>
            <a:ext cx="14998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000" dirty="0">
                <a:solidFill>
                  <a:schemeClr val="bg1"/>
                </a:solidFill>
              </a:rPr>
              <a:t>Faisal </a:t>
            </a:r>
            <a:r>
              <a:rPr lang="en-SG" sz="2000" dirty="0" err="1">
                <a:solidFill>
                  <a:schemeClr val="bg1"/>
                </a:solidFill>
              </a:rPr>
              <a:t>Akram</a:t>
            </a:r>
            <a:endParaRPr lang="en-SG" sz="20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2432" y="5157192"/>
            <a:ext cx="69090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000" dirty="0">
                <a:solidFill>
                  <a:schemeClr val="bg1"/>
                </a:solidFill>
              </a:rPr>
              <a:t>International Symposium on Physics Beyond the Standard Model</a:t>
            </a:r>
          </a:p>
          <a:p>
            <a:pPr algn="ctr"/>
            <a:r>
              <a:rPr lang="en-SG" sz="2000" dirty="0">
                <a:solidFill>
                  <a:schemeClr val="bg1"/>
                </a:solidFill>
              </a:rPr>
              <a:t>NCP Islamabad</a:t>
            </a:r>
          </a:p>
          <a:p>
            <a:pPr algn="ctr"/>
            <a:r>
              <a:rPr lang="en-SG" sz="2000" dirty="0">
                <a:solidFill>
                  <a:schemeClr val="bg1"/>
                </a:solidFill>
              </a:rPr>
              <a:t>2015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6725" y="609600"/>
            <a:ext cx="447577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Quantum Chromodynamics</a:t>
            </a:r>
          </a:p>
          <a:p>
            <a:pPr algn="ctr"/>
            <a:r>
              <a:rPr lang="en-SG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(Non-perturbative aspects)</a:t>
            </a:r>
          </a:p>
          <a:p>
            <a:pPr algn="ctr"/>
            <a:r>
              <a:rPr lang="en-SG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26617699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65453" y="430608"/>
            <a:ext cx="1472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Outlines</a:t>
            </a:r>
            <a:endParaRPr lang="en-SG" sz="28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99592" y="1295400"/>
            <a:ext cx="5845062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G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Characteristics of QCD</a:t>
            </a:r>
          </a:p>
          <a:p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Asymptotic freedom</a:t>
            </a:r>
          </a:p>
          <a:p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Confinement</a:t>
            </a:r>
          </a:p>
          <a:p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QCD phase transition</a:t>
            </a:r>
          </a:p>
          <a:p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Dynamical breaking of chiral symmetry</a:t>
            </a:r>
            <a:endParaRPr lang="en-SG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SG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Non-Perturbative truncation of Schwinger-Dyson equations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Models of quarks-gluon vertex and gluon propagator</a:t>
            </a:r>
            <a:endParaRPr lang="en-SG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SG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Numerical Solution of SDE of quarks propagator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Results and comparison with the experiments</a:t>
            </a:r>
            <a:endParaRPr lang="en-SG" sz="16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SG" sz="2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endParaRPr lang="en-SG" sz="24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1695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379" y="609600"/>
            <a:ext cx="4555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Asymptotic freedom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Quarks Confinement</a:t>
            </a:r>
            <a:endParaRPr lang="en-US" sz="1800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QCD phase transition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Dynamical Breaking of Chiral Symmetry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381000" y="457200"/>
            <a:ext cx="2525711" cy="673511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/>
          <p:cNvSpPr txBox="1"/>
          <p:nvPr/>
        </p:nvSpPr>
        <p:spPr>
          <a:xfrm>
            <a:off x="3307052" y="166047"/>
            <a:ext cx="27146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Characteristics of QCD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7" name="Picture 12" descr="http://www.odec.ca/projects/2007/hart7j2/asymptotic_freedom_clip_image001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059" y="4191000"/>
            <a:ext cx="2336541" cy="222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67554" y="6488328"/>
            <a:ext cx="45480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dirty="0">
                <a:solidFill>
                  <a:schemeClr val="bg1"/>
                </a:solidFill>
              </a:rPr>
              <a:t>* D. J Cross and F. </a:t>
            </a:r>
            <a:r>
              <a:rPr lang="en-SG" sz="1000" dirty="0" err="1">
                <a:solidFill>
                  <a:schemeClr val="bg1"/>
                </a:solidFill>
              </a:rPr>
              <a:t>Wilczek</a:t>
            </a:r>
            <a:r>
              <a:rPr lang="en-SG" sz="1000" dirty="0">
                <a:solidFill>
                  <a:schemeClr val="bg1"/>
                </a:solidFill>
              </a:rPr>
              <a:t>, PRL. 30, 1343 (1973); H. D. </a:t>
            </a:r>
            <a:r>
              <a:rPr lang="en-SG" sz="1000" dirty="0" err="1">
                <a:solidFill>
                  <a:schemeClr val="bg1"/>
                </a:solidFill>
              </a:rPr>
              <a:t>Politzer</a:t>
            </a:r>
            <a:r>
              <a:rPr lang="en-SG" sz="1000" dirty="0">
                <a:solidFill>
                  <a:schemeClr val="bg1"/>
                </a:solidFill>
              </a:rPr>
              <a:t>, PRL 30, 1346 (1973).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435691" y="3778493"/>
                <a:ext cx="3431709" cy="355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SG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SG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&lt;</m:t>
                    </m:r>
                    <m:r>
                      <a:rPr lang="en-US" b="0" i="0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16.5</m:t>
                    </m:r>
                  </m:oMath>
                </a14:m>
                <a:r>
                  <a:rPr lang="en-SG" i="1" dirty="0">
                    <a:solidFill>
                      <a:schemeClr val="bg1"/>
                    </a:solidFill>
                  </a:rPr>
                  <a:t>   (</a:t>
                </a:r>
                <a:r>
                  <a:rPr lang="en-SG" dirty="0">
                    <a:solidFill>
                      <a:schemeClr val="bg1"/>
                    </a:solidFill>
                  </a:rPr>
                  <a:t>Asymptotic freedom)</a:t>
                </a:r>
                <a:endParaRPr lang="en-SG" i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5691" y="3778493"/>
                <a:ext cx="3431709" cy="355984"/>
              </a:xfrm>
              <a:prstGeom prst="rect">
                <a:avLst/>
              </a:prstGeom>
              <a:blipFill rotWithShape="0">
                <a:blip r:embed="rId4"/>
                <a:stretch>
                  <a:fillRect t="-8621" r="-888" b="-327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1104093"/>
              </p:ext>
            </p:extLst>
          </p:nvPr>
        </p:nvGraphicFramePr>
        <p:xfrm>
          <a:off x="617410" y="3366159"/>
          <a:ext cx="1820990" cy="724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7" name="Equation" r:id="rId5" imgW="1625400" imgH="647640" progId="Equation.3">
                  <p:embed/>
                </p:oleObj>
              </mc:Choice>
              <mc:Fallback>
                <p:oleObj name="Equation" r:id="rId5" imgW="1625400" imgH="647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7410" y="3366159"/>
                        <a:ext cx="1820990" cy="724171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8523809"/>
              </p:ext>
            </p:extLst>
          </p:nvPr>
        </p:nvGraphicFramePr>
        <p:xfrm>
          <a:off x="609600" y="2717800"/>
          <a:ext cx="17113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848" name="Equation" r:id="rId7" imgW="1282680" imgH="419040" progId="Equation.3">
                  <p:embed/>
                </p:oleObj>
              </mc:Choice>
              <mc:Fallback>
                <p:oleObj name="Equation" r:id="rId7" imgW="128268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09600" y="2717800"/>
                        <a:ext cx="1711325" cy="55880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0136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07049" y="166047"/>
            <a:ext cx="27146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Characteristics of QCD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5379" y="609600"/>
            <a:ext cx="4555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Asymptotic freedom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Quarks confinement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QCD phase transition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Dynamical Breaking of Chiral Symmetry</a:t>
            </a:r>
            <a:endParaRPr lang="en-US" dirty="0"/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819400"/>
            <a:ext cx="2438400" cy="34485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381000" y="1002889"/>
            <a:ext cx="2525711" cy="673511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/>
          <p:cNvSpPr txBox="1"/>
          <p:nvPr/>
        </p:nvSpPr>
        <p:spPr>
          <a:xfrm>
            <a:off x="167554" y="6443990"/>
            <a:ext cx="43877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100" dirty="0">
                <a:solidFill>
                  <a:schemeClr val="bg1"/>
                </a:solidFill>
              </a:rPr>
              <a:t>* K.J. </a:t>
            </a:r>
            <a:r>
              <a:rPr lang="en-SG" sz="1100" dirty="0" err="1">
                <a:solidFill>
                  <a:schemeClr val="bg1"/>
                </a:solidFill>
              </a:rPr>
              <a:t>Juge</a:t>
            </a:r>
            <a:r>
              <a:rPr lang="en-SG" sz="1100" dirty="0">
                <a:solidFill>
                  <a:schemeClr val="bg1"/>
                </a:solidFill>
              </a:rPr>
              <a:t>, J. </a:t>
            </a:r>
            <a:r>
              <a:rPr lang="en-SG" sz="1100" dirty="0" err="1">
                <a:solidFill>
                  <a:schemeClr val="bg1"/>
                </a:solidFill>
              </a:rPr>
              <a:t>Kuti</a:t>
            </a:r>
            <a:r>
              <a:rPr lang="en-SG" sz="1100" dirty="0">
                <a:solidFill>
                  <a:schemeClr val="bg1"/>
                </a:solidFill>
              </a:rPr>
              <a:t>, and C. Morningstar, Phys. Rev. </a:t>
            </a:r>
            <a:r>
              <a:rPr lang="en-SG" sz="1100" dirty="0" err="1">
                <a:solidFill>
                  <a:schemeClr val="bg1"/>
                </a:solidFill>
              </a:rPr>
              <a:t>Lett</a:t>
            </a:r>
            <a:r>
              <a:rPr lang="en-SG" sz="1100" dirty="0">
                <a:solidFill>
                  <a:schemeClr val="bg1"/>
                </a:solidFill>
              </a:rPr>
              <a:t>. 90, 161601 (2003).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 rot="16200000">
                <a:off x="4995601" y="4605600"/>
                <a:ext cx="527375" cy="30777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𝑉</m:t>
                      </m:r>
                      <m:r>
                        <a:rPr lang="en-US" sz="1600" b="0" i="1" smtClean="0"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latin typeface="Cambria Math"/>
                        </a:rPr>
                        <m:t>𝑟</m:t>
                      </m:r>
                      <m:r>
                        <a:rPr lang="en-US" sz="16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95601" y="4605600"/>
                <a:ext cx="527375" cy="307776"/>
              </a:xfrm>
              <a:prstGeom prst="rect">
                <a:avLst/>
              </a:prstGeom>
              <a:blipFill rotWithShape="0">
                <a:blip r:embed="rId3"/>
                <a:stretch>
                  <a:fillRect t="-11628" r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67000" y="3581400"/>
                <a:ext cx="2133600" cy="14500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/>
                        </a:rPr>
                        <m:t>𝑉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</a:rPr>
                            <m:t>𝑟</m:t>
                          </m:r>
                        </m:e>
                      </m:d>
                      <m:r>
                        <a:rPr lang="en-US" i="1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  <m:r>
                        <a:rPr lang="en-US" b="0" i="1" smtClean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/>
                          <a:ea typeface="Cambria Math"/>
                        </a:rPr>
                        <m:t>𝑏𝑟</m:t>
                      </m:r>
                    </m:oMath>
                  </m:oMathPara>
                </a14:m>
                <a:endParaRPr lang="en-US" b="0" dirty="0">
                  <a:solidFill>
                    <a:schemeClr val="accent6">
                      <a:lumMod val="20000"/>
                      <a:lumOff val="80000"/>
                    </a:schemeClr>
                  </a:solidFill>
                  <a:ea typeface="Cambria Math"/>
                </a:endParaRPr>
              </a:p>
              <a:p>
                <a:endParaRPr lang="en-US" b="0" dirty="0">
                  <a:solidFill>
                    <a:schemeClr val="accent6">
                      <a:lumMod val="20000"/>
                      <a:lumOff val="80000"/>
                    </a:schemeClr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/>
                          <a:ea typeface="Cambria Math"/>
                        </a:rPr>
                        <m:t>𝐹</m:t>
                      </m:r>
                      <m:r>
                        <a:rPr lang="en-US" b="0" i="1" smtClean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/>
                          <a:ea typeface="Cambria Math"/>
                        </a:rPr>
                        <m:t>=−−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𝑉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accent6">
                                  <a:lumMod val="20000"/>
                                  <a:lumOff val="8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𝑟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/>
                          <a:ea typeface="Cambria Math"/>
                        </a:rPr>
                        <m:t>≈−</m:t>
                      </m:r>
                      <m:r>
                        <a:rPr lang="en-US" b="0" i="1" smtClean="0">
                          <a:solidFill>
                            <a:schemeClr val="accent6">
                              <a:lumMod val="20000"/>
                              <a:lumOff val="80000"/>
                            </a:schemeClr>
                          </a:solidFill>
                          <a:latin typeface="Cambria Math"/>
                          <a:ea typeface="Cambria Math"/>
                        </a:rPr>
                        <m:t>𝑏</m:t>
                      </m:r>
                    </m:oMath>
                  </m:oMathPara>
                </a14:m>
                <a:endParaRPr lang="en-US" b="0" dirty="0">
                  <a:solidFill>
                    <a:schemeClr val="accent6">
                      <a:lumMod val="20000"/>
                      <a:lumOff val="80000"/>
                    </a:schemeClr>
                  </a:solidFill>
                  <a:ea typeface="Cambria Math"/>
                </a:endParaRP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581400"/>
                <a:ext cx="2133600" cy="145001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3937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052862" y="109538"/>
            <a:ext cx="305256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2400" dirty="0">
                <a:solidFill>
                  <a:schemeClr val="bg1"/>
                </a:solidFill>
              </a:rPr>
              <a:t>QCD phase transition</a:t>
            </a:r>
          </a:p>
        </p:txBody>
      </p:sp>
      <p:pic>
        <p:nvPicPr>
          <p:cNvPr id="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762000"/>
            <a:ext cx="3200400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7"/>
          <p:cNvSpPr txBox="1">
            <a:spLocks noChangeArrowheads="1"/>
          </p:cNvSpPr>
          <p:nvPr/>
        </p:nvSpPr>
        <p:spPr bwMode="auto">
          <a:xfrm>
            <a:off x="685800" y="2819400"/>
            <a:ext cx="29321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</a:rPr>
              <a:t>Confined State of Matter</a:t>
            </a: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5257800" y="2819400"/>
            <a:ext cx="3330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dirty="0">
                <a:solidFill>
                  <a:schemeClr val="bg1"/>
                </a:solidFill>
              </a:rPr>
              <a:t>De-Confined State of Matter</a:t>
            </a:r>
          </a:p>
        </p:txBody>
      </p:sp>
      <p:pic>
        <p:nvPicPr>
          <p:cNvPr id="6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762000"/>
            <a:ext cx="3200400" cy="206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2"/>
          <p:cNvSpPr txBox="1">
            <a:spLocks noChangeArrowheads="1"/>
          </p:cNvSpPr>
          <p:nvPr/>
        </p:nvSpPr>
        <p:spPr bwMode="auto">
          <a:xfrm>
            <a:off x="685800" y="3276600"/>
            <a:ext cx="728000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chemeClr val="bg1"/>
                </a:solidFill>
              </a:rPr>
              <a:t>QGP is expected to produce at </a:t>
            </a:r>
            <a:r>
              <a:rPr lang="en-US" altLang="en-US" sz="1600" dirty="0" err="1">
                <a:solidFill>
                  <a:schemeClr val="bg1"/>
                </a:solidFill>
              </a:rPr>
              <a:t>T</a:t>
            </a:r>
            <a:r>
              <a:rPr lang="en-US" altLang="en-US" sz="1600" baseline="-25000" dirty="0" err="1">
                <a:solidFill>
                  <a:schemeClr val="bg1"/>
                </a:solidFill>
              </a:rPr>
              <a:t>c</a:t>
            </a:r>
            <a:r>
              <a:rPr lang="en-US" altLang="en-US" sz="1600" dirty="0">
                <a:solidFill>
                  <a:schemeClr val="bg1"/>
                </a:solidFill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latin typeface="Batang" pitchFamily="18" charset="-127"/>
                <a:ea typeface="Batang" pitchFamily="18" charset="-127"/>
                <a:cs typeface="Tahoma" pitchFamily="34" charset="0"/>
              </a:rPr>
              <a:t>≈ </a:t>
            </a:r>
            <a:r>
              <a:rPr lang="en-US" altLang="en-US" sz="1600" dirty="0">
                <a:solidFill>
                  <a:schemeClr val="bg1"/>
                </a:solidFill>
                <a:ea typeface="Batang" pitchFamily="18" charset="-127"/>
                <a:cs typeface="Tahoma" pitchFamily="34" charset="0"/>
              </a:rPr>
              <a:t>170 MeV </a:t>
            </a:r>
            <a:r>
              <a:rPr lang="en-US" altLang="en-US" sz="1600" dirty="0">
                <a:solidFill>
                  <a:schemeClr val="bg1"/>
                </a:solidFill>
                <a:latin typeface="+mn-lt"/>
                <a:ea typeface="Batang" pitchFamily="18" charset="-127"/>
                <a:cs typeface="Tahoma" pitchFamily="34" charset="0"/>
              </a:rPr>
              <a:t>≈ 2 x 10</a:t>
            </a:r>
            <a:r>
              <a:rPr lang="en-US" altLang="en-US" sz="1600" baseline="30000" dirty="0">
                <a:solidFill>
                  <a:schemeClr val="bg1"/>
                </a:solidFill>
                <a:latin typeface="+mn-lt"/>
                <a:ea typeface="Batang" pitchFamily="18" charset="-127"/>
                <a:cs typeface="Tahoma" pitchFamily="34" charset="0"/>
              </a:rPr>
              <a:t>12</a:t>
            </a:r>
            <a:r>
              <a:rPr lang="en-US" altLang="en-US" sz="1600" dirty="0">
                <a:solidFill>
                  <a:schemeClr val="bg1"/>
                </a:solidFill>
                <a:latin typeface="+mn-lt"/>
                <a:ea typeface="Batang" pitchFamily="18" charset="-127"/>
                <a:cs typeface="Tahoma" pitchFamily="34" charset="0"/>
              </a:rPr>
              <a:t> K ≈ 130,000 T</a:t>
            </a:r>
            <a:r>
              <a:rPr lang="en-US" altLang="en-US" sz="1600" baseline="-25000" dirty="0">
                <a:solidFill>
                  <a:schemeClr val="bg1"/>
                </a:solidFill>
                <a:latin typeface="+mn-lt"/>
                <a:ea typeface="Batang" pitchFamily="18" charset="-127"/>
                <a:cs typeface="Times New Roman"/>
              </a:rPr>
              <a:t>☼</a:t>
            </a:r>
            <a:r>
              <a:rPr lang="en-US" altLang="en-US" sz="1800" dirty="0">
                <a:solidFill>
                  <a:schemeClr val="bg1"/>
                </a:solidFill>
                <a:latin typeface="+mn-lt"/>
                <a:ea typeface="Batang" pitchFamily="18" charset="-127"/>
                <a:cs typeface="Tahoma" pitchFamily="34" charset="0"/>
              </a:rPr>
              <a:t> </a:t>
            </a:r>
            <a:r>
              <a:rPr lang="en-US" altLang="en-US" sz="1600" dirty="0">
                <a:solidFill>
                  <a:schemeClr val="bg1"/>
                </a:solidFill>
                <a:latin typeface="+mn-lt"/>
                <a:ea typeface="Batang" pitchFamily="18" charset="-127"/>
                <a:cs typeface="Tahoma" pitchFamily="34" charset="0"/>
              </a:rPr>
              <a:t>and </a:t>
            </a:r>
            <a:r>
              <a:rPr lang="en-US" altLang="en-US" sz="1600" dirty="0">
                <a:solidFill>
                  <a:schemeClr val="bg1"/>
                </a:solidFill>
                <a:latin typeface="+mn-lt"/>
                <a:ea typeface="Batang" pitchFamily="18" charset="-127"/>
                <a:cs typeface="Tahoma" pitchFamily="34" charset="0"/>
                <a:sym typeface="tci1" pitchFamily="2" charset="2"/>
              </a:rPr>
              <a:t> </a:t>
            </a:r>
            <a:r>
              <a:rPr lang="en-US" altLang="en-US" sz="1600" dirty="0">
                <a:solidFill>
                  <a:schemeClr val="bg1"/>
                </a:solidFill>
                <a:latin typeface="+mn-lt"/>
              </a:rPr>
              <a:t>≈ 0</a:t>
            </a:r>
            <a:r>
              <a:rPr lang="en-US" altLang="en-US" dirty="0">
                <a:solidFill>
                  <a:schemeClr val="bg1"/>
                </a:solidFill>
                <a:ea typeface="Batang" pitchFamily="18" charset="-127"/>
                <a:sym typeface="tci1" pitchFamily="2" charset="2"/>
              </a:rPr>
              <a:t> </a:t>
            </a:r>
          </a:p>
        </p:txBody>
      </p: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4038600" y="1676400"/>
            <a:ext cx="1066800" cy="381000"/>
          </a:xfrm>
          <a:prstGeom prst="rightArrow">
            <a:avLst>
              <a:gd name="adj1" fmla="val 50000"/>
              <a:gd name="adj2" fmla="val 7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endParaRPr lang="en-SG" altLang="en-US"/>
          </a:p>
        </p:txBody>
      </p:sp>
      <p:sp>
        <p:nvSpPr>
          <p:cNvPr id="9" name="TextBox 8"/>
          <p:cNvSpPr txBox="1"/>
          <p:nvPr/>
        </p:nvSpPr>
        <p:spPr>
          <a:xfrm>
            <a:off x="685800" y="3844413"/>
            <a:ext cx="1869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Evidence of QGP?</a:t>
            </a:r>
            <a:endParaRPr lang="en-SG" b="1" dirty="0">
              <a:solidFill>
                <a:schemeClr val="bg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279894" y="4012514"/>
            <a:ext cx="1825506" cy="31954"/>
          </a:xfrm>
          <a:prstGeom prst="straightConnector1">
            <a:avLst/>
          </a:prstGeom>
          <a:ln>
            <a:solidFill>
              <a:srgbClr val="FFFF00"/>
            </a:solidFill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196348" y="3760839"/>
            <a:ext cx="212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Theoretical Evidence</a:t>
            </a:r>
            <a:endParaRPr lang="en-SG" dirty="0">
              <a:solidFill>
                <a:schemeClr val="bg1"/>
              </a:solidFill>
            </a:endParaRPr>
          </a:p>
        </p:txBody>
      </p:sp>
      <p:pic>
        <p:nvPicPr>
          <p:cNvPr id="12" name="Picture 4" descr="energy_nf_comp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3462" y="4165865"/>
            <a:ext cx="3221476" cy="2254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5715000" y="5222055"/>
            <a:ext cx="27475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So far no conclusive </a:t>
            </a:r>
          </a:p>
          <a:p>
            <a:r>
              <a:rPr lang="en-US" b="1" dirty="0">
                <a:solidFill>
                  <a:srgbClr val="C00000"/>
                </a:solidFill>
              </a:rPr>
              <a:t>experimental proof. </a:t>
            </a:r>
          </a:p>
          <a:p>
            <a:endParaRPr lang="en-SG" dirty="0"/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1875752"/>
              </p:ext>
            </p:extLst>
          </p:nvPr>
        </p:nvGraphicFramePr>
        <p:xfrm>
          <a:off x="420687" y="4562475"/>
          <a:ext cx="148431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2" name="Equation" r:id="rId6" imgW="939600" imgH="419040" progId="Equation.3">
                  <p:embed/>
                </p:oleObj>
              </mc:Choice>
              <mc:Fallback>
                <p:oleObj name="Equation" r:id="rId6" imgW="939600" imgH="419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20687" y="4562475"/>
                        <a:ext cx="1484313" cy="6588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7008553"/>
              </p:ext>
            </p:extLst>
          </p:nvPr>
        </p:nvGraphicFramePr>
        <p:xfrm>
          <a:off x="396875" y="5381625"/>
          <a:ext cx="4487863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3" name="Equation" r:id="rId8" imgW="3085920" imgH="444240" progId="Equation.3">
                  <p:embed/>
                </p:oleObj>
              </mc:Choice>
              <mc:Fallback>
                <p:oleObj name="Equation" r:id="rId8" imgW="30859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" y="5381625"/>
                        <a:ext cx="4487863" cy="7143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1364191" y="1876455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1211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1" grpId="0"/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5379" y="609600"/>
            <a:ext cx="45552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Asymptotic Freedom</a:t>
            </a:r>
          </a:p>
          <a:p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Quarks confinement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QCD phase transition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Dynamical Breaking of Chiral Symmetry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>
          <a:xfrm>
            <a:off x="173750" y="2069689"/>
            <a:ext cx="4474450" cy="673511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TextBox 3"/>
          <p:cNvSpPr txBox="1"/>
          <p:nvPr/>
        </p:nvSpPr>
        <p:spPr>
          <a:xfrm>
            <a:off x="2995330" y="166047"/>
            <a:ext cx="33380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Quantum Chromo-dynamics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84945" y="2740223"/>
            <a:ext cx="18870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FFF00"/>
                </a:solidFill>
              </a:rPr>
              <a:t>(2008 Nobel Prize)</a:t>
            </a:r>
            <a:endParaRPr lang="en-SG" sz="1400" b="1" dirty="0">
              <a:solidFill>
                <a:srgbClr val="FFFF0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059" y="4015905"/>
            <a:ext cx="1435245" cy="479895"/>
          </a:xfrm>
          <a:prstGeom prst="rect">
            <a:avLst/>
          </a:prstGeom>
        </p:spPr>
      </p:pic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20181"/>
              </p:ext>
            </p:extLst>
          </p:nvPr>
        </p:nvGraphicFramePr>
        <p:xfrm>
          <a:off x="4800600" y="5212080"/>
          <a:ext cx="35052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5007">
                <a:tc>
                  <a:txBody>
                    <a:bodyPr/>
                    <a:lstStyle/>
                    <a:p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u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5007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Current mass (MeV)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100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1100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4200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678">
                <a:tc>
                  <a:txBody>
                    <a:bodyPr/>
                    <a:lstStyle/>
                    <a:p>
                      <a:r>
                        <a:rPr lang="en-US" sz="1200" baseline="0" dirty="0"/>
                        <a:t>Constituent mass (MeV)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350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350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530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1500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4600</a:t>
                      </a:r>
                      <a:endParaRPr lang="en-SG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486400" y="3254323"/>
                <a:ext cx="2711191" cy="327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1400" dirty="0">
                    <a:solidFill>
                      <a:schemeClr val="bg1"/>
                    </a:solidFill>
                  </a:rPr>
                  <a:t>Current mass: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𝑢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=3−6 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</a:rPr>
                  <a:t>MeV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3254323"/>
                <a:ext cx="2711191" cy="327077"/>
              </a:xfrm>
              <a:prstGeom prst="rect">
                <a:avLst/>
              </a:prstGeom>
              <a:blipFill rotWithShape="0">
                <a:blip r:embed="rId3"/>
                <a:stretch>
                  <a:fillRect l="-674" t="-1852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366392" y="4508968"/>
                <a:ext cx="2979112" cy="3270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SG" sz="1400" dirty="0">
                    <a:solidFill>
                      <a:schemeClr val="bg1"/>
                    </a:solidFill>
                  </a:rPr>
                  <a:t>Constituent mass: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𝑢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US" sz="1400" i="1">
                        <a:solidFill>
                          <a:schemeClr val="bg1"/>
                        </a:solidFill>
                        <a:latin typeface="Cambria Math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350 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</a:rPr>
                  <a:t>MeV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6392" y="4508968"/>
                <a:ext cx="2979112" cy="327077"/>
              </a:xfrm>
              <a:prstGeom prst="rect">
                <a:avLst/>
              </a:prstGeom>
              <a:blipFill rotWithShape="0">
                <a:blip r:embed="rId4"/>
                <a:stretch>
                  <a:fillRect l="-613" t="-188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Curved Left Arrow 24"/>
          <p:cNvSpPr/>
          <p:nvPr/>
        </p:nvSpPr>
        <p:spPr>
          <a:xfrm>
            <a:off x="8188670" y="3378275"/>
            <a:ext cx="471666" cy="1410226"/>
          </a:xfrm>
          <a:prstGeom prst="curvedLef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4633302" y="2992343"/>
            <a:ext cx="844890" cy="82641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7" name="Oval 26"/>
          <p:cNvSpPr/>
          <p:nvPr/>
        </p:nvSpPr>
        <p:spPr>
          <a:xfrm>
            <a:off x="4769466" y="3405548"/>
            <a:ext cx="160233" cy="1553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Oval 27"/>
          <p:cNvSpPr/>
          <p:nvPr/>
        </p:nvSpPr>
        <p:spPr>
          <a:xfrm>
            <a:off x="4979944" y="3099888"/>
            <a:ext cx="160233" cy="1412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9" name="Oval 28"/>
          <p:cNvSpPr/>
          <p:nvPr/>
        </p:nvSpPr>
        <p:spPr>
          <a:xfrm>
            <a:off x="5158299" y="3418175"/>
            <a:ext cx="160233" cy="15533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4495800" y="3810000"/>
                <a:ext cx="1336135" cy="3243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𝑀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𝑝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=939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</a:rPr>
                  <a:t> MeV</a:t>
                </a: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810000"/>
                <a:ext cx="1336135" cy="324384"/>
              </a:xfrm>
              <a:prstGeom prst="rect">
                <a:avLst/>
              </a:prstGeom>
              <a:blipFill rotWithShape="0">
                <a:blip r:embed="rId5"/>
                <a:stretch>
                  <a:fillRect t="-188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994617" y="3733800"/>
            <a:ext cx="1743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Self interaction of quarks</a:t>
            </a:r>
          </a:p>
        </p:txBody>
      </p:sp>
    </p:spTree>
    <p:extLst>
      <p:ext uri="{BB962C8B-B14F-4D97-AF65-F5344CB8AC3E}">
        <p14:creationId xmlns:p14="http://schemas.microsoft.com/office/powerpoint/2010/main" val="225474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3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4"/>
          <p:cNvSpPr txBox="1">
            <a:spLocks noChangeArrowheads="1"/>
          </p:cNvSpPr>
          <p:nvPr/>
        </p:nvSpPr>
        <p:spPr bwMode="auto">
          <a:xfrm>
            <a:off x="2073992" y="76200"/>
            <a:ext cx="499284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800" dirty="0">
                <a:solidFill>
                  <a:srgbClr val="FFC000"/>
                </a:solidFill>
              </a:rPr>
              <a:t>Dynamical Breaking of Chiral Symmetry in QCD</a:t>
            </a:r>
          </a:p>
        </p:txBody>
      </p:sp>
      <p:sp>
        <p:nvSpPr>
          <p:cNvPr id="7171" name="Text Box 5"/>
          <p:cNvSpPr txBox="1">
            <a:spLocks noChangeArrowheads="1"/>
          </p:cNvSpPr>
          <p:nvPr/>
        </p:nvSpPr>
        <p:spPr bwMode="auto">
          <a:xfrm>
            <a:off x="434549" y="609600"/>
            <a:ext cx="4476162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500" dirty="0" err="1">
                <a:solidFill>
                  <a:schemeClr val="bg1"/>
                </a:solidFill>
              </a:rPr>
              <a:t>Fermionic</a:t>
            </a:r>
            <a:r>
              <a:rPr lang="en-US" altLang="en-US" sz="1500" dirty="0">
                <a:solidFill>
                  <a:schemeClr val="bg1"/>
                </a:solidFill>
              </a:rPr>
              <a:t> part of QCD </a:t>
            </a:r>
            <a:r>
              <a:rPr lang="en-US" altLang="en-US" sz="1500" dirty="0" err="1">
                <a:solidFill>
                  <a:schemeClr val="bg1"/>
                </a:solidFill>
              </a:rPr>
              <a:t>Lagrangian</a:t>
            </a:r>
            <a:r>
              <a:rPr lang="en-US" altLang="en-US" sz="1500" dirty="0">
                <a:solidFill>
                  <a:schemeClr val="bg1"/>
                </a:solidFill>
              </a:rPr>
              <a:t> for light quarks:</a:t>
            </a:r>
          </a:p>
        </p:txBody>
      </p:sp>
      <p:graphicFrame>
        <p:nvGraphicFramePr>
          <p:cNvPr id="7172" name="Object 6"/>
          <p:cNvGraphicFramePr>
            <a:graphicFrameLocks noChangeAspect="1"/>
          </p:cNvGraphicFramePr>
          <p:nvPr>
            <p:extLst/>
          </p:nvPr>
        </p:nvGraphicFramePr>
        <p:xfrm>
          <a:off x="539474" y="950970"/>
          <a:ext cx="3710518" cy="383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4" name="Equation" r:id="rId3" imgW="2209800" imgH="228600" progId="Equation.3">
                  <p:embed/>
                </p:oleObj>
              </mc:Choice>
              <mc:Fallback>
                <p:oleObj name="Equation" r:id="rId3" imgW="22098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74" y="950970"/>
                        <a:ext cx="3710518" cy="383351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19" name="Line 7"/>
          <p:cNvSpPr>
            <a:spLocks noChangeShapeType="1"/>
          </p:cNvSpPr>
          <p:nvPr/>
        </p:nvSpPr>
        <p:spPr bwMode="auto">
          <a:xfrm>
            <a:off x="2056267" y="945714"/>
            <a:ext cx="443585" cy="457841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21" name="Line 9"/>
          <p:cNvSpPr>
            <a:spLocks noChangeShapeType="1"/>
          </p:cNvSpPr>
          <p:nvPr/>
        </p:nvSpPr>
        <p:spPr bwMode="auto">
          <a:xfrm flipH="1">
            <a:off x="2056267" y="933825"/>
            <a:ext cx="458332" cy="452295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22" name="Text Box 10"/>
              <p:cNvSpPr txBox="1">
                <a:spLocks noChangeArrowheads="1"/>
              </p:cNvSpPr>
              <p:nvPr/>
            </p:nvSpPr>
            <p:spPr bwMode="auto">
              <a:xfrm>
                <a:off x="4343400" y="929148"/>
                <a:ext cx="4193712" cy="738664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  <a:effectLst/>
              <a:extLst/>
            </p:spPr>
            <p:txBody>
              <a:bodyPr wrap="none">
                <a:spAutoFit/>
              </a:bodyPr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400" dirty="0">
                    <a:solidFill>
                      <a:schemeClr val="tx1"/>
                    </a:solidFill>
                  </a:rPr>
                  <a:t>This </a:t>
                </a:r>
                <a:r>
                  <a:rPr lang="en-US" altLang="en-US" sz="1400" dirty="0" err="1">
                    <a:solidFill>
                      <a:schemeClr val="tx1"/>
                    </a:solidFill>
                  </a:rPr>
                  <a:t>Lagrangian</a:t>
                </a:r>
                <a:r>
                  <a:rPr lang="en-US" altLang="en-US" sz="1400" dirty="0">
                    <a:solidFill>
                      <a:schemeClr val="tx1"/>
                    </a:solidFill>
                  </a:rPr>
                  <a:t> is invariant under SU(3)</a:t>
                </a:r>
                <a:r>
                  <a:rPr lang="en-US" altLang="en-US" sz="1400" baseline="-25000" dirty="0">
                    <a:solidFill>
                      <a:schemeClr val="tx1"/>
                    </a:solidFill>
                  </a:rPr>
                  <a:t>L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⊗</m:t>
                    </m:r>
                  </m:oMath>
                </a14:m>
                <a:r>
                  <a:rPr lang="en-US" altLang="en-US" sz="1400" dirty="0">
                    <a:solidFill>
                      <a:schemeClr val="tx1"/>
                    </a:solidFill>
                  </a:rPr>
                  <a:t>SU(3)</a:t>
                </a:r>
                <a:r>
                  <a:rPr lang="en-US" altLang="en-US" sz="1400" baseline="-25000" dirty="0">
                    <a:solidFill>
                      <a:schemeClr val="tx1"/>
                    </a:solidFill>
                  </a:rPr>
                  <a:t>R</a:t>
                </a:r>
                <a:r>
                  <a:rPr lang="en-US" altLang="en-US" sz="1400" dirty="0">
                    <a:solidFill>
                      <a:schemeClr val="tx1"/>
                    </a:solidFill>
                  </a:rPr>
                  <a:t> </a:t>
                </a:r>
              </a:p>
              <a:p>
                <a:pPr eaLnBrk="1" hangingPunct="1"/>
                <a:r>
                  <a:rPr lang="en-US" altLang="en-US" sz="1400" dirty="0">
                    <a:solidFill>
                      <a:schemeClr val="tx1"/>
                    </a:solidFill>
                  </a:rPr>
                  <a:t>symmetry if the current masses of light quarks</a:t>
                </a:r>
              </a:p>
              <a:p>
                <a:pPr eaLnBrk="1" hangingPunct="1"/>
                <a:r>
                  <a:rPr lang="en-US" altLang="en-US" sz="1400" dirty="0">
                    <a:solidFill>
                      <a:schemeClr val="tx1"/>
                    </a:solidFill>
                  </a:rPr>
                  <a:t>are zero.</a:t>
                </a:r>
              </a:p>
            </p:txBody>
          </p:sp>
        </mc:Choice>
        <mc:Fallback xmlns="">
          <p:sp>
            <p:nvSpPr>
              <p:cNvPr id="3892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43400" y="929148"/>
                <a:ext cx="4193712" cy="738664"/>
              </a:xfrm>
              <a:prstGeom prst="rect">
                <a:avLst/>
              </a:prstGeom>
              <a:blipFill rotWithShape="0">
                <a:blip r:embed="rId5"/>
                <a:stretch>
                  <a:fillRect l="-437" t="-820" b="-7377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8924" name="Picture 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9805" y="3525982"/>
            <a:ext cx="4805795" cy="5888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28" name="Picture 1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07265"/>
            <a:ext cx="1601932" cy="614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29" name="Text Box 17"/>
          <p:cNvSpPr txBox="1">
            <a:spLocks noChangeArrowheads="1"/>
          </p:cNvSpPr>
          <p:nvPr/>
        </p:nvSpPr>
        <p:spPr bwMode="auto">
          <a:xfrm>
            <a:off x="497806" y="2362200"/>
            <a:ext cx="145065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400" dirty="0">
                <a:solidFill>
                  <a:schemeClr val="bg1"/>
                </a:solidFill>
              </a:rPr>
              <a:t>Full propagator:</a:t>
            </a:r>
          </a:p>
        </p:txBody>
      </p:sp>
      <p:graphicFrame>
        <p:nvGraphicFramePr>
          <p:cNvPr id="3893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6859438"/>
              </p:ext>
            </p:extLst>
          </p:nvPr>
        </p:nvGraphicFramePr>
        <p:xfrm>
          <a:off x="2398713" y="2706688"/>
          <a:ext cx="1038225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5" name="Equation" r:id="rId8" imgW="761760" imgH="444240" progId="Equation.3">
                  <p:embed/>
                </p:oleObj>
              </mc:Choice>
              <mc:Fallback>
                <p:oleObj name="Equation" r:id="rId8" imgW="7617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8713" y="2706688"/>
                        <a:ext cx="1038225" cy="604837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2" name="Line 20"/>
          <p:cNvSpPr>
            <a:spLocks noChangeShapeType="1"/>
          </p:cNvSpPr>
          <p:nvPr/>
        </p:nvSpPr>
        <p:spPr bwMode="auto">
          <a:xfrm flipV="1">
            <a:off x="3357282" y="2681520"/>
            <a:ext cx="502227" cy="36648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33" name="Text Box 21"/>
          <p:cNvSpPr txBox="1">
            <a:spLocks noChangeArrowheads="1"/>
          </p:cNvSpPr>
          <p:nvPr/>
        </p:nvSpPr>
        <p:spPr bwMode="auto">
          <a:xfrm>
            <a:off x="3800475" y="2281535"/>
            <a:ext cx="19907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200" dirty="0">
                <a:solidFill>
                  <a:schemeClr val="bg1"/>
                </a:solidFill>
              </a:rPr>
              <a:t>Mass function</a:t>
            </a:r>
          </a:p>
          <a:p>
            <a:pPr eaLnBrk="1" hangingPunct="1"/>
            <a:r>
              <a:rPr lang="en-US" altLang="en-US" sz="1200" dirty="0">
                <a:solidFill>
                  <a:schemeClr val="bg1"/>
                </a:solidFill>
              </a:rPr>
              <a:t>(dynamical mass)</a:t>
            </a:r>
          </a:p>
        </p:txBody>
      </p:sp>
      <p:sp>
        <p:nvSpPr>
          <p:cNvPr id="38934" name="Text Box 22"/>
          <p:cNvSpPr txBox="1">
            <a:spLocks noChangeArrowheads="1"/>
          </p:cNvSpPr>
          <p:nvPr/>
        </p:nvSpPr>
        <p:spPr bwMode="auto">
          <a:xfrm>
            <a:off x="533400" y="3453825"/>
            <a:ext cx="127644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600" dirty="0" err="1">
                <a:solidFill>
                  <a:schemeClr val="bg1"/>
                </a:solidFill>
              </a:rPr>
              <a:t>Perturbative</a:t>
            </a:r>
            <a:endParaRPr lang="en-US" altLang="en-US" sz="1600" dirty="0">
              <a:solidFill>
                <a:schemeClr val="bg1"/>
              </a:solidFill>
            </a:endParaRPr>
          </a:p>
          <a:p>
            <a:pPr eaLnBrk="1" hangingPunct="1"/>
            <a:r>
              <a:rPr lang="en-US" altLang="en-US" sz="1600" dirty="0">
                <a:solidFill>
                  <a:schemeClr val="bg1"/>
                </a:solidFill>
              </a:rPr>
              <a:t>expansion </a:t>
            </a:r>
          </a:p>
        </p:txBody>
      </p:sp>
      <p:sp>
        <p:nvSpPr>
          <p:cNvPr id="38935" name="AutoShape 23"/>
          <p:cNvSpPr>
            <a:spLocks noChangeArrowheads="1"/>
          </p:cNvSpPr>
          <p:nvPr/>
        </p:nvSpPr>
        <p:spPr bwMode="auto">
          <a:xfrm>
            <a:off x="775435" y="4070064"/>
            <a:ext cx="457200" cy="335280"/>
          </a:xfrm>
          <a:prstGeom prst="downArrow">
            <a:avLst>
              <a:gd name="adj1" fmla="val 50000"/>
              <a:gd name="adj2" fmla="val 33333"/>
            </a:avLst>
          </a:prstGeom>
          <a:solidFill>
            <a:srgbClr val="99FF33"/>
          </a:solidFill>
          <a:ln w="9525">
            <a:solidFill>
              <a:srgbClr val="99FF33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endParaRPr lang="en-US" altLang="en-US">
              <a:solidFill>
                <a:srgbClr val="FFFF99"/>
              </a:solidFill>
            </a:endParaRPr>
          </a:p>
        </p:txBody>
      </p:sp>
      <p:graphicFrame>
        <p:nvGraphicFramePr>
          <p:cNvPr id="38936" name="Object 24"/>
          <p:cNvGraphicFramePr>
            <a:graphicFrameLocks noChangeAspect="1"/>
          </p:cNvGraphicFramePr>
          <p:nvPr>
            <p:extLst/>
          </p:nvPr>
        </p:nvGraphicFramePr>
        <p:xfrm>
          <a:off x="228600" y="4481280"/>
          <a:ext cx="1964467" cy="700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6" name="Equation" r:id="rId10" imgW="1854200" imgH="660400" progId="Equation.3">
                  <p:embed/>
                </p:oleObj>
              </mc:Choice>
              <mc:Fallback>
                <p:oleObj name="Equation" r:id="rId10" imgW="1854200" imgH="660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481280"/>
                        <a:ext cx="1964467" cy="700320"/>
                      </a:xfrm>
                      <a:prstGeom prst="rect">
                        <a:avLst/>
                      </a:prstGeom>
                      <a:solidFill>
                        <a:srgbClr val="FFFF99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7" name="Text Box 25"/>
          <p:cNvSpPr txBox="1">
            <a:spLocks noChangeArrowheads="1"/>
          </p:cNvSpPr>
          <p:nvPr/>
        </p:nvSpPr>
        <p:spPr bwMode="auto">
          <a:xfrm>
            <a:off x="86985" y="5181600"/>
            <a:ext cx="273241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chemeClr val="bg1"/>
                </a:solidFill>
              </a:rPr>
              <a:t>Where, p</a:t>
            </a:r>
            <a:r>
              <a:rPr lang="en-US" altLang="en-US" sz="1600" baseline="30000" dirty="0">
                <a:solidFill>
                  <a:schemeClr val="bg1"/>
                </a:solidFill>
              </a:rPr>
              <a:t>2</a:t>
            </a:r>
            <a:r>
              <a:rPr lang="en-US" altLang="en-US" sz="1600" dirty="0">
                <a:solidFill>
                  <a:schemeClr val="bg1"/>
                </a:solidFill>
              </a:rPr>
              <a:t> &gt; </a:t>
            </a:r>
            <a:r>
              <a:rPr lang="el-GR" alt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sz="1600" baseline="30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1600" baseline="-250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QCD</a:t>
            </a:r>
            <a:r>
              <a:rPr lang="en-US" alt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=0.2 GeV</a:t>
            </a:r>
            <a:endParaRPr lang="el-GR" alt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940" name="Text Box 28"/>
          <p:cNvSpPr txBox="1">
            <a:spLocks noChangeArrowheads="1"/>
          </p:cNvSpPr>
          <p:nvPr/>
        </p:nvSpPr>
        <p:spPr bwMode="auto">
          <a:xfrm>
            <a:off x="2133600" y="4419600"/>
            <a:ext cx="442753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chemeClr val="bg1"/>
                </a:solidFill>
              </a:rPr>
              <a:t>If the current mass m = 0 then M(p</a:t>
            </a:r>
            <a:r>
              <a:rPr lang="en-US" altLang="en-US" sz="1600" baseline="30000" dirty="0">
                <a:solidFill>
                  <a:schemeClr val="bg1"/>
                </a:solidFill>
              </a:rPr>
              <a:t>2</a:t>
            </a:r>
            <a:r>
              <a:rPr lang="en-US" altLang="en-US" sz="1600" dirty="0">
                <a:solidFill>
                  <a:schemeClr val="bg1"/>
                </a:solidFill>
              </a:rPr>
              <a:t>) = 0</a:t>
            </a:r>
          </a:p>
        </p:txBody>
      </p:sp>
      <p:sp>
        <p:nvSpPr>
          <p:cNvPr id="38942" name="Text Box 30"/>
          <p:cNvSpPr txBox="1">
            <a:spLocks noChangeArrowheads="1"/>
          </p:cNvSpPr>
          <p:nvPr/>
        </p:nvSpPr>
        <p:spPr bwMode="auto">
          <a:xfrm>
            <a:off x="76200" y="5452646"/>
            <a:ext cx="207762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3300"/>
                </a:solidFill>
              </a:rPr>
              <a:t>What if, p</a:t>
            </a:r>
            <a:r>
              <a:rPr lang="en-US" altLang="en-US" sz="1600" baseline="30000" dirty="0">
                <a:solidFill>
                  <a:srgbClr val="FF3300"/>
                </a:solidFill>
              </a:rPr>
              <a:t>2</a:t>
            </a:r>
            <a:r>
              <a:rPr lang="en-US" altLang="en-US" sz="1600" dirty="0">
                <a:solidFill>
                  <a:srgbClr val="FF3300"/>
                </a:solidFill>
              </a:rPr>
              <a:t> &lt; </a:t>
            </a:r>
            <a:r>
              <a:rPr lang="el-GR" altLang="en-US" sz="1600" dirty="0">
                <a:solidFill>
                  <a:srgbClr val="FF3300"/>
                </a:solidFill>
              </a:rPr>
              <a:t>Λ</a:t>
            </a:r>
            <a:r>
              <a:rPr lang="en-US" altLang="en-US" sz="1600" baseline="30000" dirty="0">
                <a:solidFill>
                  <a:srgbClr val="FF3300"/>
                </a:solidFill>
              </a:rPr>
              <a:t>2</a:t>
            </a:r>
            <a:r>
              <a:rPr lang="en-US" altLang="en-US" sz="1600" baseline="-25000" dirty="0">
                <a:solidFill>
                  <a:srgbClr val="FF3300"/>
                </a:solidFill>
              </a:rPr>
              <a:t>QCD</a:t>
            </a:r>
            <a:r>
              <a:rPr lang="en-US" altLang="en-US" sz="1600" dirty="0">
                <a:solidFill>
                  <a:srgbClr val="FF3300"/>
                </a:solidFill>
              </a:rPr>
              <a:t>??</a:t>
            </a:r>
            <a:endParaRPr lang="en-US" altLang="en-US" sz="1600" baseline="-25000" dirty="0">
              <a:solidFill>
                <a:srgbClr val="FF33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621504" y="4716527"/>
            <a:ext cx="531437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1600" u="sng" dirty="0">
                <a:solidFill>
                  <a:srgbClr val="FFFF00"/>
                </a:solidFill>
              </a:rPr>
              <a:t>Schwinger-Dyson equations (A non-</a:t>
            </a:r>
            <a:r>
              <a:rPr lang="en-US" altLang="en-US" sz="1600" u="sng" dirty="0" err="1">
                <a:solidFill>
                  <a:srgbClr val="FFFF00"/>
                </a:solidFill>
              </a:rPr>
              <a:t>perturbative</a:t>
            </a:r>
            <a:r>
              <a:rPr lang="en-US" altLang="en-US" sz="1600" u="sng" dirty="0">
                <a:solidFill>
                  <a:srgbClr val="FFFF00"/>
                </a:solidFill>
              </a:rPr>
              <a:t> technique)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/>
          </p:nvPr>
        </p:nvGraphicFramePr>
        <p:xfrm>
          <a:off x="2735399" y="5061952"/>
          <a:ext cx="3093496" cy="823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7" name="Equation" r:id="rId12" imgW="2578100" imgH="685800" progId="Equation.3">
                  <p:embed/>
                </p:oleObj>
              </mc:Choice>
              <mc:Fallback>
                <p:oleObj name="Equation" r:id="rId12" imgW="2578100" imgH="685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399" y="5061952"/>
                        <a:ext cx="3093496" cy="823029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6234011" y="5129621"/>
            <a:ext cx="255608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</a:rPr>
              <a:t>Renormalization point independent</a:t>
            </a:r>
          </a:p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</a:rPr>
              <a:t> Quark condensate</a:t>
            </a:r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>
            <a:off x="5353050" y="5234072"/>
            <a:ext cx="952500" cy="381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6364288" y="5673725"/>
          <a:ext cx="1911350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8" name="Equation" r:id="rId14" imgW="1587240" imgH="228600" progId="Equation.3">
                  <p:embed/>
                </p:oleObj>
              </mc:Choice>
              <mc:Fallback>
                <p:oleObj name="Equation" r:id="rId14" imgW="15872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4288" y="5673725"/>
                        <a:ext cx="1911350" cy="2746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9"/>
          <p:cNvSpPr txBox="1">
            <a:spLocks noChangeArrowheads="1"/>
          </p:cNvSpPr>
          <p:nvPr/>
        </p:nvSpPr>
        <p:spPr bwMode="auto">
          <a:xfrm>
            <a:off x="2301697" y="5979994"/>
            <a:ext cx="61793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chemeClr val="bg1"/>
                </a:solidFill>
              </a:rPr>
              <a:t>Non-zero value of M(p</a:t>
            </a:r>
            <a:r>
              <a:rPr lang="en-US" altLang="en-US" sz="1600" baseline="30000" dirty="0">
                <a:solidFill>
                  <a:schemeClr val="bg1"/>
                </a:solidFill>
              </a:rPr>
              <a:t>2</a:t>
            </a:r>
            <a:r>
              <a:rPr lang="en-US" altLang="en-US" sz="1600" dirty="0">
                <a:solidFill>
                  <a:schemeClr val="bg1"/>
                </a:solidFill>
              </a:rPr>
              <a:t>) even when m = 0 means chiral symmetry</a:t>
            </a:r>
          </a:p>
          <a:p>
            <a:pPr eaLnBrk="1" hangingPunct="1"/>
            <a:r>
              <a:rPr lang="en-US" altLang="en-US" sz="1600" dirty="0">
                <a:solidFill>
                  <a:schemeClr val="bg1"/>
                </a:solidFill>
              </a:rPr>
              <a:t>is dynamically broken.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3634743"/>
              </p:ext>
            </p:extLst>
          </p:nvPr>
        </p:nvGraphicFramePr>
        <p:xfrm>
          <a:off x="190500" y="5886450"/>
          <a:ext cx="1104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39" name="Equation" r:id="rId16" imgW="1104840" imgH="647640" progId="Equation.3">
                  <p:embed/>
                </p:oleObj>
              </mc:Choice>
              <mc:Fallback>
                <p:oleObj name="Equation" r:id="rId16" imgW="1104840" imgH="647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0500" y="5886450"/>
                        <a:ext cx="1104900" cy="647700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7"/>
          <p:cNvSpPr txBox="1">
            <a:spLocks noChangeArrowheads="1"/>
          </p:cNvSpPr>
          <p:nvPr/>
        </p:nvSpPr>
        <p:spPr bwMode="auto">
          <a:xfrm>
            <a:off x="455843" y="1401096"/>
            <a:ext cx="202311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400" dirty="0">
                <a:solidFill>
                  <a:schemeClr val="bg1"/>
                </a:solidFill>
              </a:rPr>
              <a:t>Free quark propagator:</a:t>
            </a:r>
          </a:p>
        </p:txBody>
      </p:sp>
      <p:pic>
        <p:nvPicPr>
          <p:cNvPr id="28" name="Picture 12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60" t="11004" r="43494"/>
          <a:stretch/>
        </p:blipFill>
        <p:spPr bwMode="auto">
          <a:xfrm>
            <a:off x="580104" y="1752600"/>
            <a:ext cx="1246909" cy="5240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086371"/>
              </p:ext>
            </p:extLst>
          </p:nvPr>
        </p:nvGraphicFramePr>
        <p:xfrm>
          <a:off x="2024063" y="1752600"/>
          <a:ext cx="708025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740" name="Equation" r:id="rId18" imgW="571320" imgH="419040" progId="Equation.3">
                  <p:embed/>
                </p:oleObj>
              </mc:Choice>
              <mc:Fallback>
                <p:oleObj name="Equation" r:id="rId18" imgW="5713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4063" y="1752600"/>
                        <a:ext cx="708025" cy="519113"/>
                      </a:xfrm>
                      <a:prstGeom prst="rect">
                        <a:avLst/>
                      </a:prstGeom>
                      <a:solidFill>
                        <a:srgbClr val="FFCC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2057400"/>
            <a:ext cx="3429000" cy="2286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722433" y="2362200"/>
                <a:ext cx="964367" cy="27866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sz="1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sz="1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1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433" y="2362200"/>
                <a:ext cx="964367" cy="278666"/>
              </a:xfrm>
              <a:prstGeom prst="rect">
                <a:avLst/>
              </a:prstGeom>
              <a:blipFill rotWithShape="0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727792" y="3314492"/>
                <a:ext cx="1048107" cy="26007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=3.7</m:t>
                    </m:r>
                  </m:oMath>
                </a14:m>
                <a:r>
                  <a:rPr lang="en-US" sz="1000" dirty="0"/>
                  <a:t>MeV</a:t>
                </a: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792" y="3314492"/>
                <a:ext cx="1048107" cy="260071"/>
              </a:xfrm>
              <a:prstGeom prst="rect">
                <a:avLst/>
              </a:prstGeom>
              <a:blipFill rotWithShape="0">
                <a:blip r:embed="rId22"/>
                <a:stretch>
                  <a:fillRect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869253" y="1752600"/>
                <a:ext cx="1397947" cy="5425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Pole mass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=3.7</m:t>
                    </m:r>
                  </m:oMath>
                </a14:m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MeV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253" y="1752600"/>
                <a:ext cx="1397947" cy="542521"/>
              </a:xfrm>
              <a:prstGeom prst="rect">
                <a:avLst/>
              </a:prstGeom>
              <a:blipFill rotWithShape="0">
                <a:blip r:embed="rId23"/>
                <a:stretch>
                  <a:fillRect l="-1310" t="-227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3581400" y="2819400"/>
                <a:ext cx="1491627" cy="5425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Pole mass,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400" b="0" i="1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=390</m:t>
                    </m:r>
                  </m:oMath>
                </a14:m>
                <a:r>
                  <a:rPr lang="en-US" sz="1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MeV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819400"/>
                <a:ext cx="1491627" cy="542521"/>
              </a:xfrm>
              <a:prstGeom prst="rect">
                <a:avLst/>
              </a:prstGeom>
              <a:blipFill rotWithShape="0">
                <a:blip r:embed="rId24"/>
                <a:stretch>
                  <a:fillRect l="-1230" t="-227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074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8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8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8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8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8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38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38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8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5" dur="2000" fill="hold"/>
                                        <p:tgtEl>
                                          <p:spTgt spid="3894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9" grpId="0" animBg="1"/>
      <p:bldP spid="38921" grpId="0" animBg="1"/>
      <p:bldP spid="38922" grpId="0" animBg="1"/>
      <p:bldP spid="38929" grpId="0"/>
      <p:bldP spid="38932" grpId="0" animBg="1"/>
      <p:bldP spid="38933" grpId="0"/>
      <p:bldP spid="38934" grpId="0"/>
      <p:bldP spid="38935" grpId="0" animBg="1"/>
      <p:bldP spid="38937" grpId="0"/>
      <p:bldP spid="38940" grpId="0"/>
      <p:bldP spid="38942" grpId="0"/>
      <p:bldP spid="38942" grpId="1"/>
      <p:bldP spid="2" grpId="0"/>
      <p:bldP spid="22" grpId="0"/>
      <p:bldP spid="23" grpId="0" animBg="1"/>
      <p:bldP spid="25" grpId="0"/>
      <p:bldP spid="27" grpId="0"/>
      <p:bldP spid="12" grpId="0"/>
      <p:bldP spid="38" grpId="0"/>
      <p:bldP spid="14" grpId="0"/>
      <p:bldP spid="4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4200" y="152400"/>
            <a:ext cx="29100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Green Functions of QCD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685800"/>
            <a:ext cx="265951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SG" dirty="0">
                <a:latin typeface="Tahoma" pitchFamily="34" charset="0"/>
                <a:ea typeface="Tahoma" pitchFamily="34" charset="0"/>
                <a:cs typeface="Tahoma" pitchFamily="34" charset="0"/>
              </a:rPr>
              <a:t>2-point Green functions: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000" y="1143000"/>
                <a:ext cx="2393283" cy="37029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𝑇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𝜓</m:t>
                              </m:r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),</m:t>
                              </m:r>
                              <m:acc>
                                <m:accPr>
                                  <m:chr m:val="̅"/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acc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𝜓</m:t>
                                  </m:r>
                                </m:e>
                              </m:acc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</m:d>
                        </m:e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  <m:r>
                        <a:rPr lang="en-SG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143000"/>
                <a:ext cx="2393283" cy="370294"/>
              </a:xfrm>
              <a:prstGeom prst="rect">
                <a:avLst/>
              </a:prstGeom>
              <a:blipFill rotWithShape="1">
                <a:blip r:embed="rId2"/>
                <a:stretch>
                  <a:fillRect b="-4839"/>
                </a:stretch>
              </a:blip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C:\Users\Faisal Akram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496" y="1232682"/>
            <a:ext cx="1249095" cy="26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8296" y="1600200"/>
                <a:ext cx="2691763" cy="37600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𝑇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𝜇</m:t>
                                  </m:r>
                                </m:sub>
                                <m:sup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SG" sz="16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  <m:t>),</m:t>
                              </m:r>
                              <m:sSubSup>
                                <m:sSubSup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𝜐</m:t>
                                  </m:r>
                                </m:sub>
                                <m:sup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SG" sz="16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</m:d>
                        </m:e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  <m:r>
                        <a:rPr lang="en-SG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96" y="1600200"/>
                <a:ext cx="2691763" cy="376000"/>
              </a:xfrm>
              <a:prstGeom prst="rect">
                <a:avLst/>
              </a:prstGeom>
              <a:blipFill rotWithShape="1">
                <a:blip r:embed="rId4"/>
                <a:stretch>
                  <a:fillRect b="-3175"/>
                </a:stretch>
              </a:blip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 descr="C:\Users\Faisal Akram\Desktop\Untitled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638" y="1590538"/>
            <a:ext cx="1232526" cy="2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1944" y="2043752"/>
                <a:ext cx="2645340" cy="370294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𝑇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𝑐</m:t>
                                  </m:r>
                                </m:e>
                                <m:sub/>
                                <m:sup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SG" sz="16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),</m:t>
                              </m:r>
                              <m:sSubSup>
                                <m:sSubSupPr>
                                  <m:ctrlP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Sup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𝑐</m:t>
                                  </m:r>
                                </m:e>
                                <m:sub/>
                                <m:sup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𝑏</m:t>
                                  </m:r>
                                </m:sup>
                              </m:sSubSup>
                              <m:r>
                                <a:rPr lang="en-SG" sz="1600" b="1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SG" sz="16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SG" sz="1600" b="0" i="1" smtClean="0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)</m:t>
                              </m:r>
                            </m:e>
                          </m:d>
                        </m:e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Ω</m:t>
                          </m:r>
                        </m:e>
                      </m:d>
                      <m:r>
                        <a:rPr lang="en-SG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≡</m:t>
                      </m:r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44" y="2043752"/>
                <a:ext cx="2645340" cy="370294"/>
              </a:xfrm>
              <a:prstGeom prst="rect">
                <a:avLst/>
              </a:prstGeom>
              <a:blipFill rotWithShape="1">
                <a:blip r:embed="rId6"/>
                <a:stretch>
                  <a:fillRect b="-4762"/>
                </a:stretch>
              </a:blip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3" name="Picture 9" descr="C:\Users\Faisal Akram\Desktop\Untitled1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325" y="2100247"/>
            <a:ext cx="1176247" cy="257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60968" y="2667000"/>
            <a:ext cx="247683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SG" dirty="0"/>
              <a:t>3-Point Green functions:</a:t>
            </a:r>
          </a:p>
        </p:txBody>
      </p:sp>
      <p:pic>
        <p:nvPicPr>
          <p:cNvPr id="1034" name="Picture 10" descr="C:\Users\Faisal Akram\Desktop\Untitled1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968" y="3178822"/>
            <a:ext cx="1127615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C:\Users\Faisal Akram\Desktop\Untitled1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833" y="3047314"/>
            <a:ext cx="1230869" cy="109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:\Users\Faisal Akram\Desktop\Untitled1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794" y="4272946"/>
            <a:ext cx="1245913" cy="112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572000" y="2590800"/>
            <a:ext cx="2652586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SG" dirty="0">
                <a:latin typeface="Tahoma" pitchFamily="34" charset="0"/>
                <a:ea typeface="Tahoma" pitchFamily="34" charset="0"/>
                <a:cs typeface="Tahoma" pitchFamily="34" charset="0"/>
              </a:rPr>
              <a:t>4-Point Green functions:</a:t>
            </a:r>
          </a:p>
        </p:txBody>
      </p:sp>
      <p:pic>
        <p:nvPicPr>
          <p:cNvPr id="1037" name="Picture 13" descr="C:\Users\Faisal Akram\Desktop\Untitled1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338" y="3048000"/>
            <a:ext cx="881062" cy="881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:\Users\Faisal Akram\Desktop\Untitled1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328" y="3016709"/>
            <a:ext cx="904747" cy="904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C:\Users\Faisal Akram\Desktop\Untitled1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6724" y="3048000"/>
            <a:ext cx="895351" cy="89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1" name="Picture 17" descr="C:\Users\Faisal Akram\Desktop\Untitled1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3047" y="4038600"/>
            <a:ext cx="1016485" cy="100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36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1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12" grpId="0" animBg="1"/>
      <p:bldP spid="14" grpId="0" animBg="1"/>
      <p:bldP spid="6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457200"/>
            <a:ext cx="2544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 Propagator</a:t>
            </a:r>
            <a:r>
              <a:rPr lang="en-SG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p:pic>
        <p:nvPicPr>
          <p:cNvPr id="2051" name="Picture 3" descr="C:\Users\Faisal Akram\Desktop\Untitled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53" y="735486"/>
            <a:ext cx="4371825" cy="7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05232" y="1649682"/>
            <a:ext cx="2514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Gluon Propagator:</a:t>
            </a:r>
          </a:p>
        </p:txBody>
      </p:sp>
      <p:pic>
        <p:nvPicPr>
          <p:cNvPr id="2055" name="Picture 7" descr="C:\Users\Faisal Akram\Desktop\Untitled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32" y="2005845"/>
            <a:ext cx="4292355" cy="992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9034" y="2978062"/>
            <a:ext cx="2642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quark-gluon vertex</a:t>
            </a:r>
            <a:r>
              <a:rPr lang="en-SG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p:pic>
        <p:nvPicPr>
          <p:cNvPr id="2057" name="Picture 9" descr="C:\Users\Faisal Akram\Desktop\Untitled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03" y="3416990"/>
            <a:ext cx="4292355" cy="911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953000" y="2345776"/>
            <a:ext cx="870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</a:rPr>
              <a:t>+ 5 terms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70930" y="3688171"/>
            <a:ext cx="8704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</a:rPr>
              <a:t>+ </a:t>
            </a:r>
            <a:r>
              <a:rPr lang="en-SG" sz="1400">
                <a:solidFill>
                  <a:schemeClr val="bg1"/>
                </a:solidFill>
              </a:rPr>
              <a:t>7 terms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5232" y="4479495"/>
            <a:ext cx="2216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FF00"/>
                </a:solidFill>
              </a:rPr>
              <a:t>Perturbative</a:t>
            </a:r>
            <a:r>
              <a:rPr lang="en-US" sz="1600" dirty="0">
                <a:solidFill>
                  <a:srgbClr val="FFFF00"/>
                </a:solidFill>
              </a:rPr>
              <a:t> Truncation</a:t>
            </a:r>
            <a:r>
              <a:rPr lang="en-US" dirty="0">
                <a:solidFill>
                  <a:schemeClr val="bg1"/>
                </a:solidFill>
              </a:rPr>
              <a:t>:</a:t>
            </a:r>
            <a:endParaRPr lang="en-SG" dirty="0">
              <a:solidFill>
                <a:schemeClr val="bg1"/>
              </a:solidFill>
            </a:endParaRPr>
          </a:p>
        </p:txBody>
      </p:sp>
      <p:pic>
        <p:nvPicPr>
          <p:cNvPr id="20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03" y="4916984"/>
            <a:ext cx="4081774" cy="5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 descr="C:\Users\Faisal Akram\Desktop\Untitled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03" y="5638800"/>
            <a:ext cx="4081774" cy="493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139746" y="4553797"/>
            <a:ext cx="377122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Non </a:t>
            </a:r>
            <a:r>
              <a:rPr lang="en-US" dirty="0" err="1">
                <a:solidFill>
                  <a:srgbClr val="FFFF00"/>
                </a:solidFill>
              </a:rPr>
              <a:t>Perturbative</a:t>
            </a:r>
            <a:r>
              <a:rPr lang="en-US" dirty="0">
                <a:solidFill>
                  <a:srgbClr val="FFFF00"/>
                </a:solidFill>
              </a:rPr>
              <a:t> Truncation:</a:t>
            </a:r>
          </a:p>
          <a:p>
            <a:r>
              <a:rPr lang="en-US" dirty="0">
                <a:solidFill>
                  <a:schemeClr val="bg1"/>
                </a:solidFill>
              </a:rPr>
              <a:t>One or more green functions are</a:t>
            </a:r>
          </a:p>
          <a:p>
            <a:r>
              <a:rPr lang="en-US" dirty="0">
                <a:solidFill>
                  <a:schemeClr val="bg1"/>
                </a:solidFill>
              </a:rPr>
              <a:t>modeled subjecting to some </a:t>
            </a:r>
          </a:p>
          <a:p>
            <a:r>
              <a:rPr lang="en-US" dirty="0">
                <a:solidFill>
                  <a:schemeClr val="bg1"/>
                </a:solidFill>
              </a:rPr>
              <a:t>general field theoretical constraints.</a:t>
            </a:r>
          </a:p>
          <a:p>
            <a:r>
              <a:rPr lang="en-US" dirty="0">
                <a:solidFill>
                  <a:schemeClr val="bg1"/>
                </a:solidFill>
              </a:rPr>
              <a:t>Or </a:t>
            </a:r>
          </a:p>
          <a:p>
            <a:r>
              <a:rPr lang="en-US" dirty="0">
                <a:solidFill>
                  <a:schemeClr val="bg1"/>
                </a:solidFill>
              </a:rPr>
              <a:t>Using the results obtained from </a:t>
            </a:r>
            <a:r>
              <a:rPr lang="en-US" dirty="0" err="1">
                <a:solidFill>
                  <a:schemeClr val="bg1"/>
                </a:solidFill>
              </a:rPr>
              <a:t>lQCD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SG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25606" y="2329470"/>
                <a:ext cx="386837" cy="2918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606" y="2329470"/>
                <a:ext cx="386837" cy="291811"/>
              </a:xfrm>
              <a:prstGeom prst="rect">
                <a:avLst/>
              </a:prstGeom>
              <a:blipFill rotWithShape="1">
                <a:blip r:embed="rId11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590800" y="5741724"/>
                <a:ext cx="386837" cy="2918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SG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5741724"/>
                <a:ext cx="386837" cy="291811"/>
              </a:xfrm>
              <a:prstGeom prst="rect">
                <a:avLst/>
              </a:prstGeom>
              <a:blipFill rotWithShape="1">
                <a:blip r:embed="rId12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 Box 4"/>
          <p:cNvSpPr txBox="1">
            <a:spLocks noChangeArrowheads="1"/>
          </p:cNvSpPr>
          <p:nvPr/>
        </p:nvSpPr>
        <p:spPr bwMode="auto">
          <a:xfrm>
            <a:off x="2666049" y="76200"/>
            <a:ext cx="38087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800" dirty="0">
                <a:solidFill>
                  <a:srgbClr val="FFC000"/>
                </a:solidFill>
              </a:rPr>
              <a:t>Schwinger-Dyson Equations of QCD</a:t>
            </a:r>
          </a:p>
        </p:txBody>
      </p:sp>
    </p:spTree>
    <p:extLst>
      <p:ext uri="{BB962C8B-B14F-4D97-AF65-F5344CB8AC3E}">
        <p14:creationId xmlns:p14="http://schemas.microsoft.com/office/powerpoint/2010/main" val="303789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8" grpId="0"/>
      <p:bldP spid="11" grpId="0"/>
      <p:bldP spid="6" grpId="0"/>
      <p:bldP spid="7" grpId="0"/>
      <p:bldP spid="1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83043" y="76200"/>
            <a:ext cx="3878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Green Functions of QCD (continued)</a:t>
            </a:r>
          </a:p>
        </p:txBody>
      </p:sp>
      <p:pic>
        <p:nvPicPr>
          <p:cNvPr id="1030" name="Picture 6" descr="C:\Users\Faisal Akram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619" y="685800"/>
            <a:ext cx="1249095" cy="269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Faisal Akram\Desktop\Untitled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874" y="2071468"/>
            <a:ext cx="1232526" cy="2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Faisal Akram\Desktop\Untitled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1885" y="3970850"/>
            <a:ext cx="1127615" cy="864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627339" y="4572000"/>
          <a:ext cx="1125261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8" name="Equation" r:id="rId6" imgW="939600" imgH="419040" progId="Equation.3">
                  <p:embed/>
                </p:oleObj>
              </mc:Choice>
              <mc:Fallback>
                <p:oleObj name="Equation" r:id="rId6" imgW="9396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39" y="4572000"/>
                        <a:ext cx="1125261" cy="501650"/>
                      </a:xfrm>
                      <a:prstGeom prst="rect">
                        <a:avLst/>
                      </a:prstGeom>
                      <a:solidFill>
                        <a:srgbClr val="B9CDE5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644782" y="4621758"/>
                <a:ext cx="3093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4782" y="4621758"/>
                <a:ext cx="309379" cy="2769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681690" y="3880950"/>
                <a:ext cx="30835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𝑝</m:t>
                      </m:r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1690" y="3880950"/>
                <a:ext cx="308353" cy="276999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2819473" y="431816"/>
                <a:ext cx="3293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SG" sz="14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73" y="431816"/>
                <a:ext cx="329385" cy="30777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2799472" y="1749623"/>
                <a:ext cx="3263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𝑞</m:t>
                      </m:r>
                    </m:oMath>
                  </m:oMathPara>
                </a14:m>
                <a:endParaRPr lang="en-SG" sz="1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9472" y="1749623"/>
                <a:ext cx="326371" cy="307777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77220" y="609600"/>
            <a:ext cx="17189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Quark Propagator:</a:t>
            </a:r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/>
          </p:nvPr>
        </p:nvGraphicFramePr>
        <p:xfrm>
          <a:off x="587375" y="1066800"/>
          <a:ext cx="29257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39" name="Equation" r:id="rId12" imgW="2311200" imgH="444240" progId="Equation.3">
                  <p:embed/>
                </p:oleObj>
              </mc:Choice>
              <mc:Fallback>
                <p:oleObj name="Equation" r:id="rId12" imgW="231120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87375" y="1066800"/>
                        <a:ext cx="2925763" cy="56356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266177" y="609600"/>
            <a:ext cx="21346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Free Quark Propagator: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6553200" y="776689"/>
            <a:ext cx="658468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7167291" y="784737"/>
            <a:ext cx="56522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Object 28"/>
          <p:cNvGraphicFramePr>
            <a:graphicFrameLocks noChangeAspect="1"/>
          </p:cNvGraphicFramePr>
          <p:nvPr>
            <p:extLst/>
          </p:nvPr>
        </p:nvGraphicFramePr>
        <p:xfrm>
          <a:off x="4405313" y="1066800"/>
          <a:ext cx="1385887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0" name="Equation" r:id="rId14" imgW="939600" imgH="393480" progId="Equation.3">
                  <p:embed/>
                </p:oleObj>
              </mc:Choice>
              <mc:Fallback>
                <p:oleObj name="Equation" r:id="rId14" imgW="9396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5313" y="1066800"/>
                        <a:ext cx="1385887" cy="581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010400" y="457200"/>
                <a:ext cx="32938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𝑘</m:t>
                      </m:r>
                    </m:oMath>
                  </m:oMathPara>
                </a14:m>
                <a:endParaRPr lang="en-SG" sz="1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0" y="457200"/>
                <a:ext cx="329385" cy="307777"/>
              </a:xfrm>
              <a:prstGeom prst="rect">
                <a:avLst/>
              </a:prstGeom>
              <a:blipFill rotWithShape="0"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/>
          <p:cNvSpPr txBox="1"/>
          <p:nvPr/>
        </p:nvSpPr>
        <p:spPr>
          <a:xfrm>
            <a:off x="520963" y="2023646"/>
            <a:ext cx="1710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Gluon Propagator: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616842" y="3352800"/>
                <a:ext cx="37581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WGTI of gluon propagator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𝐿</m:t>
                        </m:r>
                      </m:sup>
                    </m:sSup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p>
                            <m:r>
                              <a:rPr lang="en-US" sz="14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SG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6842" y="3352800"/>
                <a:ext cx="3758145" cy="307777"/>
              </a:xfrm>
              <a:prstGeom prst="rect">
                <a:avLst/>
              </a:prstGeom>
              <a:blipFill rotWithShape="0">
                <a:blip r:embed="rId17"/>
                <a:stretch>
                  <a:fillRect l="-486" t="-2000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" name="Object 34"/>
          <p:cNvGraphicFramePr>
            <a:graphicFrameLocks noChangeAspect="1"/>
          </p:cNvGraphicFramePr>
          <p:nvPr>
            <p:extLst/>
          </p:nvPr>
        </p:nvGraphicFramePr>
        <p:xfrm>
          <a:off x="622300" y="2439987"/>
          <a:ext cx="29972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1" name="Equation" r:id="rId18" imgW="2717640" imgH="482400" progId="Equation.3">
                  <p:embed/>
                </p:oleObj>
              </mc:Choice>
              <mc:Fallback>
                <p:oleObj name="Equation" r:id="rId18" imgW="271764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2439987"/>
                        <a:ext cx="2997200" cy="531813"/>
                      </a:xfrm>
                      <a:prstGeom prst="rect">
                        <a:avLst/>
                      </a:prstGeom>
                      <a:solidFill>
                        <a:srgbClr val="B2D729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Object 35"/>
          <p:cNvGraphicFramePr>
            <a:graphicFrameLocks noChangeAspect="1"/>
          </p:cNvGraphicFramePr>
          <p:nvPr>
            <p:extLst/>
          </p:nvPr>
        </p:nvGraphicFramePr>
        <p:xfrm>
          <a:off x="623917" y="3145213"/>
          <a:ext cx="1024773" cy="51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2" name="Equation" r:id="rId20" imgW="914400" imgH="457200" progId="Equation.3">
                  <p:embed/>
                </p:oleObj>
              </mc:Choice>
              <mc:Fallback>
                <p:oleObj name="Equation" r:id="rId20" imgW="9144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917" y="3145213"/>
                        <a:ext cx="1024773" cy="51238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Object 37"/>
          <p:cNvGraphicFramePr>
            <a:graphicFrameLocks noChangeAspect="1"/>
          </p:cNvGraphicFramePr>
          <p:nvPr>
            <p:extLst/>
          </p:nvPr>
        </p:nvGraphicFramePr>
        <p:xfrm>
          <a:off x="611188" y="2471738"/>
          <a:ext cx="3384550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3" name="Equation" r:id="rId22" imgW="3263760" imgH="482400" progId="Equation.3">
                  <p:embed/>
                </p:oleObj>
              </mc:Choice>
              <mc:Fallback>
                <p:oleObj name="Equation" r:id="rId22" imgW="3263760" imgH="48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611188" y="2471738"/>
                        <a:ext cx="3384550" cy="500062"/>
                      </a:xfrm>
                      <a:prstGeom prst="rect">
                        <a:avLst/>
                      </a:prstGeom>
                      <a:solidFill>
                        <a:srgbClr val="B2D729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4343400" y="2015196"/>
            <a:ext cx="21266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Free Gluon Propagator:</a:t>
            </a:r>
            <a:endParaRPr lang="en-SG" sz="1600" dirty="0">
              <a:solidFill>
                <a:schemeClr val="bg1"/>
              </a:solidFill>
            </a:endParaRPr>
          </a:p>
        </p:txBody>
      </p:sp>
      <p:graphicFrame>
        <p:nvGraphicFramePr>
          <p:cNvPr id="41" name="Object 40"/>
          <p:cNvGraphicFramePr>
            <a:graphicFrameLocks noChangeAspect="1"/>
          </p:cNvGraphicFramePr>
          <p:nvPr>
            <p:extLst/>
          </p:nvPr>
        </p:nvGraphicFramePr>
        <p:xfrm>
          <a:off x="4446588" y="2425919"/>
          <a:ext cx="2563812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4" name="Equation" r:id="rId24" imgW="2323800" imgH="482400" progId="Equation.3">
                  <p:embed/>
                </p:oleObj>
              </mc:Choice>
              <mc:Fallback>
                <p:oleObj name="Equation" r:id="rId24" imgW="23238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2425919"/>
                        <a:ext cx="2563812" cy="5318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521421" y="4157246"/>
            <a:ext cx="18924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Quark-Gluon Vertex: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609600" y="5867400"/>
                <a:ext cx="2514342" cy="385105"/>
              </a:xfrm>
              <a:prstGeom prst="rect">
                <a:avLst/>
              </a:prstGeom>
              <a:solidFill>
                <a:srgbClr val="FCD5B5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𝑖𝑞</m:t>
                          </m:r>
                        </m:e>
                        <m:sub>
                          <m:r>
                            <a:rPr lang="en-SG" sz="16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SG" sz="16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Γ</m:t>
                          </m:r>
                        </m:e>
                        <m:sub>
                          <m:r>
                            <a:rPr lang="en-SG" sz="160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  <m:sup/>
                      </m:sSubSup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867400"/>
                <a:ext cx="2514342" cy="385105"/>
              </a:xfrm>
              <a:prstGeom prst="rect">
                <a:avLst/>
              </a:prstGeom>
              <a:blipFill rotWithShape="0">
                <a:blip r:embed="rId26"/>
                <a:stretch>
                  <a:fillRect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8" name="Object 57"/>
          <p:cNvGraphicFramePr>
            <a:graphicFrameLocks noChangeAspect="1"/>
          </p:cNvGraphicFramePr>
          <p:nvPr>
            <p:extLst/>
          </p:nvPr>
        </p:nvGraphicFramePr>
        <p:xfrm>
          <a:off x="623668" y="5178425"/>
          <a:ext cx="2894013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5" name="Equation" r:id="rId27" imgW="2323800" imgH="431640" progId="Equation.3">
                  <p:embed/>
                </p:oleObj>
              </mc:Choice>
              <mc:Fallback>
                <p:oleObj name="Equation" r:id="rId27" imgW="232380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668" y="5178425"/>
                        <a:ext cx="2894013" cy="536575"/>
                      </a:xfrm>
                      <a:prstGeom prst="rect">
                        <a:avLst/>
                      </a:prstGeom>
                      <a:solidFill>
                        <a:srgbClr val="B9CDE5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Box 58"/>
          <p:cNvSpPr txBox="1"/>
          <p:nvPr/>
        </p:nvSpPr>
        <p:spPr>
          <a:xfrm>
            <a:off x="3276600" y="5943600"/>
            <a:ext cx="21856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WGTI of quark gluon vertex</a:t>
            </a:r>
            <a:endParaRPr lang="en-SG" sz="1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4343932" y="3896926"/>
                <a:ext cx="4523674" cy="183569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</a:rPr>
                  <a:t>In covariant gauge Green functions are function</a:t>
                </a: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      of arbitrary gauge fixing parameter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𝜉</m:t>
                    </m:r>
                  </m:oMath>
                </a14:m>
                <a:r>
                  <a:rPr lang="en-SG" sz="16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      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𝑆</m:t>
                    </m:r>
                    <m:d>
                      <m:d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     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𝐷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𝜇𝜈</m:t>
                        </m:r>
                      </m:sub>
                    </m:sSub>
                    <m:d>
                      <m:d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𝑞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𝜉</m:t>
                        </m:r>
                      </m:e>
                    </m:d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     </m:t>
                    </m:r>
                    <m:sSub>
                      <m:sSub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Γ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𝑘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𝑝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;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𝜉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endParaRPr lang="en-SG" sz="16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</a:rPr>
                  <a:t>A necessary condition that physical observable </a:t>
                </a: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      will not depend upon the choice of </a:t>
                </a:r>
                <a14:m>
                  <m:oMath xmlns:m="http://schemas.openxmlformats.org/officeDocument/2006/math"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𝜉</m:t>
                    </m:r>
                  </m:oMath>
                </a14:m>
                <a:r>
                  <a:rPr lang="en-SG" sz="1600" dirty="0">
                    <a:solidFill>
                      <a:schemeClr val="bg1"/>
                    </a:solidFill>
                  </a:rPr>
                  <a:t>  is that all </a:t>
                </a:r>
              </a:p>
              <a:p>
                <a:r>
                  <a:rPr lang="en-SG" sz="1600" dirty="0">
                    <a:solidFill>
                      <a:schemeClr val="bg1"/>
                    </a:solidFill>
                  </a:rPr>
                  <a:t>      WGTI/STI’s should be satisfied.</a:t>
                </a: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932" y="3896926"/>
                <a:ext cx="4523674" cy="1835695"/>
              </a:xfrm>
              <a:prstGeom prst="rect">
                <a:avLst/>
              </a:prstGeom>
              <a:blipFill rotWithShape="0">
                <a:blip r:embed="rId29"/>
                <a:stretch>
                  <a:fillRect l="-539" t="-997" b="-33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792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6" grpId="0"/>
      <p:bldP spid="31" grpId="0"/>
      <p:bldP spid="34" grpId="0"/>
      <p:bldP spid="40" grpId="0"/>
      <p:bldP spid="42" grpId="0"/>
      <p:bldP spid="56" grpId="0" animBg="1"/>
      <p:bldP spid="59" grpId="0"/>
      <p:bldP spid="6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251356"/>
            <a:ext cx="2544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 Propagator</a:t>
            </a:r>
            <a:r>
              <a:rPr lang="en-SG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p:pic>
        <p:nvPicPr>
          <p:cNvPr id="3" name="Picture 3" descr="C:\Users\Faisal Akram\Desktop\Untitled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53" y="564014"/>
            <a:ext cx="4371825" cy="7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val 4"/>
          <p:cNvSpPr/>
          <p:nvPr/>
        </p:nvSpPr>
        <p:spPr>
          <a:xfrm>
            <a:off x="3733800" y="378613"/>
            <a:ext cx="533400" cy="4841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Oval 5"/>
          <p:cNvSpPr/>
          <p:nvPr/>
        </p:nvSpPr>
        <p:spPr>
          <a:xfrm>
            <a:off x="4332755" y="920171"/>
            <a:ext cx="533400" cy="4841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TextBox 6"/>
          <p:cNvSpPr txBox="1"/>
          <p:nvPr/>
        </p:nvSpPr>
        <p:spPr>
          <a:xfrm>
            <a:off x="609600" y="3884474"/>
            <a:ext cx="607204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Field Theoretical Constraints: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Gauge Invariance (WGTI’s or STI’s).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Gauge covariant relations.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Multiplicative </a:t>
            </a:r>
            <a:r>
              <a:rPr lang="en-US" dirty="0" err="1">
                <a:solidFill>
                  <a:schemeClr val="bg1"/>
                </a:solidFill>
              </a:rPr>
              <a:t>renormalizability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Agreement with perturbation theory in weak coupling limit.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991" y="5754469"/>
            <a:ext cx="83576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model should also agree with </a:t>
            </a:r>
            <a:r>
              <a:rPr lang="en-US" dirty="0" err="1">
                <a:solidFill>
                  <a:schemeClr val="bg1"/>
                </a:solidFill>
              </a:rPr>
              <a:t>lQCD</a:t>
            </a:r>
            <a:r>
              <a:rPr lang="en-US" dirty="0">
                <a:solidFill>
                  <a:schemeClr val="bg1"/>
                </a:solidFill>
              </a:rPr>
              <a:t>  in construction as well as in its implications.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Phenomenological agreement is an ultimate condition.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4800" y="2285762"/>
            <a:ext cx="498399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To solve the SDE of quark propagator we require the knowledge</a:t>
            </a:r>
          </a:p>
          <a:p>
            <a:r>
              <a:rPr lang="en-US" sz="1400" dirty="0">
                <a:solidFill>
                  <a:schemeClr val="bg1"/>
                </a:solidFill>
              </a:rPr>
              <a:t>of full gluon propagator and quark-gluon vertex.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We model gluon propagator and quark-gluon vertex subjecting</a:t>
            </a:r>
          </a:p>
          <a:p>
            <a:r>
              <a:rPr lang="en-US" sz="1400" dirty="0">
                <a:solidFill>
                  <a:schemeClr val="bg1"/>
                </a:solidFill>
              </a:rPr>
              <a:t>to some general field theoretical constraints or using results from 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lQCD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</a:p>
          <a:p>
            <a:endParaRPr lang="en-SG" sz="1400" dirty="0">
              <a:solidFill>
                <a:schemeClr val="bg1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191419"/>
              </p:ext>
            </p:extLst>
          </p:nvPr>
        </p:nvGraphicFramePr>
        <p:xfrm>
          <a:off x="381000" y="1528763"/>
          <a:ext cx="46355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05" name="Equation" r:id="rId4" imgW="3886200" imgH="444240" progId="Equation.3">
                  <p:embed/>
                </p:oleObj>
              </mc:Choice>
              <mc:Fallback>
                <p:oleObj name="Equation" r:id="rId4" imgW="3886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1528763"/>
                        <a:ext cx="4635500" cy="528637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754416" y="3692604"/>
            <a:ext cx="3856184" cy="1107996"/>
          </a:xfrm>
          <a:prstGeom prst="rect">
            <a:avLst/>
          </a:prstGeom>
          <a:solidFill>
            <a:srgbClr val="B818B8"/>
          </a:solidFill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</a:rPr>
              <a:t>What necessary and sufficient knowledge of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</a:rPr>
              <a:t>gluon propagator and quark-gluon vertex is 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</a:rPr>
              <a:t>required in order to describe the complete 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</a:rPr>
              <a:t>and correct behavior of quark propagator?</a:t>
            </a:r>
            <a:r>
              <a:rPr lang="en-US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9609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93513817"/>
              </p:ext>
            </p:extLst>
          </p:nvPr>
        </p:nvGraphicFramePr>
        <p:xfrm>
          <a:off x="729167" y="3216708"/>
          <a:ext cx="2391352" cy="326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0" name="Equation" r:id="rId3" imgW="1866600" imgH="253800" progId="Equation.3">
                  <p:embed/>
                </p:oleObj>
              </mc:Choice>
              <mc:Fallback>
                <p:oleObj name="Equation" r:id="rId3" imgW="1866600" imgH="2538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9167" y="3216708"/>
                        <a:ext cx="2391352" cy="32615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Straight Arrow Connector 2"/>
          <p:cNvCxnSpPr/>
          <p:nvPr/>
        </p:nvCxnSpPr>
        <p:spPr>
          <a:xfrm>
            <a:off x="3021106" y="3567953"/>
            <a:ext cx="332988" cy="51201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276994" y="4118719"/>
                <a:ext cx="1051313" cy="363433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Γ</m:t>
                          </m:r>
                        </m:e>
                        <m:sub>
                          <m: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994" y="4118719"/>
                <a:ext cx="1051313" cy="363433"/>
              </a:xfrm>
              <a:prstGeom prst="rect">
                <a:avLst/>
              </a:prstGeom>
              <a:blipFill rotWithShape="0">
                <a:blip r:embed="rId5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85723" y="4114800"/>
                <a:ext cx="2462277" cy="36343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𝑖𝑞</m:t>
                          </m:r>
                        </m:e>
                        <m:sub>
                          <m: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Γ</m:t>
                          </m:r>
                        </m:e>
                        <m:sub>
                          <m:r>
                            <a:rPr lang="en-SG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𝐿</m:t>
                          </m:r>
                        </m:sup>
                      </m:sSubSup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723" y="4114800"/>
                <a:ext cx="2462277" cy="363433"/>
              </a:xfrm>
              <a:prstGeom prst="rect">
                <a:avLst/>
              </a:prstGeom>
              <a:blipFill rotWithShape="0">
                <a:blip r:embed="rId6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5539672"/>
              </p:ext>
            </p:extLst>
          </p:nvPr>
        </p:nvGraphicFramePr>
        <p:xfrm>
          <a:off x="581356" y="4610962"/>
          <a:ext cx="37973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1" name="Equation" r:id="rId7" imgW="3797280" imgH="965160" progId="Equation.3">
                  <p:embed/>
                </p:oleObj>
              </mc:Choice>
              <mc:Fallback>
                <p:oleObj name="Equation" r:id="rId7" imgW="3797280" imgH="9651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1356" y="4610962"/>
                        <a:ext cx="3797300" cy="9652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668559"/>
              </p:ext>
            </p:extLst>
          </p:nvPr>
        </p:nvGraphicFramePr>
        <p:xfrm>
          <a:off x="4758914" y="4599296"/>
          <a:ext cx="2204823" cy="585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2" name="Equation" r:id="rId9" imgW="1625400" imgH="431640" progId="Equation.3">
                  <p:embed/>
                </p:oleObj>
              </mc:Choice>
              <mc:Fallback>
                <p:oleObj name="Equation" r:id="rId9" imgW="1625400" imgH="431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758914" y="4599296"/>
                        <a:ext cx="2204823" cy="585657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99464" y="5636441"/>
            <a:ext cx="3462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Longitudinal part is called Ball Chiu (BC) part.</a:t>
            </a:r>
            <a:endParaRPr lang="en-SG" sz="1400" dirty="0">
              <a:solidFill>
                <a:schemeClr val="bg1"/>
              </a:solidFill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36645"/>
              </p:ext>
            </p:extLst>
          </p:nvPr>
        </p:nvGraphicFramePr>
        <p:xfrm>
          <a:off x="3124200" y="3157309"/>
          <a:ext cx="1828688" cy="4433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3" name="Equation" r:id="rId11" imgW="1777680" imgH="431640" progId="Equation.3">
                  <p:embed/>
                </p:oleObj>
              </mc:Choice>
              <mc:Fallback>
                <p:oleObj name="Equation" r:id="rId11" imgW="1777680" imgH="431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157309"/>
                        <a:ext cx="1828688" cy="443391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Oval 12"/>
          <p:cNvSpPr/>
          <p:nvPr/>
        </p:nvSpPr>
        <p:spPr>
          <a:xfrm>
            <a:off x="1487724" y="3172538"/>
            <a:ext cx="798075" cy="4389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/>
          <p:cNvSpPr/>
          <p:nvPr/>
        </p:nvSpPr>
        <p:spPr>
          <a:xfrm>
            <a:off x="2351829" y="3150590"/>
            <a:ext cx="798075" cy="48286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44388" y="2133600"/>
                <a:ext cx="2215671" cy="348429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𝑖𝑞</m:t>
                          </m:r>
                        </m:e>
                        <m:sub>
                          <m:r>
                            <a:rPr lang="en-SG" sz="14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bSup>
                        <m:sSubSupPr>
                          <m:ctrlPr>
                            <a:rPr lang="en-SG" sz="1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l-GR" sz="14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Γ</m:t>
                          </m:r>
                        </m:e>
                        <m:sub>
                          <m:r>
                            <a:rPr lang="en-SG" sz="14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  <m:sup/>
                      </m:sSubSup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𝑘</m:t>
                          </m:r>
                        </m:e>
                      </m:d>
                      <m:r>
                        <a:rPr lang="en-US" sz="1400" b="0" i="1" smtClean="0">
                          <a:solidFill>
                            <a:schemeClr val="bg1"/>
                          </a:solidFill>
                          <a:latin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p>
                          <m:r>
                            <a:rPr lang="en-US" sz="1400" i="1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SG" sz="1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388" y="2133600"/>
                <a:ext cx="2215671" cy="348429"/>
              </a:xfrm>
              <a:prstGeom prst="rect">
                <a:avLst/>
              </a:prstGeom>
              <a:blipFill rotWithShape="0">
                <a:blip r:embed="rId14"/>
                <a:stretch>
                  <a:fillRect b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H="1">
            <a:off x="1676400" y="3574142"/>
            <a:ext cx="173962" cy="50582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089856" y="228600"/>
            <a:ext cx="3006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Models of Quark-gluon Vertex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685800"/>
            <a:ext cx="2581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>
                <a:solidFill>
                  <a:schemeClr val="bg1"/>
                </a:solidFill>
              </a:rPr>
              <a:t>Replacing by free vertex</a:t>
            </a:r>
          </a:p>
        </p:txBody>
      </p:sp>
      <p:pic>
        <p:nvPicPr>
          <p:cNvPr id="19" name="Picture 12" descr="C:\Users\Faisal Akram\Desktop\Untitled1.jp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341" y="1093694"/>
            <a:ext cx="634856" cy="64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C:\Users\Faisal Akram\Desktop\Untitled1.jp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223" y="1143000"/>
            <a:ext cx="770177" cy="59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ight Arrow 20"/>
          <p:cNvSpPr/>
          <p:nvPr/>
        </p:nvSpPr>
        <p:spPr>
          <a:xfrm>
            <a:off x="2220660" y="1322294"/>
            <a:ext cx="446340" cy="184404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462663"/>
              </p:ext>
            </p:extLst>
          </p:nvPr>
        </p:nvGraphicFramePr>
        <p:xfrm>
          <a:off x="3733800" y="1219200"/>
          <a:ext cx="1115644" cy="321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694" name="Equation" r:id="rId17" imgW="838080" imgH="241200" progId="Equation.3">
                  <p:embed/>
                </p:oleObj>
              </mc:Choice>
              <mc:Fallback>
                <p:oleObj name="Equation" r:id="rId17" imgW="838080" imgH="2412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733800" y="1219200"/>
                        <a:ext cx="1115644" cy="32117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38200" y="1828800"/>
            <a:ext cx="38731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This model breaks WGTI/STI of quark gluon vertex.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047" y="2819400"/>
            <a:ext cx="34479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Constraint on the vertex due to WGTI: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684059" y="5321117"/>
                <a:ext cx="3046988" cy="6096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rgbClr val="FFFF00"/>
                    </a:solidFill>
                  </a:rPr>
                  <a:t>Multiplicative </a:t>
                </a:r>
                <a:r>
                  <a:rPr lang="en-US" sz="1600" dirty="0" err="1">
                    <a:solidFill>
                      <a:srgbClr val="FFFF00"/>
                    </a:solidFill>
                  </a:rPr>
                  <a:t>renormalizability</a:t>
                </a:r>
                <a:r>
                  <a:rPr lang="en-US" sz="1600" dirty="0">
                    <a:solidFill>
                      <a:srgbClr val="FFFF00"/>
                    </a:solidFill>
                  </a:rPr>
                  <a:t> of SDE</a:t>
                </a:r>
              </a:p>
              <a:p>
                <a:pPr algn="just"/>
                <a:r>
                  <a:rPr lang="en-US" sz="1600" dirty="0">
                    <a:solidFill>
                      <a:srgbClr val="FFFF00"/>
                    </a:solidFill>
                  </a:rPr>
                  <a:t>can be used to constrain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600" i="1" smtClean="0">
                            <a:solidFill>
                              <a:srgbClr val="FFFF00"/>
                            </a:solidFill>
                            <a:latin typeface="Cambria Math"/>
                            <a:ea typeface="Cambria Math"/>
                          </a:rPr>
                          <m:t>Γ</m:t>
                        </m:r>
                      </m:e>
                      <m:sub>
                        <m:r>
                          <a:rPr lang="en-US" sz="1600" i="1" smtClean="0">
                            <a:solidFill>
                              <a:srgbClr val="FFFF00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𝑇</m:t>
                        </m:r>
                      </m:sup>
                    </m:sSubSup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𝑘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,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𝑝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SG" sz="1600" dirty="0">
                    <a:solidFill>
                      <a:srgbClr val="FFFF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4059" y="5321117"/>
                <a:ext cx="3046988" cy="609654"/>
              </a:xfrm>
              <a:prstGeom prst="rect">
                <a:avLst/>
              </a:prstGeom>
              <a:blipFill rotWithShape="0">
                <a:blip r:embed="rId19"/>
                <a:stretch>
                  <a:fillRect l="-1000" t="-3000" r="-9800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4939213" y="1219200"/>
            <a:ext cx="1844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  <a:ea typeface="Tahoma" pitchFamily="34" charset="0"/>
                <a:cs typeface="Tahoma" pitchFamily="34" charset="0"/>
              </a:rPr>
              <a:t>Rainbow Truncation</a:t>
            </a:r>
          </a:p>
        </p:txBody>
      </p:sp>
    </p:spTree>
    <p:extLst>
      <p:ext uri="{BB962C8B-B14F-4D97-AF65-F5344CB8AC3E}">
        <p14:creationId xmlns:p14="http://schemas.microsoft.com/office/powerpoint/2010/main" val="249541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/>
      <p:bldP spid="13" grpId="0" animBg="1"/>
      <p:bldP spid="14" grpId="0" animBg="1"/>
      <p:bldP spid="24" grpId="0"/>
      <p:bldP spid="25" grpId="0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04800" y="251356"/>
            <a:ext cx="2544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 Propagator</a:t>
            </a:r>
            <a:r>
              <a:rPr lang="en-SG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p:pic>
        <p:nvPicPr>
          <p:cNvPr id="4" name="Picture 3" descr="C:\Users\Faisal Akram\Desktop\Untitled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53" y="564014"/>
            <a:ext cx="4371825" cy="7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2741965" y="14126"/>
            <a:ext cx="3681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Renormalization of SDE of quark propagator</a:t>
            </a:r>
            <a:endParaRPr lang="en-SG" sz="1400" dirty="0">
              <a:solidFill>
                <a:schemeClr val="accent6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8130681"/>
              </p:ext>
            </p:extLst>
          </p:nvPr>
        </p:nvGraphicFramePr>
        <p:xfrm>
          <a:off x="266700" y="1474788"/>
          <a:ext cx="4621213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38" name="Equation" r:id="rId4" imgW="3873240" imgH="444240" progId="Equation.3">
                  <p:embed/>
                </p:oleObj>
              </mc:Choice>
              <mc:Fallback>
                <p:oleObj name="Equation" r:id="rId4" imgW="387324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1474788"/>
                        <a:ext cx="4621213" cy="528637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057341" y="2060459"/>
                <a:ext cx="1551963" cy="12923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160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𝜓</m:t>
                      </m:r>
                      <m:r>
                        <a:rPr lang="en-SG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sSubSup>
                        <m:sSubSupPr>
                          <m:ctrlP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𝑍</m:t>
                          </m:r>
                        </m:e>
                        <m:sub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  <m:sup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−1/2</m:t>
                          </m:r>
                        </m:sup>
                      </m:sSubSup>
                      <m:sSub>
                        <m:sSubPr>
                          <m:ctrlP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  <m:sub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sz="1600" b="0" dirty="0">
                  <a:solidFill>
                    <a:schemeClr val="bg1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SG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  <m:sup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</m:sup>
                      </m:sSubSup>
                      <m:r>
                        <a:rPr lang="en-SG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sSubSup>
                        <m:sSubSupPr>
                          <m:ctrlP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𝑍</m:t>
                          </m:r>
                        </m:e>
                        <m:sub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3</m:t>
                          </m:r>
                        </m:sub>
                        <m:sup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−1/2</m:t>
                          </m:r>
                        </m:sup>
                      </m:sSubSup>
                      <m:sSubSup>
                        <m:sSubSupPr>
                          <m:ctrlP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  <m:r>
                            <a:rPr lang="en-SG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  <m:sup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𝑎</m:t>
                          </m:r>
                        </m:sup>
                      </m:sSubSup>
                    </m:oMath>
                  </m:oMathPara>
                </a14:m>
                <a:endParaRPr lang="en-SG" sz="1600" b="0" dirty="0">
                  <a:solidFill>
                    <a:schemeClr val="bg1"/>
                  </a:solidFill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𝑔</m:t>
                      </m:r>
                      <m:r>
                        <a:rPr lang="en-SG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Sup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1/2</m:t>
                              </m:r>
                            </m:sup>
                          </m:sSubSup>
                        </m:num>
                        <m:den>
                          <m:sSub>
                            <m:sSubPr>
                              <m:ctrlP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SG" sz="1600" b="0" i="1" smtClean="0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SG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SG" sz="1600" b="0" dirty="0">
                  <a:solidFill>
                    <a:schemeClr val="bg1"/>
                  </a:solidFill>
                  <a:ea typeface="Cambria Math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7341" y="2060459"/>
                <a:ext cx="1551963" cy="1292341"/>
              </a:xfrm>
              <a:prstGeom prst="rect">
                <a:avLst/>
              </a:prstGeom>
              <a:blipFill rotWithShape="0">
                <a:blip r:embed="rId6"/>
                <a:stretch>
                  <a:fillRect l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3" name="Object 12"/>
          <p:cNvGraphicFramePr>
            <a:graphicFrameLocks noChangeAspect="1"/>
          </p:cNvGraphicFramePr>
          <p:nvPr>
            <p:extLst/>
          </p:nvPr>
        </p:nvGraphicFramePr>
        <p:xfrm>
          <a:off x="5800312" y="2226507"/>
          <a:ext cx="2628392" cy="10116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39" name="Equation" r:id="rId7" imgW="2044440" imgH="787320" progId="Equation.3">
                  <p:embed/>
                </p:oleObj>
              </mc:Choice>
              <mc:Fallback>
                <p:oleObj name="Equation" r:id="rId7" imgW="2044440" imgH="787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312" y="2226507"/>
                        <a:ext cx="2628392" cy="1011683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5304" y="2136659"/>
            <a:ext cx="2188612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ea typeface="Tahoma" panose="020B0604030504040204" pitchFamily="34" charset="0"/>
                <a:cs typeface="Tahoma" panose="020B0604030504040204" pitchFamily="34" charset="0"/>
              </a:rPr>
              <a:t>How to do renormalization: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304" y="2593859"/>
            <a:ext cx="2081724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Regularize the theory by </a:t>
            </a:r>
          </a:p>
          <a:p>
            <a:r>
              <a:rPr lang="en-US" sz="1400" dirty="0">
                <a:solidFill>
                  <a:schemeClr val="bg1"/>
                </a:solidFill>
              </a:rPr>
              <a:t>applying hard momentum</a:t>
            </a:r>
          </a:p>
          <a:p>
            <a:r>
              <a:rPr lang="en-US" sz="1400" dirty="0">
                <a:solidFill>
                  <a:schemeClr val="bg1"/>
                </a:solidFill>
              </a:rPr>
              <a:t>cutoff.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/>
          </p:nvPr>
        </p:nvGraphicFramePr>
        <p:xfrm>
          <a:off x="2866104" y="2365259"/>
          <a:ext cx="914400" cy="89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40" name="Equation" r:id="rId9" imgW="711000" imgH="698400" progId="Equation.3">
                  <p:embed/>
                </p:oleObj>
              </mc:Choice>
              <mc:Fallback>
                <p:oleObj name="Equation" r:id="rId9" imgW="71100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104" y="2365259"/>
                        <a:ext cx="914400" cy="896937"/>
                      </a:xfrm>
                      <a:prstGeom prst="rect">
                        <a:avLst/>
                      </a:prstGeom>
                      <a:solidFill>
                        <a:schemeClr val="bg2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4800" y="3579775"/>
                <a:ext cx="7797584" cy="16281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sz="1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Renormalized green functions are function of arbitrary scale parameter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𝜇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.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SG" sz="1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However, the physical observables must not depend upon the choice of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𝜇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.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This is ensured by</a:t>
                </a:r>
              </a:p>
              <a:p>
                <a:r>
                  <a:rPr lang="en-US" sz="1400" dirty="0">
                    <a:solidFill>
                      <a:schemeClr val="bg1"/>
                    </a:solidFill>
                    <a:ea typeface="Cambria Math"/>
                  </a:rPr>
                  <a:t>      a correct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𝜇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rPr>
                  <a:t> dependence of fundament constants (m’s and g’s) of the field theory.</a:t>
                </a:r>
              </a:p>
              <a:p>
                <a:endParaRPr lang="en-US" sz="1400" b="0" dirty="0">
                  <a:solidFill>
                    <a:schemeClr val="bg1"/>
                  </a:solidFill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r>
                  <a:rPr lang="en-US" sz="1400" dirty="0">
                    <a:solidFill>
                      <a:schemeClr val="bg1"/>
                    </a:solidFill>
                    <a:ea typeface="Tahoma" panose="020B0604030504040204" pitchFamily="34" charset="0"/>
                    <a:cs typeface="Tahoma" panose="020B0604030504040204" pitchFamily="34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𝐴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𝑜𝑏𝑠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.</m:t>
                        </m:r>
                      </m:e>
                    </m:d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Tahoma" panose="020B0604030504040204" pitchFamily="34" charset="0"/>
                      </a:rPr>
                      <m:t>𝐴</m:t>
                    </m:r>
                    <m:d>
                      <m:d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</m:ctrlPr>
                      </m:dPr>
                      <m:e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Tahoma" panose="020B0604030504040204" pitchFamily="34" charset="0"/>
                          </a:rPr>
                          <m:t>𝑚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Tahom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e>
                        </m:d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e>
                        </m:d>
                        <m:r>
                          <a:rPr lang="en-US" sz="1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gre</m:t>
                        </m:r>
                        <m:r>
                          <a:rPr lang="en-US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. </m:t>
                        </m:r>
                        <m:r>
                          <m:rPr>
                            <m:sty m:val="p"/>
                          </m:rPr>
                          <a:rPr lang="en-US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fun</m:t>
                        </m:r>
                        <m:r>
                          <a:rPr lang="en-US" sz="14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.</m:t>
                        </m:r>
                        <m:d>
                          <m:dPr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/>
                                <a:ea typeface="Cambria Math"/>
                              </a:rPr>
                              <m:t>𝜇</m:t>
                            </m:r>
                          </m:e>
                        </m:d>
                      </m:e>
                    </m:d>
                  </m:oMath>
                </a14:m>
                <a:endParaRPr lang="en-SG" sz="1400" dirty="0">
                  <a:solidFill>
                    <a:schemeClr val="bg1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579775"/>
                <a:ext cx="7797584" cy="1628138"/>
              </a:xfrm>
              <a:prstGeom prst="rect">
                <a:avLst/>
              </a:prstGeom>
              <a:blipFill rotWithShape="0">
                <a:blip r:embed="rId11"/>
                <a:stretch>
                  <a:fillRect l="-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8" name="Object 17"/>
          <p:cNvGraphicFramePr>
            <a:graphicFrameLocks noChangeAspect="1"/>
          </p:cNvGraphicFramePr>
          <p:nvPr>
            <p:extLst/>
          </p:nvPr>
        </p:nvGraphicFramePr>
        <p:xfrm>
          <a:off x="304800" y="5791200"/>
          <a:ext cx="4786313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41" name="Equation" r:id="rId12" imgW="4012920" imgH="444240" progId="Equation.3">
                  <p:embed/>
                </p:oleObj>
              </mc:Choice>
              <mc:Fallback>
                <p:oleObj name="Equation" r:id="rId12" imgW="40129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5791200"/>
                        <a:ext cx="4786313" cy="5302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4063638" y="506849"/>
            <a:ext cx="4318362" cy="138499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 MR requires that all Green functions should be</a:t>
            </a:r>
          </a:p>
          <a:p>
            <a:r>
              <a:rPr lang="en-US" sz="1400" dirty="0" err="1">
                <a:solidFill>
                  <a:schemeClr val="bg1"/>
                </a:solidFill>
              </a:rPr>
              <a:t>renormalizable</a:t>
            </a:r>
            <a:r>
              <a:rPr lang="en-US" sz="1400" dirty="0">
                <a:solidFill>
                  <a:schemeClr val="bg1"/>
                </a:solidFill>
              </a:rPr>
              <a:t> by using finite number of multiplicative </a:t>
            </a:r>
          </a:p>
          <a:p>
            <a:r>
              <a:rPr lang="en-US" sz="1400" dirty="0">
                <a:solidFill>
                  <a:schemeClr val="bg1"/>
                </a:solidFill>
              </a:rPr>
              <a:t>renormalization constant.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400" dirty="0">
                <a:solidFill>
                  <a:schemeClr val="bg1"/>
                </a:solidFill>
              </a:rPr>
              <a:t>The condition of MR cannot be satisfied by any arbitrary </a:t>
            </a:r>
          </a:p>
          <a:p>
            <a:r>
              <a:rPr lang="en-US" sz="1400" dirty="0">
                <a:solidFill>
                  <a:schemeClr val="bg1"/>
                </a:solidFill>
              </a:rPr>
              <a:t>quark-gluon vertex </a:t>
            </a:r>
            <a:r>
              <a:rPr lang="en-US" sz="1400" dirty="0" err="1">
                <a:solidFill>
                  <a:schemeClr val="bg1"/>
                </a:solidFill>
              </a:rPr>
              <a:t>ansatz</a:t>
            </a:r>
            <a:r>
              <a:rPr lang="en-US" sz="1400" dirty="0">
                <a:solidFill>
                  <a:schemeClr val="bg1"/>
                </a:solidFill>
              </a:rPr>
              <a:t> in SDEs.</a:t>
            </a:r>
            <a:endParaRPr lang="en-SG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38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 animBg="1"/>
      <p:bldP spid="15" grpId="0"/>
      <p:bldP spid="17" grpId="0"/>
      <p:bldP spid="2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6741" y="838200"/>
            <a:ext cx="7699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The condition of MR cannot be satisfied by any arbitrary quark-gluon vertex </a:t>
            </a:r>
            <a:r>
              <a:rPr lang="en-US" sz="1600" dirty="0" err="1">
                <a:solidFill>
                  <a:schemeClr val="bg1"/>
                </a:solidFill>
              </a:rPr>
              <a:t>ansatz</a:t>
            </a:r>
            <a:r>
              <a:rPr lang="en-US" sz="1600" dirty="0">
                <a:solidFill>
                  <a:schemeClr val="bg1"/>
                </a:solidFill>
              </a:rPr>
              <a:t> in SDEs.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7408" y="1219200"/>
            <a:ext cx="58333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(An example)</a:t>
            </a:r>
          </a:p>
          <a:p>
            <a:r>
              <a:rPr lang="en-US" sz="1600" dirty="0">
                <a:solidFill>
                  <a:schemeClr val="bg1"/>
                </a:solidFill>
              </a:rPr>
              <a:t>Quark renormalization function in leading-logarithm approximation:</a:t>
            </a:r>
            <a:endParaRPr lang="en-SG" sz="1600" dirty="0">
              <a:solidFill>
                <a:schemeClr val="bg1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681038" y="1905000"/>
          <a:ext cx="519112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58" name="Equation" r:id="rId3" imgW="3377880" imgH="253800" progId="Equation.3">
                  <p:embed/>
                </p:oleObj>
              </mc:Choice>
              <mc:Fallback>
                <p:oleObj name="Equation" r:id="rId3" imgW="337788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1905000"/>
                        <a:ext cx="5191125" cy="390525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99849" y="2362200"/>
                <a:ext cx="2858860" cy="3615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MR requires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2,2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1,1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/1!</m:t>
                    </m:r>
                  </m:oMath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849" y="2362200"/>
                <a:ext cx="2858860" cy="361509"/>
              </a:xfrm>
              <a:prstGeom prst="rect">
                <a:avLst/>
              </a:prstGeom>
              <a:blipFill rotWithShape="1">
                <a:blip r:embed="rId5"/>
                <a:stretch>
                  <a:fillRect l="-1066" t="-1695" b="-1694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599849" y="3124200"/>
            <a:ext cx="722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If we use bare approximation of quark-gluon vertex in quark propagator SDE we get</a:t>
            </a:r>
            <a:r>
              <a:rPr lang="en-US" dirty="0">
                <a:solidFill>
                  <a:schemeClr val="bg1"/>
                </a:solidFill>
              </a:rPr>
              <a:t>  </a:t>
            </a:r>
            <a:endParaRPr lang="en-SG" dirty="0">
              <a:solidFill>
                <a:schemeClr val="bg1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663575" y="3581400"/>
          <a:ext cx="3846513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59" name="Equation" r:id="rId6" imgW="3263760" imgH="558720" progId="Equation.3">
                  <p:embed/>
                </p:oleObj>
              </mc:Choice>
              <mc:Fallback>
                <p:oleObj name="Equation" r:id="rId6" imgW="3263760" imgH="558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" y="3581400"/>
                        <a:ext cx="3846513" cy="658813"/>
                      </a:xfrm>
                      <a:prstGeom prst="rect">
                        <a:avLst/>
                      </a:prstGeom>
                      <a:solidFill>
                        <a:srgbClr val="DBEEF4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542817" y="3914001"/>
                <a:ext cx="32521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chemeClr val="bg1"/>
                    </a:solidFill>
                  </a:rPr>
                  <a:t>(where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𝑝</m:t>
                            </m:r>
                          </m:e>
                          <m:sup>
                            <m:r>
                              <a:rPr lang="en-US" sz="1200" b="0" i="1" smtClean="0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SG" sz="1200" dirty="0">
                    <a:solidFill>
                      <a:schemeClr val="bg1"/>
                    </a:solidFill>
                  </a:rPr>
                  <a:t> is taken zero as an approximation)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817" y="3914001"/>
                <a:ext cx="3252109" cy="276999"/>
              </a:xfrm>
              <a:prstGeom prst="rect">
                <a:avLst/>
              </a:prstGeom>
              <a:blipFill rotWithShape="1"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639763" y="4419600"/>
          <a:ext cx="470693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60" name="Equation" r:id="rId9" imgW="3593880" imgH="469800" progId="Equation.3">
                  <p:embed/>
                </p:oleObj>
              </mc:Choice>
              <mc:Fallback>
                <p:oleObj name="Equation" r:id="rId9" imgW="35938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763" y="4419600"/>
                        <a:ext cx="4706937" cy="614363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9600" y="5105400"/>
                <a:ext cx="2542043" cy="4840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</a:rPr>
                  <a:t>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</a:rPr>
                          <m:t>1,1</m:t>
                        </m:r>
                      </m:sub>
                      <m:sup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</a:rPr>
                      <m:t>/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1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</a:rPr>
                      <m:t>!</m:t>
                    </m:r>
                  </m:oMath>
                </a14:m>
                <a:endParaRPr lang="en-SG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05400"/>
                <a:ext cx="2542043" cy="484043"/>
              </a:xfrm>
              <a:prstGeom prst="rect">
                <a:avLst/>
              </a:prstGeom>
              <a:blipFill rotWithShape="1">
                <a:blip r:embed="rId11"/>
                <a:stretch>
                  <a:fillRect l="-1918" b="-759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urved Connector 10"/>
          <p:cNvCxnSpPr/>
          <p:nvPr/>
        </p:nvCxnSpPr>
        <p:spPr>
          <a:xfrm flipV="1">
            <a:off x="3323617" y="5280059"/>
            <a:ext cx="2438400" cy="134724"/>
          </a:xfrm>
          <a:prstGeom prst="curvedConnector3">
            <a:avLst>
              <a:gd name="adj1" fmla="val 50000"/>
            </a:avLst>
          </a:prstGeom>
          <a:ln w="381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780547" y="4876800"/>
                <a:ext cx="3383811" cy="8558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just"/>
                <a:r>
                  <a:rPr lang="en-US" sz="1600" dirty="0">
                    <a:solidFill>
                      <a:srgbClr val="FFFF00"/>
                    </a:solidFill>
                  </a:rPr>
                  <a:t>MR can be used to constrain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l-GR" sz="1600" i="1" smtClean="0">
                            <a:solidFill>
                              <a:srgbClr val="FFFF00"/>
                            </a:solidFill>
                            <a:latin typeface="Cambria Math"/>
                            <a:ea typeface="Cambria Math"/>
                          </a:rPr>
                          <m:t>Γ</m:t>
                        </m:r>
                      </m:e>
                      <m:sub>
                        <m:r>
                          <a:rPr lang="en-US" sz="1600" i="1" smtClean="0">
                            <a:solidFill>
                              <a:srgbClr val="FFFF00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  <m:sup>
                        <m:r>
                          <a:rPr lang="en-US" sz="1600" b="0" i="1" smtClean="0">
                            <a:solidFill>
                              <a:srgbClr val="FFFF00"/>
                            </a:solidFill>
                            <a:latin typeface="Cambria Math"/>
                          </a:rPr>
                          <m:t>𝑇</m:t>
                        </m:r>
                      </m:sup>
                    </m:sSubSup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(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𝑘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,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𝑝</m:t>
                    </m:r>
                    <m:r>
                      <a:rPr lang="en-US" sz="1600" b="0" i="1" smtClean="0">
                        <a:solidFill>
                          <a:srgbClr val="FFFF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SG" sz="1600" dirty="0">
                    <a:solidFill>
                      <a:srgbClr val="FFFF00"/>
                    </a:solidFill>
                  </a:rPr>
                  <a:t> </a:t>
                </a:r>
              </a:p>
              <a:p>
                <a:pPr algn="just"/>
                <a:r>
                  <a:rPr lang="en-SG" sz="1600" dirty="0">
                    <a:solidFill>
                      <a:srgbClr val="FFFF00"/>
                    </a:solidFill>
                  </a:rPr>
                  <a:t>as the BC vertex itself </a:t>
                </a:r>
                <a:r>
                  <a:rPr lang="en-US" sz="1600" dirty="0">
                    <a:solidFill>
                      <a:srgbClr val="FFFF00"/>
                    </a:solidFill>
                  </a:rPr>
                  <a:t>doesn’t  satisfy </a:t>
                </a:r>
              </a:p>
              <a:p>
                <a:pPr algn="just"/>
                <a:r>
                  <a:rPr lang="en-US" sz="1600" dirty="0">
                    <a:solidFill>
                      <a:srgbClr val="FFFF00"/>
                    </a:solidFill>
                  </a:rPr>
                  <a:t>the condition of MR.</a:t>
                </a:r>
                <a:endParaRPr lang="en-SG" sz="16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0547" y="4876800"/>
                <a:ext cx="3383811" cy="855875"/>
              </a:xfrm>
              <a:prstGeom prst="rect">
                <a:avLst/>
              </a:prstGeom>
              <a:blipFill rotWithShape="1">
                <a:blip r:embed="rId12"/>
                <a:stretch>
                  <a:fillRect l="-901" t="-714" b="-857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973189" y="152400"/>
            <a:ext cx="3139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tabLst>
                <a:tab pos="177800" algn="l"/>
              </a:tabLst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Multiplicative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Renormalizability</a:t>
            </a:r>
            <a:endParaRPr lang="en-SG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/>
          </p:nvPr>
        </p:nvGraphicFramePr>
        <p:xfrm>
          <a:off x="6836605" y="1371600"/>
          <a:ext cx="14811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61" name="Equation" r:id="rId13" imgW="1168200" imgH="444240" progId="Equation.3">
                  <p:embed/>
                </p:oleObj>
              </mc:Choice>
              <mc:Fallback>
                <p:oleObj name="Equation" r:id="rId13" imgW="11682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6605" y="1371600"/>
                        <a:ext cx="1481138" cy="563562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52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  <p:bldP spid="10" grpId="0"/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8175" y="381000"/>
            <a:ext cx="3172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Models of Quark Gluon Vertices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8555" y="750332"/>
            <a:ext cx="32875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Curtis Pennington (CP) Vertex: </a:t>
            </a:r>
            <a:endParaRPr lang="en-SG" dirty="0">
              <a:solidFill>
                <a:schemeClr val="bg1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578808" y="1134412"/>
          <a:ext cx="4015921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1" name="Equation" r:id="rId3" imgW="2958840" imgH="444240" progId="Equation.3">
                  <p:embed/>
                </p:oleObj>
              </mc:Choice>
              <mc:Fallback>
                <p:oleObj name="Equation" r:id="rId3" imgW="295884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78808" y="1134412"/>
                        <a:ext cx="4015921" cy="6032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8555" y="1760522"/>
            <a:ext cx="6857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</a:rPr>
              <a:t>CP vertex satisfies the condition of MR in quench approximation for zero as well</a:t>
            </a:r>
          </a:p>
          <a:p>
            <a:pPr algn="just"/>
            <a:r>
              <a:rPr lang="en-US" sz="1600" dirty="0">
                <a:solidFill>
                  <a:schemeClr val="bg1"/>
                </a:solidFill>
              </a:rPr>
              <a:t>as non-zero quark mass.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3111" y="2880229"/>
            <a:ext cx="3459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3. </a:t>
            </a:r>
            <a:r>
              <a:rPr lang="en-US" dirty="0" err="1">
                <a:solidFill>
                  <a:schemeClr val="bg1"/>
                </a:solidFill>
              </a:rPr>
              <a:t>Kizilersu</a:t>
            </a:r>
            <a:r>
              <a:rPr lang="en-US" dirty="0">
                <a:solidFill>
                  <a:schemeClr val="bg1"/>
                </a:solidFill>
              </a:rPr>
              <a:t> Pennington (KP) Vertex:</a:t>
            </a:r>
            <a:endParaRPr lang="en-SG" dirty="0">
              <a:solidFill>
                <a:schemeClr val="bg1"/>
              </a:solidFill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0190132"/>
              </p:ext>
            </p:extLst>
          </p:nvPr>
        </p:nvGraphicFramePr>
        <p:xfrm>
          <a:off x="574755" y="3249561"/>
          <a:ext cx="2930445" cy="532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2" name="Equation" r:id="rId5" imgW="1955520" imgH="355320" progId="Equation.3">
                  <p:embed/>
                </p:oleObj>
              </mc:Choice>
              <mc:Fallback>
                <p:oleObj name="Equation" r:id="rId5" imgW="19555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755" y="3249561"/>
                        <a:ext cx="2930445" cy="53280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/>
          </p:nvPr>
        </p:nvGraphicFramePr>
        <p:xfrm>
          <a:off x="566795" y="3837296"/>
          <a:ext cx="5352171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423" name="Equation" r:id="rId7" imgW="5041800" imgH="1650960" progId="Equation.3">
                  <p:embed/>
                </p:oleObj>
              </mc:Choice>
              <mc:Fallback>
                <p:oleObj name="Equation" r:id="rId7" imgW="5041800" imgH="16509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6795" y="3837296"/>
                        <a:ext cx="5352171" cy="17526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0059" y="5712542"/>
            <a:ext cx="84009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</a:rPr>
              <a:t>KP vertex satisfies the condition of MR in un-quenched approximation only for zero quark mass.</a:t>
            </a:r>
            <a:endParaRPr lang="en-SG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864764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12910"/>
            <a:ext cx="2238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 Propagator:</a:t>
            </a:r>
          </a:p>
        </p:txBody>
      </p:sp>
      <p:pic>
        <p:nvPicPr>
          <p:cNvPr id="3" name="Picture 3" descr="C:\Users\Faisal Akram\Desktop\Untitled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53" y="659286"/>
            <a:ext cx="4371825" cy="7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733800" y="483574"/>
            <a:ext cx="533400" cy="4841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/>
          <p:cNvSpPr/>
          <p:nvPr/>
        </p:nvSpPr>
        <p:spPr>
          <a:xfrm>
            <a:off x="4346403" y="974763"/>
            <a:ext cx="533400" cy="4841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4999513" y="920171"/>
            <a:ext cx="586193" cy="17699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7" name="Picture 12" descr="C:\Users\Faisal Akram\Desktop\Untitled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515" y="598175"/>
            <a:ext cx="634856" cy="643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096000" y="423446"/>
            <a:ext cx="18442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  <a:ea typeface="Tahoma" pitchFamily="34" charset="0"/>
                <a:cs typeface="Tahoma" pitchFamily="34" charset="0"/>
              </a:rPr>
              <a:t>Rainbow Truncation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387139" y="1447800"/>
          <a:ext cx="5198567" cy="58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5" name="Equation" r:id="rId5" imgW="3962160" imgH="444240" progId="Equation.3">
                  <p:embed/>
                </p:oleObj>
              </mc:Choice>
              <mc:Fallback>
                <p:oleObj name="Equation" r:id="rId5" imgW="39621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139" y="1447800"/>
                        <a:ext cx="5198567" cy="58336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3053" y="2057400"/>
            <a:ext cx="6326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rgbClr val="FFFF00"/>
                </a:solidFill>
              </a:rPr>
              <a:t>Maris-Tandy Model:</a:t>
            </a:r>
            <a:r>
              <a:rPr lang="en-SG" b="1" dirty="0">
                <a:solidFill>
                  <a:schemeClr val="bg1"/>
                </a:solidFill>
              </a:rPr>
              <a:t> It is based on Rainbow truncation of vertex.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6351588" y="1404938"/>
          <a:ext cx="45878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6" name="Equation" r:id="rId7" imgW="380880" imgH="419040" progId="Equation.3">
                  <p:embed/>
                </p:oleObj>
              </mc:Choice>
              <mc:Fallback>
                <p:oleObj name="Equation" r:id="rId7" imgW="38088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588" y="1404938"/>
                        <a:ext cx="458787" cy="50323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/>
          </p:nvPr>
        </p:nvGraphicFramePr>
        <p:xfrm>
          <a:off x="2484437" y="3153696"/>
          <a:ext cx="2925763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7" name="Equation" r:id="rId9" imgW="2374560" imgH="469800" progId="Equation.3">
                  <p:embed/>
                </p:oleObj>
              </mc:Choice>
              <mc:Fallback>
                <p:oleObj name="Equation" r:id="rId9" imgW="237456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7" y="3153696"/>
                        <a:ext cx="2925763" cy="577850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Straight Arrow Connector 12"/>
          <p:cNvCxnSpPr/>
          <p:nvPr/>
        </p:nvCxnSpPr>
        <p:spPr>
          <a:xfrm>
            <a:off x="3394670" y="4334142"/>
            <a:ext cx="193503" cy="3042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743200" y="4648200"/>
            <a:ext cx="31986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</a:rPr>
              <a:t>UV dominant; Given by </a:t>
            </a:r>
            <a:r>
              <a:rPr lang="en-SG" sz="1400" dirty="0" err="1">
                <a:solidFill>
                  <a:schemeClr val="bg1"/>
                </a:solidFill>
              </a:rPr>
              <a:t>perturbative</a:t>
            </a:r>
            <a:r>
              <a:rPr lang="en-SG" sz="1400" dirty="0">
                <a:solidFill>
                  <a:schemeClr val="bg1"/>
                </a:solidFill>
              </a:rPr>
              <a:t> QCD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4614446"/>
            <a:ext cx="22229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</a:rPr>
              <a:t>Infrared dominant; A Model</a:t>
            </a:r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/>
          </p:nvPr>
        </p:nvGraphicFramePr>
        <p:xfrm>
          <a:off x="415464" y="2605088"/>
          <a:ext cx="2236788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8" name="Equation" r:id="rId11" imgW="2222280" imgH="469800" progId="Equation.3">
                  <p:embed/>
                </p:oleObj>
              </mc:Choice>
              <mc:Fallback>
                <p:oleObj name="Equation" r:id="rId11" imgW="222228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64" y="2605088"/>
                        <a:ext cx="2236788" cy="473075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flipV="1">
            <a:off x="5602353" y="1676400"/>
            <a:ext cx="648073" cy="1560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692937" y="1339107"/>
            <a:ext cx="909416" cy="71829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/>
          <p:cNvSpPr txBox="1"/>
          <p:nvPr/>
        </p:nvSpPr>
        <p:spPr>
          <a:xfrm>
            <a:off x="2614142" y="2785646"/>
            <a:ext cx="16555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rgbClr val="FFFF00"/>
                </a:solidFill>
              </a:rPr>
              <a:t>(in Landau gauge)</a:t>
            </a:r>
          </a:p>
        </p:txBody>
      </p:sp>
      <p:sp>
        <p:nvSpPr>
          <p:cNvPr id="20" name="Oval 19"/>
          <p:cNvSpPr/>
          <p:nvPr/>
        </p:nvSpPr>
        <p:spPr>
          <a:xfrm>
            <a:off x="3276600" y="1371600"/>
            <a:ext cx="798473" cy="7292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21" name="Object 20"/>
          <p:cNvGraphicFramePr>
            <a:graphicFrameLocks noChangeAspect="1"/>
          </p:cNvGraphicFramePr>
          <p:nvPr>
            <p:extLst/>
          </p:nvPr>
        </p:nvGraphicFramePr>
        <p:xfrm>
          <a:off x="390238" y="3810000"/>
          <a:ext cx="5096162" cy="58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9" name="Equation" r:id="rId13" imgW="4292280" imgH="495000" progId="Equation.3">
                  <p:embed/>
                </p:oleObj>
              </mc:Choice>
              <mc:Fallback>
                <p:oleObj name="Equation" r:id="rId13" imgW="429228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238" y="3810000"/>
                        <a:ext cx="5096162" cy="587313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/>
          <p:cNvGraphicFramePr>
            <a:graphicFrameLocks noChangeAspect="1"/>
          </p:cNvGraphicFramePr>
          <p:nvPr>
            <p:extLst/>
          </p:nvPr>
        </p:nvGraphicFramePr>
        <p:xfrm>
          <a:off x="395748" y="3159843"/>
          <a:ext cx="1643451" cy="573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0" name="Equation" r:id="rId15" imgW="1269720" imgH="444240" progId="Equation.3">
                  <p:embed/>
                </p:oleObj>
              </mc:Choice>
              <mc:Fallback>
                <p:oleObj name="Equation" r:id="rId15" imgW="126972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748" y="3159843"/>
                        <a:ext cx="1643451" cy="573957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491979" y="3974068"/>
            <a:ext cx="20395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Maris-Tandy Model</a:t>
            </a:r>
            <a:endParaRPr lang="en-SG" b="1" dirty="0">
              <a:solidFill>
                <a:srgbClr val="FFFF00"/>
              </a:solidFill>
            </a:endParaRPr>
          </a:p>
        </p:txBody>
      </p:sp>
      <p:cxnSp>
        <p:nvCxnSpPr>
          <p:cNvPr id="24" name="Straight Arrow Connector 23"/>
          <p:cNvCxnSpPr>
            <a:endCxn id="15" idx="0"/>
          </p:cNvCxnSpPr>
          <p:nvPr/>
        </p:nvCxnSpPr>
        <p:spPr>
          <a:xfrm flipH="1">
            <a:off x="1416291" y="4267200"/>
            <a:ext cx="467158" cy="34724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58765" y="82079"/>
            <a:ext cx="2564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Models of gluon propagator</a:t>
            </a:r>
            <a:endParaRPr lang="en-SG" sz="1600" b="1" dirty="0"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4024" y="2347452"/>
            <a:ext cx="1524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Gluon propagator: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78064" y="4953000"/>
                <a:ext cx="5055936" cy="76020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140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𝜔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=0.4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</a:rPr>
                  <a:t> so that the first   term don’t perturb with 2</a:t>
                </a:r>
                <a:r>
                  <a:rPr lang="en-SG" sz="1400" baseline="30000" dirty="0">
                    <a:solidFill>
                      <a:schemeClr val="bg1"/>
                    </a:solidFill>
                  </a:rPr>
                  <a:t>nd</a:t>
                </a:r>
                <a:r>
                  <a:rPr lang="en-SG" sz="1400" dirty="0">
                    <a:solidFill>
                      <a:schemeClr val="bg1"/>
                    </a:solidFill>
                  </a:rPr>
                  <a:t> in UV region.</a:t>
                </a:r>
              </a:p>
              <a:p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𝐷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=0.93</m:t>
                    </m:r>
                  </m:oMath>
                </a14:m>
                <a:r>
                  <a:rPr lang="en-SG" sz="1400" dirty="0">
                    <a:solidFill>
                      <a:schemeClr val="bg1"/>
                    </a:solidFill>
                  </a:rPr>
                  <a:t> GeV</a:t>
                </a:r>
                <a:r>
                  <a:rPr lang="en-SG" sz="1400" baseline="30000" dirty="0">
                    <a:solidFill>
                      <a:schemeClr val="bg1"/>
                    </a:solidFill>
                  </a:rPr>
                  <a:t>2</a:t>
                </a:r>
                <a:r>
                  <a:rPr lang="en-SG" sz="1400" dirty="0">
                    <a:solidFill>
                      <a:schemeClr val="bg1"/>
                    </a:solidFill>
                  </a:rPr>
                  <a:t> is fitted to </a:t>
                </a:r>
                <a:r>
                  <a:rPr lang="en-SG" sz="1400" dirty="0" err="1">
                    <a:solidFill>
                      <a:schemeClr val="bg1"/>
                    </a:solidFill>
                  </a:rPr>
                  <a:t>lQCD</a:t>
                </a:r>
                <a:r>
                  <a:rPr lang="en-SG" sz="1400" dirty="0">
                    <a:solidFill>
                      <a:schemeClr val="bg1"/>
                    </a:solidFill>
                  </a:rPr>
                  <a:t> result of quark </a:t>
                </a:r>
                <a:r>
                  <a:rPr lang="en-US" sz="1400" dirty="0">
                    <a:solidFill>
                      <a:schemeClr val="bg1"/>
                    </a:solidFill>
                  </a:rPr>
                  <a:t>condensate ,</a:t>
                </a:r>
              </a:p>
              <a:p>
                <a14:m>
                  <m:oMath xmlns:m="http://schemas.openxmlformats.org/officeDocument/2006/math">
                    <m:r>
                      <a:rPr lang="en-US" sz="1400" b="0" i="0" smtClean="0">
                        <a:solidFill>
                          <a:schemeClr val="bg1"/>
                        </a:solidFill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sz="1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sz="14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solidFill>
                                      <a:schemeClr val="bg1"/>
                                    </a:solidFill>
                                    <a:latin typeface="Cambria Math"/>
                                  </a:rPr>
                                  <m:t>𝑞</m:t>
                                </m:r>
                              </m:e>
                            </m:acc>
                            <m: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</m:d>
                      </m:e>
                      <m:sub>
                        <m:r>
                          <a:rPr lang="en-US" sz="140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=1 </m:t>
                        </m:r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𝐺𝑒𝑉</m:t>
                        </m:r>
                      </m:sub>
                    </m:sSub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400" i="1">
                                <a:solidFill>
                                  <a:schemeClr val="bg1"/>
                                </a:solidFill>
                                <a:latin typeface="Cambria Math"/>
                              </a:rPr>
                              <m:t>0.241</m:t>
                            </m:r>
                          </m:e>
                        </m:d>
                      </m:e>
                      <m:sup>
                        <m:r>
                          <a:rPr lang="en-US" sz="14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1400" dirty="0">
                    <a:solidFill>
                      <a:schemeClr val="bg1"/>
                    </a:solidFill>
                  </a:rPr>
                  <a:t>GeV</a:t>
                </a:r>
                <a:r>
                  <a:rPr lang="en-SG" sz="1400" baseline="30000" dirty="0">
                    <a:solidFill>
                      <a:schemeClr val="bg1"/>
                    </a:solidFill>
                  </a:rPr>
                  <a:t>3</a:t>
                </a:r>
                <a:r>
                  <a:rPr lang="en-SG" sz="1400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064" y="4953000"/>
                <a:ext cx="5055936" cy="760208"/>
              </a:xfrm>
              <a:prstGeom prst="rect">
                <a:avLst/>
              </a:prstGeom>
              <a:blipFill rotWithShape="0">
                <a:blip r:embed="rId17"/>
                <a:stretch>
                  <a:fillRect t="-1613" b="-56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3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599" y="4371909"/>
            <a:ext cx="3006183" cy="20542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918537" y="4648200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MT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1696" y="5300990"/>
            <a:ext cx="837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Perturbative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152400" y="5909846"/>
            <a:ext cx="5840958" cy="33855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This model does not include any </a:t>
            </a:r>
            <a:r>
              <a:rPr lang="en-US" sz="1600" i="1" dirty="0" err="1">
                <a:solidFill>
                  <a:schemeClr val="bg1"/>
                </a:solidFill>
              </a:rPr>
              <a:t>N</a:t>
            </a:r>
            <a:r>
              <a:rPr lang="en-US" sz="1600" i="1" baseline="-25000" dirty="0" err="1">
                <a:solidFill>
                  <a:schemeClr val="bg1"/>
                </a:solidFill>
              </a:rPr>
              <a:t>f</a:t>
            </a:r>
            <a:r>
              <a:rPr lang="en-US" sz="1600" i="1" dirty="0">
                <a:solidFill>
                  <a:schemeClr val="bg1"/>
                </a:solidFill>
              </a:rPr>
              <a:t> </a:t>
            </a:r>
            <a:r>
              <a:rPr lang="en-US" sz="1600" dirty="0">
                <a:solidFill>
                  <a:schemeClr val="bg1"/>
                </a:solidFill>
              </a:rPr>
              <a:t>dependence in the infrared part.</a:t>
            </a:r>
            <a:endParaRPr lang="en-US" sz="1600" i="1" dirty="0"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86400" y="3429000"/>
            <a:ext cx="2298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(Perturbative calculation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72014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/>
      <p:bldP spid="14" grpId="0"/>
      <p:bldP spid="15" grpId="0"/>
      <p:bldP spid="18" grpId="0" animBg="1"/>
      <p:bldP spid="19" grpId="0"/>
      <p:bldP spid="20" grpId="0" animBg="1"/>
      <p:bldP spid="23" grpId="0"/>
      <p:bldP spid="26" grpId="0"/>
      <p:bldP spid="29" grpId="0"/>
      <p:bldP spid="33" grpId="0"/>
      <p:bldP spid="36" grpId="0"/>
      <p:bldP spid="28" grpId="0" animBg="1"/>
      <p:bldP spid="3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/>
          </p:nvPr>
        </p:nvGraphicFramePr>
        <p:xfrm>
          <a:off x="304800" y="685800"/>
          <a:ext cx="6272212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33" name="Equation" r:id="rId3" imgW="4495680" imgH="444240" progId="Equation.3">
                  <p:embed/>
                </p:oleObj>
              </mc:Choice>
              <mc:Fallback>
                <p:oleObj name="Equation" r:id="rId3" imgW="44956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685800"/>
                        <a:ext cx="6272212" cy="620713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415912"/>
              </p:ext>
            </p:extLst>
          </p:nvPr>
        </p:nvGraphicFramePr>
        <p:xfrm>
          <a:off x="455648" y="3208465"/>
          <a:ext cx="1715008" cy="545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34" name="Equation" r:id="rId5" imgW="1396800" imgH="444240" progId="Equation.3">
                  <p:embed/>
                </p:oleObj>
              </mc:Choice>
              <mc:Fallback>
                <p:oleObj name="Equation" r:id="rId5" imgW="139680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5648" y="3208465"/>
                        <a:ext cx="1715008" cy="54568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2700" y="2286000"/>
            <a:ext cx="18669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</a:rPr>
              <a:t>Renormalization BC: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6862618"/>
              </p:ext>
            </p:extLst>
          </p:nvPr>
        </p:nvGraphicFramePr>
        <p:xfrm>
          <a:off x="443260" y="2618471"/>
          <a:ext cx="1842740" cy="553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35" name="Equation" r:id="rId7" imgW="1473120" imgH="444240" progId="Equation.3">
                  <p:embed/>
                </p:oleObj>
              </mc:Choice>
              <mc:Fallback>
                <p:oleObj name="Equation" r:id="rId7" imgW="1473120" imgH="4442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3260" y="2618471"/>
                        <a:ext cx="1842740" cy="553418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233637" y="196334"/>
            <a:ext cx="6861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Solution of SDE of quark propagator in Rainbow truncation + MT model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1464992"/>
              </p:ext>
            </p:extLst>
          </p:nvPr>
        </p:nvGraphicFramePr>
        <p:xfrm>
          <a:off x="2364205" y="3207549"/>
          <a:ext cx="1064795" cy="5513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36" name="Equation" r:id="rId9" imgW="1104840" imgH="571320" progId="Equation.3">
                  <p:embed/>
                </p:oleObj>
              </mc:Choice>
              <mc:Fallback>
                <p:oleObj name="Equation" r:id="rId9" imgW="1104840" imgH="5713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364205" y="3207549"/>
                        <a:ext cx="1064795" cy="55131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04800" y="1496754"/>
                <a:ext cx="542514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bg1"/>
                    </a:solidFill>
                  </a:rPr>
                  <a:t>We need to first fix the renormalization constants Z</a:t>
                </a:r>
                <a:r>
                  <a:rPr lang="en-US" sz="1600" baseline="-25000" dirty="0">
                    <a:solidFill>
                      <a:schemeClr val="bg1"/>
                    </a:solidFill>
                  </a:rPr>
                  <a:t>1</a:t>
                </a:r>
                <a:r>
                  <a:rPr lang="en-US" sz="1600" dirty="0">
                    <a:solidFill>
                      <a:schemeClr val="bg1"/>
                    </a:solidFill>
                  </a:rPr>
                  <a:t> and Z</a:t>
                </a:r>
                <a:r>
                  <a:rPr lang="en-US" sz="1600" baseline="-25000" dirty="0">
                    <a:solidFill>
                      <a:schemeClr val="bg1"/>
                    </a:solidFill>
                  </a:rPr>
                  <a:t>2</a:t>
                </a:r>
                <a:r>
                  <a:rPr lang="en-US" sz="1600" dirty="0">
                    <a:solidFill>
                      <a:schemeClr val="bg1"/>
                    </a:solidFill>
                  </a:rPr>
                  <a:t>.</a:t>
                </a: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SG" sz="1600" dirty="0">
                    <a:solidFill>
                      <a:schemeClr val="bg1"/>
                    </a:solidFill>
                  </a:rPr>
                  <a:t> (WGTI of quark-gluon vertex)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SG" sz="1600" dirty="0">
                    <a:solidFill>
                      <a:schemeClr val="bg1"/>
                    </a:solidFill>
                  </a:rPr>
                  <a:t>On-mass shell renormalization scheme.</a:t>
                </a:r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1496754"/>
                <a:ext cx="5425140" cy="830997"/>
              </a:xfrm>
              <a:prstGeom prst="rect">
                <a:avLst/>
              </a:prstGeom>
              <a:blipFill rotWithShape="0">
                <a:blip r:embed="rId11"/>
                <a:stretch>
                  <a:fillRect l="-449" t="-2206" b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flipV="1">
            <a:off x="3352800" y="3092734"/>
            <a:ext cx="762000" cy="4293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440906" y="2730434"/>
            <a:ext cx="2250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Renormalized current mass </a:t>
            </a:r>
          </a:p>
        </p:txBody>
      </p:sp>
      <p:graphicFrame>
        <p:nvGraphicFramePr>
          <p:cNvPr id="1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189803"/>
              </p:ext>
            </p:extLst>
          </p:nvPr>
        </p:nvGraphicFramePr>
        <p:xfrm>
          <a:off x="466798" y="3886200"/>
          <a:ext cx="5400602" cy="11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37" name="Equation" r:id="rId12" imgW="4698720" imgH="1041120" progId="Equation.3">
                  <p:embed/>
                </p:oleObj>
              </mc:Choice>
              <mc:Fallback>
                <p:oleObj name="Equation" r:id="rId12" imgW="4698720" imgH="10411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466798" y="3886200"/>
                        <a:ext cx="5400602" cy="1198675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1235656"/>
              </p:ext>
            </p:extLst>
          </p:nvPr>
        </p:nvGraphicFramePr>
        <p:xfrm>
          <a:off x="484029" y="5181600"/>
          <a:ext cx="5764371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738" name="Equation" r:id="rId14" imgW="4559040" imgH="1130040" progId="Equation.3">
                  <p:embed/>
                </p:oleObj>
              </mc:Choice>
              <mc:Fallback>
                <p:oleObj name="Equation" r:id="rId14" imgW="4559040" imgH="1130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84029" y="5181600"/>
                        <a:ext cx="5764371" cy="1431925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3165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1" name="Picture 7" descr="C:\My Projects\DSE-BSE Project\math programs\multi core\ms.bmp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639096"/>
            <a:ext cx="4427984" cy="307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C:\My Projects\DSE-BSE Project\math programs\multi core\fs.bmp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48" y="642043"/>
            <a:ext cx="4257678" cy="30749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8028384" y="214526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u/d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44566" y="1535668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59314" y="1154668"/>
            <a:ext cx="248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075" y="880646"/>
            <a:ext cx="2920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57200" y="3886200"/>
                <a:ext cx="2028119" cy="1099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SG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𝑢</m:t>
                        </m:r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/</m:t>
                        </m:r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𝑑</m:t>
                        </m:r>
                      </m:sub>
                    </m:sSub>
                    <m:r>
                      <a:rPr lang="en-SG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=0.00374</m:t>
                    </m:r>
                  </m:oMath>
                </a14:m>
                <a:r>
                  <a:rPr lang="en-SG" sz="1600" b="0" dirty="0">
                    <a:solidFill>
                      <a:schemeClr val="bg1"/>
                    </a:solidFill>
                  </a:rPr>
                  <a:t> GeV</a:t>
                </a:r>
              </a:p>
              <a:p>
                <a14:m>
                  <m:oMath xmlns:m="http://schemas.openxmlformats.org/officeDocument/2006/math">
                    <m:r>
                      <a:rPr lang="en-SG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    </m:t>
                    </m:r>
                    <m:sSub>
                      <m:sSubPr>
                        <m:ctrlPr>
                          <a:rPr lang="en-SG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𝑠</m:t>
                        </m:r>
                      </m:sub>
                    </m:sSub>
                    <m:r>
                      <a:rPr lang="en-SG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=0.083</m:t>
                    </m:r>
                  </m:oMath>
                </a14:m>
                <a:r>
                  <a:rPr lang="en-SG" sz="1600" b="0" dirty="0">
                    <a:solidFill>
                      <a:schemeClr val="bg1"/>
                    </a:solidFill>
                  </a:rPr>
                  <a:t> GeV</a:t>
                </a:r>
              </a:p>
              <a:p>
                <a14:m>
                  <m:oMath xmlns:m="http://schemas.openxmlformats.org/officeDocument/2006/math">
                    <m:r>
                      <a:rPr lang="en-SG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    </m:t>
                    </m:r>
                    <m:sSub>
                      <m:sSubPr>
                        <m:ctrlP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  <m:r>
                      <a:rPr lang="en-SG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=0.88</m:t>
                    </m:r>
                  </m:oMath>
                </a14:m>
                <a:r>
                  <a:rPr lang="en-SG" sz="1600" b="0" dirty="0">
                    <a:solidFill>
                      <a:schemeClr val="bg1"/>
                    </a:solidFill>
                  </a:rPr>
                  <a:t> GeV</a:t>
                </a:r>
              </a:p>
              <a:p>
                <a14:m>
                  <m:oMath xmlns:m="http://schemas.openxmlformats.org/officeDocument/2006/math">
                    <m:r>
                      <a:rPr lang="en-SG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    </m:t>
                    </m:r>
                    <m:sSub>
                      <m:sSubPr>
                        <m:ctrlP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SG" sz="1600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SG" sz="1600" b="0" i="1" smtClean="0">
                        <a:solidFill>
                          <a:schemeClr val="bg1"/>
                        </a:solidFill>
                        <a:latin typeface="Cambria Math"/>
                      </a:rPr>
                      <m:t>=3.8</m:t>
                    </m:r>
                  </m:oMath>
                </a14:m>
                <a:r>
                  <a:rPr lang="en-SG" sz="1600" b="0" dirty="0">
                    <a:solidFill>
                      <a:schemeClr val="bg1"/>
                    </a:solidFill>
                  </a:rPr>
                  <a:t> GeV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86200"/>
                <a:ext cx="2028119" cy="1099340"/>
              </a:xfrm>
              <a:prstGeom prst="rect">
                <a:avLst/>
              </a:prstGeom>
              <a:blipFill rotWithShape="0">
                <a:blip r:embed="rId7"/>
                <a:stretch>
                  <a:fillRect t="-1111" r="-300" b="-6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ight Brace 15"/>
          <p:cNvSpPr/>
          <p:nvPr/>
        </p:nvSpPr>
        <p:spPr>
          <a:xfrm>
            <a:off x="2346587" y="3919195"/>
            <a:ext cx="371296" cy="1066345"/>
          </a:xfrm>
          <a:prstGeom prst="rightBrace">
            <a:avLst/>
          </a:prstGeom>
          <a:ln>
            <a:solidFill>
              <a:srgbClr val="92D050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717883" y="4257092"/>
                <a:ext cx="119385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160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𝜇</m:t>
                    </m:r>
                    <m:r>
                      <a:rPr lang="en-SG" sz="1600" b="0" i="1" smtClean="0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=19</m:t>
                    </m:r>
                  </m:oMath>
                </a14:m>
                <a:r>
                  <a:rPr lang="en-SG" sz="1600" dirty="0">
                    <a:solidFill>
                      <a:schemeClr val="bg1"/>
                    </a:solidFill>
                  </a:rPr>
                  <a:t> GeV</a:t>
                </a:r>
                <a:endParaRPr lang="en-SG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883" y="4257092"/>
                <a:ext cx="1193853" cy="338554"/>
              </a:xfrm>
              <a:prstGeom prst="rect">
                <a:avLst/>
              </a:prstGeom>
              <a:blipFill rotWithShape="0">
                <a:blip r:embed="rId8"/>
                <a:stretch>
                  <a:fillRect t="-5357" r="-153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2959993" y="228600"/>
            <a:ext cx="3408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Quark Propagator using MT model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95066" y="3816824"/>
            <a:ext cx="427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How the model generates Dynamical mass?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664370" y="4267200"/>
            <a:ext cx="4201278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1</a:t>
            </a:r>
            <a:r>
              <a:rPr lang="en-US" sz="1400" baseline="30000" dirty="0">
                <a:solidFill>
                  <a:schemeClr val="bg1"/>
                </a:solidFill>
              </a:rPr>
              <a:t>st</a:t>
            </a:r>
            <a:r>
              <a:rPr lang="en-US" sz="1400" dirty="0">
                <a:solidFill>
                  <a:schemeClr val="bg1"/>
                </a:solidFill>
              </a:rPr>
              <a:t> term  of the MT model enhance 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the coupling strength in IR region through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the controlling parameter 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It is this enhancement which generates  dynamical</a:t>
            </a:r>
          </a:p>
          <a:p>
            <a:r>
              <a:rPr lang="en-US" sz="1400" dirty="0">
                <a:solidFill>
                  <a:schemeClr val="bg1"/>
                </a:solidFill>
              </a:rPr>
              <a:t>       mass in IR region.</a:t>
            </a:r>
            <a:endParaRPr lang="en-SG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Gradual decrease in parameter D shows that DCS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restored if D &lt; 0.261.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198929" y="5867638"/>
          <a:ext cx="4677871" cy="539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143" name="Equation" r:id="rId9" imgW="4292280" imgH="495000" progId="Equation.3">
                  <p:embed/>
                </p:oleObj>
              </mc:Choice>
              <mc:Fallback>
                <p:oleObj name="Equation" r:id="rId9" imgW="4292280" imgH="495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929" y="5867638"/>
                        <a:ext cx="4677871" cy="539805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48893" y="5469522"/>
            <a:ext cx="3535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MT model of gluon propagator function:</a:t>
            </a:r>
            <a:endParaRPr lang="en-SG" sz="1600" dirty="0">
              <a:solidFill>
                <a:schemeClr val="bg1"/>
              </a:solidFill>
            </a:endParaRPr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436" y="727006"/>
            <a:ext cx="4612364" cy="2940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Connector 7"/>
          <p:cNvCxnSpPr/>
          <p:nvPr/>
        </p:nvCxnSpPr>
        <p:spPr>
          <a:xfrm flipV="1">
            <a:off x="5363496" y="880646"/>
            <a:ext cx="2664888" cy="114659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59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4" grpId="0"/>
      <p:bldP spid="5" grpId="0"/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629076"/>
            <a:ext cx="4813189" cy="31047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228600"/>
            <a:ext cx="3503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Comparison with Qu-</a:t>
            </a:r>
            <a:r>
              <a:rPr lang="en-US" dirty="0" err="1">
                <a:solidFill>
                  <a:schemeClr val="bg1"/>
                </a:solidFill>
              </a:rPr>
              <a:t>lQCD</a:t>
            </a:r>
            <a:r>
              <a:rPr lang="en-US" dirty="0">
                <a:solidFill>
                  <a:schemeClr val="bg1"/>
                </a:solidFill>
              </a:rPr>
              <a:t> results: </a:t>
            </a:r>
          </a:p>
        </p:txBody>
      </p:sp>
      <p:pic>
        <p:nvPicPr>
          <p:cNvPr id="4" name="Picture 11" descr="C:\Users\Faisal Akram\Desktop\Untitl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637" y="4191000"/>
            <a:ext cx="3925242" cy="1079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6200" y="4458575"/>
            <a:ext cx="990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dirty="0" err="1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hBSE</a:t>
            </a:r>
            <a:r>
              <a:rPr lang="en-SG" sz="2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6844" y="5918373"/>
            <a:ext cx="16911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</a:rPr>
              <a:t>Ladder Truncation</a:t>
            </a:r>
          </a:p>
          <a:p>
            <a:r>
              <a:rPr lang="en-SG" sz="1600" dirty="0">
                <a:solidFill>
                  <a:schemeClr val="bg1"/>
                </a:solidFill>
              </a:rPr>
              <a:t>MT model</a:t>
            </a:r>
          </a:p>
        </p:txBody>
      </p:sp>
      <p:pic>
        <p:nvPicPr>
          <p:cNvPr id="7" name="Picture 10" descr="C:\Users\Faisal Akram\Desktop\Untitled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618" y="5748799"/>
            <a:ext cx="657225" cy="9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4658230" y="4981972"/>
            <a:ext cx="0" cy="576064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457200"/>
            <a:ext cx="2923809" cy="17428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1171" y="2286000"/>
            <a:ext cx="3400000" cy="27238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962400"/>
            <a:ext cx="4218094" cy="26342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34462" y="4038600"/>
            <a:ext cx="1708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Pion form factor</a:t>
            </a:r>
          </a:p>
        </p:txBody>
      </p:sp>
    </p:spTree>
    <p:extLst>
      <p:ext uri="{BB962C8B-B14F-4D97-AF65-F5344CB8AC3E}">
        <p14:creationId xmlns:p14="http://schemas.microsoft.com/office/powerpoint/2010/main" val="94024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57200" y="381000"/>
                <a:ext cx="4358437" cy="31700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u="sng" dirty="0">
                    <a:solidFill>
                      <a:srgbClr val="FFFF00"/>
                    </a:solidFill>
                  </a:rPr>
                  <a:t>Troubles with MT model:</a:t>
                </a:r>
              </a:p>
              <a:p>
                <a:endParaRPr lang="en-US" sz="2000" dirty="0">
                  <a:solidFill>
                    <a:srgbClr val="FFFF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FFFF00"/>
                    </a:solidFill>
                  </a:rPr>
                  <a:t>Rainbow truncation breaks Gauge invariance </a:t>
                </a:r>
              </a:p>
              <a:p>
                <a:r>
                  <a:rPr lang="en-US" sz="1600" dirty="0">
                    <a:solidFill>
                      <a:srgbClr val="FFFF00"/>
                    </a:solidFill>
                  </a:rPr>
                  <a:t>      as the WGTI/STI of quark-gluon is not satisfied.</a:t>
                </a:r>
              </a:p>
              <a:p>
                <a:endParaRPr lang="en-US" sz="1600" dirty="0">
                  <a:solidFill>
                    <a:srgbClr val="FFFF00"/>
                  </a:solidFill>
                </a:endParaRPr>
              </a:p>
              <a:p>
                <a:r>
                  <a:rPr lang="en-US" sz="1600" dirty="0">
                    <a:solidFill>
                      <a:srgbClr val="FFFF00"/>
                    </a:solidFill>
                  </a:rPr>
                  <a:t>As a result physical observable may develop</a:t>
                </a:r>
              </a:p>
              <a:p>
                <a:r>
                  <a:rPr lang="en-US" sz="1600" dirty="0">
                    <a:solidFill>
                      <a:srgbClr val="FFFF00"/>
                    </a:solidFill>
                  </a:rPr>
                  <a:t>dependence on gauge fixing parameter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sz="1600" dirty="0">
                    <a:solidFill>
                      <a:srgbClr val="FFFF00"/>
                    </a:solidFill>
                  </a:rPr>
                  <a:t>.</a:t>
                </a:r>
              </a:p>
              <a:p>
                <a:endParaRPr lang="en-US" sz="1600" dirty="0">
                  <a:solidFill>
                    <a:srgbClr val="FFFF0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rgbClr val="FFFF00"/>
                    </a:solidFill>
                  </a:rPr>
                  <a:t>Violates multiplicative </a:t>
                </a:r>
                <a:r>
                  <a:rPr lang="en-US" sz="1600" dirty="0" err="1">
                    <a:solidFill>
                      <a:srgbClr val="FFFF00"/>
                    </a:solidFill>
                  </a:rPr>
                  <a:t>renormalizability</a:t>
                </a:r>
                <a:r>
                  <a:rPr lang="en-US" sz="1600" dirty="0">
                    <a:solidFill>
                      <a:srgbClr val="FFFF00"/>
                    </a:solidFill>
                  </a:rPr>
                  <a:t>.</a:t>
                </a:r>
              </a:p>
              <a:p>
                <a:endParaRPr lang="en-US" sz="1600" dirty="0">
                  <a:solidFill>
                    <a:srgbClr val="FFFF00"/>
                  </a:solidFill>
                </a:endParaRPr>
              </a:p>
              <a:p>
                <a:r>
                  <a:rPr lang="en-US" sz="1600" dirty="0">
                    <a:solidFill>
                      <a:srgbClr val="FFFF00"/>
                    </a:solidFill>
                  </a:rPr>
                  <a:t>As a result physical observable may develop</a:t>
                </a:r>
              </a:p>
              <a:p>
                <a:r>
                  <a:rPr lang="en-US" sz="1600" dirty="0">
                    <a:solidFill>
                      <a:srgbClr val="FFFF00"/>
                    </a:solidFill>
                  </a:rPr>
                  <a:t>dependence on arbitrary scale parameter </a:t>
                </a:r>
                <a14:m>
                  <m:oMath xmlns:m="http://schemas.openxmlformats.org/officeDocument/2006/math">
                    <m:r>
                      <a:rPr lang="en-US" sz="16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1600" dirty="0">
                    <a:solidFill>
                      <a:srgbClr val="FFFF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81000"/>
                <a:ext cx="4358437" cy="3170099"/>
              </a:xfrm>
              <a:prstGeom prst="rect">
                <a:avLst/>
              </a:prstGeom>
              <a:blipFill rotWithShape="0">
                <a:blip r:embed="rId3"/>
                <a:stretch>
                  <a:fillRect l="-1399" t="-1154" b="-1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2" descr="C:\Users\Faisal Akram\Desktop\Untitled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7006" y="514448"/>
            <a:ext cx="844994" cy="857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C:\Users\Faisal Akram\Desktop\Untitled1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5695" y="586058"/>
            <a:ext cx="1025105" cy="785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/>
          <p:cNvSpPr/>
          <p:nvPr/>
        </p:nvSpPr>
        <p:spPr>
          <a:xfrm>
            <a:off x="6781800" y="838200"/>
            <a:ext cx="533400" cy="304800"/>
          </a:xfrm>
          <a:prstGeom prst="rightArrow">
            <a:avLst/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84035" y="1565983"/>
                <a:ext cx="1988365" cy="491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l-G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l-G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)→</m:t>
                      </m:r>
                      <m:sSub>
                        <m:sSubPr>
                          <m:ctrlPr>
                            <a:rPr lang="el-G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l-G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l-GR" sz="24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035" y="1565983"/>
                <a:ext cx="1988365" cy="491417"/>
              </a:xfrm>
              <a:prstGeom prst="rect">
                <a:avLst/>
              </a:prstGeom>
              <a:blipFill rotWithShape="0">
                <a:blip r:embed="rId6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28600" y="3669268"/>
            <a:ext cx="3232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Kizilersu</a:t>
            </a:r>
            <a:r>
              <a:rPr lang="en-US" dirty="0">
                <a:solidFill>
                  <a:schemeClr val="bg1"/>
                </a:solidFill>
              </a:rPr>
              <a:t> Pennington (KP) Vertex:</a:t>
            </a:r>
            <a:endParaRPr lang="en-SG" dirty="0">
              <a:solidFill>
                <a:schemeClr val="bg1"/>
              </a:solidFill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345241" y="4039192"/>
          <a:ext cx="2930445" cy="532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2" name="Equation" r:id="rId7" imgW="1955520" imgH="355320" progId="Equation.3">
                  <p:embed/>
                </p:oleObj>
              </mc:Choice>
              <mc:Fallback>
                <p:oleObj name="Equation" r:id="rId7" imgW="19555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241" y="4039192"/>
                        <a:ext cx="2930445" cy="532808"/>
                      </a:xfrm>
                      <a:prstGeom prst="rect">
                        <a:avLst/>
                      </a:prstGeom>
                      <a:solidFill>
                        <a:srgbClr val="92D05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/>
          </p:nvPr>
        </p:nvGraphicFramePr>
        <p:xfrm>
          <a:off x="358314" y="4675188"/>
          <a:ext cx="5418138" cy="149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303" name="Equation" r:id="rId9" imgW="5105160" imgH="1409400" progId="Equation.3">
                  <p:embed/>
                </p:oleObj>
              </mc:Choice>
              <mc:Fallback>
                <p:oleObj name="Equation" r:id="rId9" imgW="5105160" imgH="1409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58314" y="4675188"/>
                        <a:ext cx="5418138" cy="1497012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34397" y="6214646"/>
            <a:ext cx="6040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>
                <a:solidFill>
                  <a:schemeClr val="bg1"/>
                </a:solidFill>
              </a:rPr>
              <a:t>KP vertex satisfies the condition of MR in un-quenched approximation</a:t>
            </a:r>
            <a:endParaRPr lang="en-SG" sz="16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5819" y="533400"/>
            <a:ext cx="3685781" cy="248317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81600" y="228600"/>
            <a:ext cx="2936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Quark Mass functions using KP Vertex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 flipV="1">
            <a:off x="3581400" y="2743200"/>
            <a:ext cx="1447800" cy="1562396"/>
          </a:xfrm>
          <a:prstGeom prst="straightConnector1">
            <a:avLst/>
          </a:prstGeom>
          <a:ln w="698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545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1063823"/>
            <a:ext cx="2238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 Propagator:</a:t>
            </a:r>
          </a:p>
        </p:txBody>
      </p:sp>
      <p:pic>
        <p:nvPicPr>
          <p:cNvPr id="3" name="Picture 3" descr="C:\Users\Faisal Akram\Desktop\Untitled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53" y="1421286"/>
            <a:ext cx="4371825" cy="7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793534" y="1337413"/>
            <a:ext cx="440826" cy="4001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896622"/>
              </p:ext>
            </p:extLst>
          </p:nvPr>
        </p:nvGraphicFramePr>
        <p:xfrm>
          <a:off x="381000" y="2186353"/>
          <a:ext cx="4725970" cy="5303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2" name="Equation" r:id="rId4" imgW="3962160" imgH="444240" progId="Equation.3">
                  <p:embed/>
                </p:oleObj>
              </mc:Choice>
              <mc:Fallback>
                <p:oleObj name="Equation" r:id="rId4" imgW="396216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2186353"/>
                        <a:ext cx="4725970" cy="53033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885981" y="82079"/>
            <a:ext cx="3510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Critical number of quark flavors in QCD</a:t>
            </a:r>
            <a:endParaRPr lang="en-SG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04024" y="2816423"/>
                <a:ext cx="31732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Gluon propagator (in Landau gauge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</m:oMath>
                </a14:m>
                <a:r>
                  <a:rPr lang="en-US" sz="1400" dirty="0">
                    <a:solidFill>
                      <a:schemeClr val="bg1"/>
                    </a:solidFill>
                  </a:rPr>
                  <a:t>=0):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24" y="2816423"/>
                <a:ext cx="3173241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577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91768"/>
            <a:ext cx="3593523" cy="2432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0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4484242"/>
              </p:ext>
            </p:extLst>
          </p:nvPr>
        </p:nvGraphicFramePr>
        <p:xfrm>
          <a:off x="4572000" y="4336761"/>
          <a:ext cx="3804227" cy="6162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3" name="Equation" r:id="rId8" imgW="3060360" imgH="495000" progId="Equation.3">
                  <p:embed/>
                </p:oleObj>
              </mc:Choice>
              <mc:Fallback>
                <p:oleObj name="Equation" r:id="rId8" imgW="3060360" imgH="4950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572000" y="4336761"/>
                        <a:ext cx="3804227" cy="616239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1230029"/>
              </p:ext>
            </p:extLst>
          </p:nvPr>
        </p:nvGraphicFramePr>
        <p:xfrm>
          <a:off x="4572000" y="5048723"/>
          <a:ext cx="2495017" cy="8186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4" name="Equation" r:id="rId10" imgW="2438280" imgH="799920" progId="Equation.3">
                  <p:embed/>
                </p:oleObj>
              </mc:Choice>
              <mc:Fallback>
                <p:oleObj name="Equation" r:id="rId10" imgW="2438280" imgH="79992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572000" y="5048723"/>
                        <a:ext cx="2495017" cy="818677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249481"/>
              </p:ext>
            </p:extLst>
          </p:nvPr>
        </p:nvGraphicFramePr>
        <p:xfrm>
          <a:off x="448541" y="3191164"/>
          <a:ext cx="2675659" cy="5426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745" name="Equation" r:id="rId12" imgW="2374560" imgH="482400" progId="Equation.3">
                  <p:embed/>
                </p:oleObj>
              </mc:Choice>
              <mc:Fallback>
                <p:oleObj name="Equation" r:id="rId12" imgW="23745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541" y="3191164"/>
                        <a:ext cx="2675659" cy="542636"/>
                      </a:xfrm>
                      <a:prstGeom prst="rect">
                        <a:avLst/>
                      </a:prstGeom>
                      <a:solidFill>
                        <a:srgbClr val="FDEADA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" name="Picture 7" descr="C:\Users\Faisal Akram\Desktop\Untitled1.jp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054315"/>
            <a:ext cx="3269090" cy="755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553200" y="3262695"/>
                <a:ext cx="386837" cy="29181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SG" sz="12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𝑁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SG" sz="12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200" y="3262695"/>
                <a:ext cx="386837" cy="291811"/>
              </a:xfrm>
              <a:prstGeom prst="rect">
                <a:avLst/>
              </a:prstGeom>
              <a:blipFill rotWithShape="0">
                <a:blip r:embed="rId15"/>
                <a:stretch>
                  <a:fillRect b="-2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6927530" y="3249706"/>
            <a:ext cx="7745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>
                <a:solidFill>
                  <a:schemeClr val="bg1"/>
                </a:solidFill>
              </a:rPr>
              <a:t>+ 5 terms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4587" y="6324600"/>
            <a:ext cx="538801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A. Ayala, A. Bashir, D. </a:t>
            </a:r>
            <a:r>
              <a:rPr lang="en-US" sz="1000" dirty="0" err="1">
                <a:solidFill>
                  <a:schemeClr val="bg1"/>
                </a:solidFill>
              </a:rPr>
              <a:t>Binosi</a:t>
            </a:r>
            <a:r>
              <a:rPr lang="en-US" sz="1000" dirty="0">
                <a:solidFill>
                  <a:schemeClr val="bg1"/>
                </a:solidFill>
              </a:rPr>
              <a:t> M. </a:t>
            </a:r>
            <a:r>
              <a:rPr lang="en-US" sz="1000" dirty="0" err="1">
                <a:solidFill>
                  <a:schemeClr val="bg1"/>
                </a:solidFill>
              </a:rPr>
              <a:t>Cristofretti</a:t>
            </a:r>
            <a:r>
              <a:rPr lang="en-US" sz="1000" dirty="0">
                <a:solidFill>
                  <a:schemeClr val="bg1"/>
                </a:solidFill>
              </a:rPr>
              <a:t>, and J. Rodriguez-</a:t>
            </a:r>
            <a:r>
              <a:rPr lang="en-US" sz="1000" dirty="0" err="1">
                <a:solidFill>
                  <a:schemeClr val="bg1"/>
                </a:solidFill>
              </a:rPr>
              <a:t>Quintro</a:t>
            </a:r>
            <a:r>
              <a:rPr lang="en-US" sz="1000" dirty="0">
                <a:solidFill>
                  <a:schemeClr val="bg1"/>
                </a:solidFill>
              </a:rPr>
              <a:t>, Phys. Rev. D 86, 074512 (2012)</a:t>
            </a:r>
            <a:endParaRPr lang="en-SG" sz="10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46883" y="3928646"/>
            <a:ext cx="3957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Fit with Refined </a:t>
            </a:r>
            <a:r>
              <a:rPr lang="en-US" sz="1600" dirty="0" err="1">
                <a:solidFill>
                  <a:schemeClr val="bg1"/>
                </a:solidFill>
              </a:rPr>
              <a:t>Gribov-Zwanziger</a:t>
            </a:r>
            <a:r>
              <a:rPr lang="en-US" sz="1600" dirty="0">
                <a:solidFill>
                  <a:schemeClr val="bg1"/>
                </a:solidFill>
              </a:rPr>
              <a:t> (RGZ) form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4392690" y="1828800"/>
            <a:ext cx="440826" cy="40012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TextBox 4"/>
          <p:cNvSpPr txBox="1"/>
          <p:nvPr/>
        </p:nvSpPr>
        <p:spPr>
          <a:xfrm>
            <a:off x="440253" y="420633"/>
            <a:ext cx="6999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Asymptotic freedom requires that </a:t>
            </a:r>
            <a:r>
              <a:rPr lang="en-US" sz="1400" i="1" dirty="0" err="1">
                <a:solidFill>
                  <a:schemeClr val="bg1"/>
                </a:solidFill>
              </a:rPr>
              <a:t>N</a:t>
            </a:r>
            <a:r>
              <a:rPr lang="en-US" sz="1400" i="1" baseline="-25000" dirty="0" err="1">
                <a:solidFill>
                  <a:schemeClr val="bg1"/>
                </a:solidFill>
              </a:rPr>
              <a:t>f</a:t>
            </a:r>
            <a:r>
              <a:rPr lang="en-US" sz="1400" dirty="0">
                <a:solidFill>
                  <a:schemeClr val="bg1"/>
                </a:solidFill>
              </a:rPr>
              <a:t> &gt; 16.5 (at 1 loop order).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Dynamical breaking of chiral symmetry may also require a critical number of quark flavors.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234360" y="1337413"/>
            <a:ext cx="57771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953000" y="1066800"/>
            <a:ext cx="371544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MT model does not allow as to study the flavor </a:t>
            </a:r>
          </a:p>
          <a:p>
            <a:r>
              <a:rPr lang="en-US" sz="1400" dirty="0">
                <a:solidFill>
                  <a:schemeClr val="bg1"/>
                </a:solidFill>
              </a:rPr>
              <a:t>dependence of quark propagator in the infrared </a:t>
            </a:r>
          </a:p>
          <a:p>
            <a:r>
              <a:rPr lang="en-US" sz="1400" dirty="0">
                <a:solidFill>
                  <a:schemeClr val="bg1"/>
                </a:solidFill>
              </a:rPr>
              <a:t>region as the gluon propagator is itself taken </a:t>
            </a:r>
          </a:p>
          <a:p>
            <a:r>
              <a:rPr lang="en-US" sz="1400" dirty="0">
                <a:solidFill>
                  <a:schemeClr val="bg1"/>
                </a:solidFill>
              </a:rPr>
              <a:t>Flavor independent. </a:t>
            </a:r>
          </a:p>
        </p:txBody>
      </p:sp>
    </p:spTree>
    <p:extLst>
      <p:ext uri="{BB962C8B-B14F-4D97-AF65-F5344CB8AC3E}">
        <p14:creationId xmlns:p14="http://schemas.microsoft.com/office/powerpoint/2010/main" val="318665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12910"/>
            <a:ext cx="2238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SDE of Quark Propagator:</a:t>
            </a:r>
          </a:p>
        </p:txBody>
      </p:sp>
      <p:pic>
        <p:nvPicPr>
          <p:cNvPr id="3" name="Picture 3" descr="C:\Users\Faisal Akram\Desktop\Untitled1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53" y="622872"/>
            <a:ext cx="4371825" cy="712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733800" y="483574"/>
            <a:ext cx="533400" cy="4841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Oval 4"/>
          <p:cNvSpPr/>
          <p:nvPr/>
        </p:nvSpPr>
        <p:spPr>
          <a:xfrm>
            <a:off x="4346403" y="974763"/>
            <a:ext cx="533400" cy="48414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430212" y="1527175"/>
          <a:ext cx="5894388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8" name="Equation" r:id="rId4" imgW="4940280" imgH="444240" progId="Equation.3">
                  <p:embed/>
                </p:oleObj>
              </mc:Choice>
              <mc:Fallback>
                <p:oleObj name="Equation" r:id="rId4" imgW="4940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212" y="1527175"/>
                        <a:ext cx="5894388" cy="530225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2788091" y="82079"/>
            <a:ext cx="37061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Solution of SDE of the Quark Propagator</a:t>
            </a:r>
            <a:endParaRPr lang="en-SG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29" name="Object 28"/>
          <p:cNvGraphicFramePr>
            <a:graphicFrameLocks noChangeAspect="1"/>
          </p:cNvGraphicFramePr>
          <p:nvPr>
            <p:extLst/>
          </p:nvPr>
        </p:nvGraphicFramePr>
        <p:xfrm>
          <a:off x="443753" y="2438400"/>
          <a:ext cx="2139845" cy="53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639" name="Equation" r:id="rId6" imgW="1917360" imgH="482400" progId="Equation.3">
                  <p:embed/>
                </p:oleObj>
              </mc:Choice>
              <mc:Fallback>
                <p:oleObj name="Equation" r:id="rId6" imgW="1917360" imgH="4824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43753" y="2438400"/>
                        <a:ext cx="2139845" cy="539225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3886200" y="1944786"/>
            <a:ext cx="114300" cy="646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90511" y="2633246"/>
            <a:ext cx="11576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Lattice QCD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5889906" y="1944786"/>
            <a:ext cx="129894" cy="64601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38800" y="2590800"/>
            <a:ext cx="980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KP Vertex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1711" y="3257186"/>
            <a:ext cx="4892289" cy="32960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7212" y="2106706"/>
            <a:ext cx="31367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General form of quarks propagator: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334000" y="6214646"/>
                <a:ext cx="201600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(Current mass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6214646"/>
                <a:ext cx="2016001" cy="338554"/>
              </a:xfrm>
              <a:prstGeom prst="rect">
                <a:avLst/>
              </a:prstGeom>
              <a:blipFill rotWithShape="0">
                <a:blip r:embed="rId9"/>
                <a:stretch>
                  <a:fillRect l="-1511" t="-5357" r="-302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741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787764" y="152400"/>
            <a:ext cx="1554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SG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Final remarks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000" y="736372"/>
                <a:ext cx="7914090" cy="12448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Asymptotic freedom in QCD requires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/>
                      </a:rPr>
                      <m:t>&lt;16.5.</m:t>
                    </m:r>
                  </m:oMath>
                </a14:m>
                <a:endParaRPr lang="en-US" b="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bg1"/>
                    </a:solidFill>
                  </a:rPr>
                  <a:t>Latest lattice results of gluon propagator when used in SDE of quark propagator</a:t>
                </a:r>
              </a:p>
              <a:p>
                <a:r>
                  <a:rPr lang="en-US" dirty="0">
                    <a:solidFill>
                      <a:schemeClr val="bg1"/>
                    </a:solidFill>
                  </a:rPr>
                  <a:t>      truncated by KP vertex  shows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𝑁</m:t>
                        </m:r>
                      </m:e>
                      <m:sub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</a:rPr>
                          <m:t>𝑓</m:t>
                        </m:r>
                      </m:sub>
                    </m:sSub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</a:rPr>
                      <m:t>&lt;</m:t>
                    </m:r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7.2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if QCD is to exhibit DCSB.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736372"/>
                <a:ext cx="7914090" cy="1244828"/>
              </a:xfrm>
              <a:prstGeom prst="rect">
                <a:avLst/>
              </a:prstGeom>
              <a:blipFill rotWithShape="0">
                <a:blip r:embed="rId2"/>
                <a:stretch>
                  <a:fillRect l="-539" t="-2451" b="-53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659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2400" y="762000"/>
            <a:ext cx="1235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Extra slides</a:t>
            </a:r>
          </a:p>
        </p:txBody>
      </p:sp>
    </p:spTree>
    <p:extLst>
      <p:ext uri="{BB962C8B-B14F-4D97-AF65-F5344CB8AC3E}">
        <p14:creationId xmlns:p14="http://schemas.microsoft.com/office/powerpoint/2010/main" val="10092629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9109" y="152400"/>
            <a:ext cx="552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Elementary Particle Physics Today</a:t>
            </a:r>
            <a:endParaRPr lang="en-SG" sz="28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836712"/>
            <a:ext cx="21686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prstClr val="white"/>
                </a:solidFill>
              </a:rPr>
              <a:t>Elementary particles: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1000" y="2099846"/>
            <a:ext cx="825547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Quarks: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333156" y="1981200"/>
                <a:ext cx="2248244" cy="53418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𝑢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𝑑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</a:rPr>
                      <m:t>     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3156" y="1981200"/>
                <a:ext cx="2248244" cy="534185"/>
              </a:xfrm>
              <a:prstGeom prst="rect">
                <a:avLst/>
              </a:prstGeom>
              <a:blipFill rotWithShape="0">
                <a:blip r:embed="rId2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381000" y="2819400"/>
            <a:ext cx="898323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Leptons: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76540" y="2667000"/>
                <a:ext cx="2128660" cy="55207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𝑒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</a:rPr>
                                <m:t>𝑒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</a:rPr>
                      <m:t>     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𝜇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>
                    <a:solidFill>
                      <a:schemeClr val="bg1"/>
                    </a:solidFill>
                  </a:rPr>
                  <a:t>    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bg1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𝜏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𝜏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540" y="2667000"/>
                <a:ext cx="2128660" cy="55207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81000" y="3544668"/>
            <a:ext cx="1415644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Gauge Bosons: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828800" y="3513469"/>
                <a:ext cx="2558393" cy="3727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𝛾</m:t>
                    </m:r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  </m:t>
                    </m:r>
                    <m:sSup>
                      <m:s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𝑊</m:t>
                        </m:r>
                      </m:e>
                      <m:sup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±</m:t>
                        </m:r>
                      </m:sup>
                    </m:sSup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  </m:t>
                    </m:r>
                    <m:sSup>
                      <m:sSup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𝑍</m:t>
                        </m:r>
                      </m:e>
                      <m:sup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0</m:t>
                        </m:r>
                      </m:sup>
                    </m:sSup>
                    <m:r>
                      <a:rPr lang="en-US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,</m:t>
                    </m:r>
                  </m:oMath>
                </a14:m>
                <a:r>
                  <a:rPr lang="en-SG" dirty="0">
                    <a:solidFill>
                      <a:schemeClr val="bg1"/>
                    </a:solidFill>
                  </a:rPr>
                  <a:t> and 8 gluons</a:t>
                </a:r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3513469"/>
                <a:ext cx="2558393" cy="372731"/>
              </a:xfrm>
              <a:prstGeom prst="rect">
                <a:avLst/>
              </a:prstGeom>
              <a:blipFill rotWithShape="0">
                <a:blip r:embed="rId4"/>
                <a:stretch>
                  <a:fillRect t="-6452" r="-1190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381000" y="4157246"/>
            <a:ext cx="1332737" cy="33855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Higgs Bosons:</a:t>
            </a:r>
            <a:endParaRPr lang="en-SG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905000" y="4126468"/>
                <a:ext cx="204286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en-US" dirty="0"/>
                  <a:t> </a:t>
                </a:r>
                <a:r>
                  <a:rPr lang="en-US" sz="1400" dirty="0">
                    <a:solidFill>
                      <a:schemeClr val="bg1"/>
                    </a:solidFill>
                  </a:rPr>
                  <a:t>(God/Mother particle)</a:t>
                </a:r>
                <a:endParaRPr lang="en-US" sz="1400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126468"/>
                <a:ext cx="2042867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167451" y="2057400"/>
            <a:ext cx="9379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Hadrons: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16" name="Left Brace 15"/>
          <p:cNvSpPr/>
          <p:nvPr/>
        </p:nvSpPr>
        <p:spPr>
          <a:xfrm>
            <a:off x="5083887" y="1981200"/>
            <a:ext cx="326313" cy="512177"/>
          </a:xfrm>
          <a:prstGeom prst="leftBrac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455175" y="1929825"/>
                <a:ext cx="1889492" cy="686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Meson: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=0,1,2…</m:t>
                    </m:r>
                  </m:oMath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r>
                  <a:rPr lang="en-US" sz="1600" dirty="0">
                    <a:solidFill>
                      <a:schemeClr val="bg1"/>
                    </a:solidFill>
                  </a:rPr>
                  <a:t>Baryons: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5175" y="1929825"/>
                <a:ext cx="1889492" cy="686213"/>
              </a:xfrm>
              <a:prstGeom prst="rect">
                <a:avLst/>
              </a:prstGeom>
              <a:blipFill rotWithShape="0">
                <a:blip r:embed="rId6"/>
                <a:stretch>
                  <a:fillRect l="-1935" t="-2679" b="-44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>
          <a:xfrm flipV="1">
            <a:off x="3558147" y="2224548"/>
            <a:ext cx="480453" cy="2122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62800" y="2590800"/>
            <a:ext cx="84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Baryon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7162800" y="2971800"/>
            <a:ext cx="838200" cy="828764"/>
            <a:chOff x="2914650" y="4386218"/>
            <a:chExt cx="838200" cy="828764"/>
          </a:xfrm>
        </p:grpSpPr>
        <p:sp>
          <p:nvSpPr>
            <p:cNvPr id="36" name="Oval 35"/>
            <p:cNvSpPr/>
            <p:nvPr/>
          </p:nvSpPr>
          <p:spPr>
            <a:xfrm>
              <a:off x="2914650" y="4386218"/>
              <a:ext cx="838200" cy="828764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3200400" y="4533900"/>
              <a:ext cx="266700" cy="2667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3390900" y="4800600"/>
              <a:ext cx="266700" cy="2667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/>
            <p:cNvSpPr/>
            <p:nvPr/>
          </p:nvSpPr>
          <p:spPr>
            <a:xfrm>
              <a:off x="3048000" y="4800600"/>
              <a:ext cx="266700" cy="2667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Oval 45"/>
          <p:cNvSpPr/>
          <p:nvPr/>
        </p:nvSpPr>
        <p:spPr>
          <a:xfrm>
            <a:off x="5764306" y="2971800"/>
            <a:ext cx="818677" cy="8015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/>
          <p:cNvSpPr/>
          <p:nvPr/>
        </p:nvSpPr>
        <p:spPr>
          <a:xfrm>
            <a:off x="5851099" y="3228109"/>
            <a:ext cx="266700" cy="277091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/>
          <p:cNvSpPr/>
          <p:nvPr/>
        </p:nvSpPr>
        <p:spPr>
          <a:xfrm>
            <a:off x="6172200" y="3228109"/>
            <a:ext cx="266700" cy="277091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5736227" y="2610201"/>
            <a:ext cx="893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Meson: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3962400"/>
            <a:ext cx="41796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399 Mesons, 574 Baryons have been discovered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1000" y="4860449"/>
            <a:ext cx="55146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Strong interaction (Quantum Chromodynamics)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Electro-weak interaction (Quantum electro-flavor dynamics) </a:t>
            </a:r>
          </a:p>
        </p:txBody>
      </p:sp>
      <p:sp>
        <p:nvSpPr>
          <p:cNvPr id="52" name="Right Brace 51"/>
          <p:cNvSpPr/>
          <p:nvPr/>
        </p:nvSpPr>
        <p:spPr>
          <a:xfrm>
            <a:off x="5638800" y="4901625"/>
            <a:ext cx="457200" cy="660975"/>
          </a:xfrm>
          <a:prstGeom prst="rightBrac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6189406" y="5034662"/>
            <a:ext cx="2145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Standard Model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9592" y="1239724"/>
            <a:ext cx="7487947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Quarks		Leptons		 Gauge Bosons	  Higgs Boson</a:t>
            </a:r>
          </a:p>
          <a:p>
            <a:r>
              <a:rPr lang="en-US" sz="1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(can interact through	(cannot interact through	    (mediate interactions)	    (impart mass to the elementary</a:t>
            </a:r>
          </a:p>
          <a:p>
            <a:r>
              <a:rPr lang="en-US" sz="10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strong interaction)	strong interaction)			     particles)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928" y="5805264"/>
            <a:ext cx="6956456" cy="584775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Explaining the properties of the Hadrons in terms of QCD’s fundamental  degrees </a:t>
            </a:r>
          </a:p>
          <a:p>
            <a:r>
              <a:rPr lang="en-US" sz="1600" dirty="0">
                <a:solidFill>
                  <a:schemeClr val="bg1"/>
                </a:solidFill>
              </a:rPr>
              <a:t>of freedom is the Problem laying at the forefront of Hadronic physics.</a:t>
            </a:r>
          </a:p>
        </p:txBody>
      </p:sp>
    </p:spTree>
    <p:extLst>
      <p:ext uri="{BB962C8B-B14F-4D97-AF65-F5344CB8AC3E}">
        <p14:creationId xmlns:p14="http://schemas.microsoft.com/office/powerpoint/2010/main" val="131465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/>
      <p:bldP spid="16" grpId="0" animBg="1"/>
      <p:bldP spid="17" grpId="0"/>
      <p:bldP spid="34" grpId="0"/>
      <p:bldP spid="46" grpId="0" animBg="1"/>
      <p:bldP spid="47" grpId="0" animBg="1"/>
      <p:bldP spid="48" grpId="0" animBg="1"/>
      <p:bldP spid="49" grpId="0"/>
      <p:bldP spid="50" grpId="0"/>
      <p:bldP spid="51" grpId="0"/>
      <p:bldP spid="52" grpId="0" animBg="1"/>
      <p:bldP spid="53" grpId="0"/>
      <p:bldP spid="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37233" y="166047"/>
            <a:ext cx="32542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Elementary Particle Physics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82089" y="850488"/>
            <a:ext cx="24486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Scattering Experiments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Decay Processes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</a:rPr>
              <a:t>Study of bound states</a:t>
            </a:r>
            <a:endParaRPr lang="en-SG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Right Brace 15"/>
          <p:cNvSpPr/>
          <p:nvPr/>
        </p:nvSpPr>
        <p:spPr>
          <a:xfrm>
            <a:off x="2721666" y="845403"/>
            <a:ext cx="315567" cy="830997"/>
          </a:xfrm>
          <a:prstGeom prst="rightBrac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ight Arrow 17"/>
          <p:cNvSpPr/>
          <p:nvPr/>
        </p:nvSpPr>
        <p:spPr>
          <a:xfrm>
            <a:off x="3200400" y="1081548"/>
            <a:ext cx="381000" cy="381000"/>
          </a:xfrm>
          <a:prstGeom prst="right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TextBox 18"/>
          <p:cNvSpPr txBox="1"/>
          <p:nvPr/>
        </p:nvSpPr>
        <p:spPr>
          <a:xfrm>
            <a:off x="3657600" y="990600"/>
            <a:ext cx="36103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Cross sections, Decay Constants,</a:t>
            </a:r>
          </a:p>
          <a:p>
            <a:r>
              <a:rPr lang="en-US" sz="1600" dirty="0">
                <a:solidFill>
                  <a:schemeClr val="bg1"/>
                </a:solidFill>
              </a:rPr>
              <a:t>Couplings, Form factors, Masses, Spin </a:t>
            </a:r>
            <a:r>
              <a:rPr lang="en-US" sz="1600" dirty="0" err="1">
                <a:solidFill>
                  <a:schemeClr val="bg1"/>
                </a:solidFill>
              </a:rPr>
              <a:t>etc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20" name="Smiley Face 19"/>
          <p:cNvSpPr/>
          <p:nvPr/>
        </p:nvSpPr>
        <p:spPr>
          <a:xfrm>
            <a:off x="382089" y="2209800"/>
            <a:ext cx="540226" cy="489833"/>
          </a:xfrm>
          <a:prstGeom prst="smileyFac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/>
          <p:cNvSpPr txBox="1"/>
          <p:nvPr/>
        </p:nvSpPr>
        <p:spPr>
          <a:xfrm>
            <a:off x="192434" y="2895600"/>
            <a:ext cx="13953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Experimental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Particle Physicist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008533" y="2370941"/>
            <a:ext cx="760136" cy="205111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6" name="Hexagon 25"/>
          <p:cNvSpPr/>
          <p:nvPr/>
        </p:nvSpPr>
        <p:spPr>
          <a:xfrm>
            <a:off x="1826102" y="2120869"/>
            <a:ext cx="1439813" cy="698531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Particle Accelerators and detectors</a:t>
            </a:r>
            <a:endParaRPr lang="en-SG" sz="1200" dirty="0"/>
          </a:p>
        </p:txBody>
      </p:sp>
      <p:sp>
        <p:nvSpPr>
          <p:cNvPr id="27" name="Right Arrow 26"/>
          <p:cNvSpPr/>
          <p:nvPr/>
        </p:nvSpPr>
        <p:spPr>
          <a:xfrm rot="5400000">
            <a:off x="2160414" y="3155907"/>
            <a:ext cx="743891" cy="259495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8" name="TextBox 27"/>
          <p:cNvSpPr txBox="1"/>
          <p:nvPr/>
        </p:nvSpPr>
        <p:spPr>
          <a:xfrm>
            <a:off x="1708108" y="3824748"/>
            <a:ext cx="1679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Measured values of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physical observables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29" name="Smiley Face 28"/>
          <p:cNvSpPr/>
          <p:nvPr/>
        </p:nvSpPr>
        <p:spPr>
          <a:xfrm>
            <a:off x="6346112" y="2224548"/>
            <a:ext cx="540226" cy="489833"/>
          </a:xfrm>
          <a:prstGeom prst="smileyFace">
            <a:avLst/>
          </a:prstGeom>
          <a:solidFill>
            <a:srgbClr val="FFFF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0" name="Hexagon 29"/>
          <p:cNvSpPr/>
          <p:nvPr/>
        </p:nvSpPr>
        <p:spPr>
          <a:xfrm>
            <a:off x="4011304" y="2133600"/>
            <a:ext cx="1439813" cy="698531"/>
          </a:xfrm>
          <a:prstGeom prst="hexag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Models</a:t>
            </a:r>
            <a:endParaRPr lang="en-SG" dirty="0"/>
          </a:p>
        </p:txBody>
      </p:sp>
      <p:sp>
        <p:nvSpPr>
          <p:cNvPr id="31" name="TextBox 30"/>
          <p:cNvSpPr txBox="1"/>
          <p:nvPr/>
        </p:nvSpPr>
        <p:spPr>
          <a:xfrm>
            <a:off x="5965208" y="2819400"/>
            <a:ext cx="1465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Particle Physics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Phenomenologist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32" name="Right Arrow 31"/>
          <p:cNvSpPr/>
          <p:nvPr/>
        </p:nvSpPr>
        <p:spPr>
          <a:xfrm rot="10800000">
            <a:off x="5492061" y="2391697"/>
            <a:ext cx="760136" cy="205111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Right Arrow 32"/>
          <p:cNvSpPr/>
          <p:nvPr/>
        </p:nvSpPr>
        <p:spPr>
          <a:xfrm rot="5400000">
            <a:off x="4359264" y="3152546"/>
            <a:ext cx="743891" cy="259495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TextBox 33"/>
          <p:cNvSpPr txBox="1"/>
          <p:nvPr/>
        </p:nvSpPr>
        <p:spPr>
          <a:xfrm>
            <a:off x="4020983" y="3810000"/>
            <a:ext cx="16799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Calculated values of 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physical observables</a:t>
            </a:r>
            <a:endParaRPr lang="en-SG" sz="14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3424237" y="3886200"/>
                <a:ext cx="4796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4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≈</m:t>
                      </m:r>
                    </m:oMath>
                  </m:oMathPara>
                </a14:m>
                <a:endParaRPr lang="en-SG" sz="24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4237" y="3886200"/>
                <a:ext cx="479618" cy="46166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Smiley Face 35"/>
          <p:cNvSpPr/>
          <p:nvPr/>
        </p:nvSpPr>
        <p:spPr>
          <a:xfrm>
            <a:off x="7848600" y="2209800"/>
            <a:ext cx="540226" cy="489833"/>
          </a:xfrm>
          <a:prstGeom prst="smileyFac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8" name="TextBox 37"/>
          <p:cNvSpPr txBox="1"/>
          <p:nvPr/>
        </p:nvSpPr>
        <p:spPr>
          <a:xfrm>
            <a:off x="7430289" y="2829580"/>
            <a:ext cx="1593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Theoretical Particle</a:t>
            </a:r>
          </a:p>
          <a:p>
            <a:r>
              <a:rPr lang="en-US" sz="1400" dirty="0">
                <a:solidFill>
                  <a:schemeClr val="bg1"/>
                </a:solidFill>
              </a:rPr>
              <a:t>Physicist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39" name="Right Arrow 38"/>
          <p:cNvSpPr/>
          <p:nvPr/>
        </p:nvSpPr>
        <p:spPr>
          <a:xfrm rot="10800000">
            <a:off x="6967467" y="2376948"/>
            <a:ext cx="760136" cy="205111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7" name="Cloud Callout 36"/>
          <p:cNvSpPr/>
          <p:nvPr/>
        </p:nvSpPr>
        <p:spPr>
          <a:xfrm>
            <a:off x="7848600" y="1064653"/>
            <a:ext cx="1174754" cy="840347"/>
          </a:xfrm>
          <a:prstGeom prst="cloudCallou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Models</a:t>
            </a:r>
            <a:endParaRPr lang="en-SG" sz="1400" dirty="0">
              <a:solidFill>
                <a:schemeClr val="tx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2089" y="5715000"/>
            <a:ext cx="79227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Decades of observation and calculations show that the Standard Model of particle physics</a:t>
            </a:r>
          </a:p>
          <a:p>
            <a:r>
              <a:rPr lang="en-US" sz="1600" dirty="0">
                <a:solidFill>
                  <a:schemeClr val="bg1"/>
                </a:solidFill>
              </a:rPr>
              <a:t>can describe almost every thing which we have observed in the labs of high energy physics.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41" name="Oval 40"/>
          <p:cNvSpPr/>
          <p:nvPr/>
        </p:nvSpPr>
        <p:spPr>
          <a:xfrm>
            <a:off x="3366512" y="3824988"/>
            <a:ext cx="596746" cy="5947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TextBox 7"/>
          <p:cNvSpPr txBox="1"/>
          <p:nvPr/>
        </p:nvSpPr>
        <p:spPr>
          <a:xfrm>
            <a:off x="5433098" y="4503003"/>
            <a:ext cx="3187026" cy="830997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en-SG" sz="1600" dirty="0">
                <a:solidFill>
                  <a:schemeClr val="bg1"/>
                </a:solidFill>
              </a:rPr>
              <a:t>It is more important to have beauty </a:t>
            </a:r>
          </a:p>
          <a:p>
            <a:r>
              <a:rPr lang="en-SG" sz="1600" dirty="0">
                <a:solidFill>
                  <a:schemeClr val="bg1"/>
                </a:solidFill>
              </a:rPr>
              <a:t>in one's equations than to have </a:t>
            </a:r>
          </a:p>
          <a:p>
            <a:r>
              <a:rPr lang="en-SG" sz="1600" dirty="0">
                <a:solidFill>
                  <a:schemeClr val="bg1"/>
                </a:solidFill>
              </a:rPr>
              <a:t>them fit experiment..... P.A.M Dirac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347535" y="2763456"/>
            <a:ext cx="627922" cy="1584409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H="1">
            <a:off x="4376840" y="2695340"/>
            <a:ext cx="1923360" cy="174384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77686" y="4497541"/>
            <a:ext cx="4407617" cy="830997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SG" sz="1600" dirty="0"/>
              <a:t>It doesn’t matter how </a:t>
            </a:r>
            <a:r>
              <a:rPr lang="en-SG" sz="1600" dirty="0" err="1"/>
              <a:t>beautifull</a:t>
            </a:r>
            <a:r>
              <a:rPr lang="en-SG" sz="1600" dirty="0"/>
              <a:t> your theory is,</a:t>
            </a:r>
          </a:p>
          <a:p>
            <a:r>
              <a:rPr lang="en-US" sz="1600" dirty="0"/>
              <a:t>It doesn’t matter how smart you are. If it doesn’t</a:t>
            </a:r>
          </a:p>
          <a:p>
            <a:r>
              <a:rPr lang="en-US" sz="1600" dirty="0"/>
              <a:t>agree with experiment, it’s wrong… R.P. </a:t>
            </a:r>
            <a:r>
              <a:rPr lang="en-US" sz="1600" dirty="0" err="1"/>
              <a:t>Feynmann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416732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 animBg="1"/>
      <p:bldP spid="18" grpId="0" animBg="1"/>
      <p:bldP spid="19" grpId="0"/>
      <p:bldP spid="20" grpId="0" animBg="1"/>
      <p:bldP spid="22" grpId="0"/>
      <p:bldP spid="23" grpId="0" animBg="1"/>
      <p:bldP spid="26" grpId="0" animBg="1"/>
      <p:bldP spid="27" grpId="0" animBg="1"/>
      <p:bldP spid="28" grpId="0"/>
      <p:bldP spid="29" grpId="0" animBg="1"/>
      <p:bldP spid="30" grpId="0" animBg="1"/>
      <p:bldP spid="31" grpId="0"/>
      <p:bldP spid="32" grpId="0" animBg="1"/>
      <p:bldP spid="33" grpId="0" animBg="1"/>
      <p:bldP spid="34" grpId="0"/>
      <p:bldP spid="35" grpId="0"/>
      <p:bldP spid="36" grpId="0" animBg="1"/>
      <p:bldP spid="38" grpId="0"/>
      <p:bldP spid="39" grpId="0" animBg="1"/>
      <p:bldP spid="37" grpId="0" animBg="1"/>
      <p:bldP spid="40" grpId="0"/>
      <p:bldP spid="41" grpId="0" animBg="1"/>
      <p:bldP spid="8" grpId="0" animBg="1"/>
      <p:bldP spid="4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5359" y="166047"/>
            <a:ext cx="2458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The Standard Model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33400"/>
            <a:ext cx="6429196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standard model is a field theory.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 field theories we associate a field to every different kind of a particle.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    </a:t>
            </a:r>
            <a:r>
              <a:rPr lang="en-US" sz="1400" dirty="0">
                <a:solidFill>
                  <a:schemeClr val="bg1"/>
                </a:solidFill>
              </a:rPr>
              <a:t>(e.g., electron field, proton field, photon field </a:t>
            </a:r>
            <a:r>
              <a:rPr lang="en-US" sz="1400" dirty="0" err="1">
                <a:solidFill>
                  <a:schemeClr val="bg1"/>
                </a:solidFill>
              </a:rPr>
              <a:t>etc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Particles appear as quanta of field.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loud 3"/>
              <p:cNvSpPr/>
              <p:nvPr/>
            </p:nvSpPr>
            <p:spPr>
              <a:xfrm>
                <a:off x="758403" y="2209800"/>
                <a:ext cx="1371600" cy="1143000"/>
              </a:xfrm>
              <a:prstGeom prst="cloud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  </m:t>
                      </m:r>
                      <m:r>
                        <a:rPr lang="el-GR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𝜙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loud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403" y="2209800"/>
                <a:ext cx="1371600" cy="1143000"/>
              </a:xfrm>
              <a:prstGeom prst="cloud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ight Arrow 4"/>
          <p:cNvSpPr/>
          <p:nvPr/>
        </p:nvSpPr>
        <p:spPr>
          <a:xfrm>
            <a:off x="2363397" y="2574498"/>
            <a:ext cx="754710" cy="2648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Cloud 5"/>
          <p:cNvSpPr/>
          <p:nvPr/>
        </p:nvSpPr>
        <p:spPr>
          <a:xfrm>
            <a:off x="3384642" y="2209800"/>
            <a:ext cx="1371600" cy="1143000"/>
          </a:xfrm>
          <a:prstGeom prst="cloud">
            <a:avLst/>
          </a:prstGeom>
          <a:pattFill prst="lgConfetti">
            <a:fgClr>
              <a:schemeClr val="tx1"/>
            </a:fgClr>
            <a:bgClr>
              <a:srgbClr val="FFC000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538638" y="2443693"/>
            <a:ext cx="791765" cy="16927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65660" y="2274416"/>
            <a:ext cx="33973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Quanta of field has particle properties.</a:t>
            </a:r>
            <a:endParaRPr lang="en-SG" sz="1600" dirty="0"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09800" y="2286000"/>
            <a:ext cx="1125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Quantization</a:t>
            </a:r>
            <a:endParaRPr lang="en-SG" sz="1400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3429000"/>
            <a:ext cx="31645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Equation of motion of the fields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80902" y="4107756"/>
                <a:ext cx="2443298" cy="887615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</p:spPr>
            <p:txBody>
              <a:bodyPr wrap="none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Free Scalar Field: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)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1600" i="1" dirty="0">
                  <a:solidFill>
                    <a:schemeClr val="bg1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†</m:t>
                          </m:r>
                        </m:sup>
                      </m:sSup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r>
                        <a:rPr lang="en-US" sz="160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𝜙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p>
                        <m:sSup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  <m:sup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𝜙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†</m:t>
                          </m:r>
                        </m:sup>
                      </m:sSup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𝜙</m:t>
                      </m:r>
                    </m:oMath>
                  </m:oMathPara>
                </a14:m>
                <a:endParaRPr lang="en-SG" sz="16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02" y="4107756"/>
                <a:ext cx="2443298" cy="887615"/>
              </a:xfrm>
              <a:prstGeom prst="rect">
                <a:avLst/>
              </a:prstGeom>
              <a:blipFill>
                <a:blip r:embed="rId3"/>
                <a:stretch>
                  <a:fillRect l="-1496" t="-2069" b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62553" y="5406875"/>
                <a:ext cx="2233047" cy="89659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Free Dirac Field: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sSup>
                            <m:sSupPr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1600" i="1">
                                  <a:solidFill>
                                    <a:schemeClr val="bg1"/>
                                  </a:solidFill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sub>
                          </m:sSub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𝑚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𝑖</m:t>
                      </m:r>
                      <m:acc>
                        <m:accPr>
                          <m:chr m:val="̅"/>
                          <m:ctrlP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</m:acc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𝛾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r>
                        <a:rPr lang="en-US" sz="160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𝜓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𝑚</m:t>
                      </m:r>
                      <m:acc>
                        <m:accPr>
                          <m:chr m:val="̅"/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acc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𝜓</m:t>
                          </m:r>
                        </m:e>
                      </m:acc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𝜓</m:t>
                      </m:r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553" y="5406875"/>
                <a:ext cx="2233047" cy="896592"/>
              </a:xfrm>
              <a:prstGeom prst="rect">
                <a:avLst/>
              </a:prstGeom>
              <a:blipFill>
                <a:blip r:embed="rId4"/>
                <a:stretch>
                  <a:fillRect l="-1639" t="-2041" b="-1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29000" y="4057100"/>
                <a:ext cx="2359107" cy="1314334"/>
              </a:xfrm>
              <a:prstGeom prst="rect">
                <a:avLst/>
              </a:prstGeom>
              <a:solidFill>
                <a:schemeClr val="accent1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</a:rPr>
                  <a:t>Free Abelian Vector Field: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p>
                      </m:sSup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sup>
                      </m:sSup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p>
                        <m:sSup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𝐴</m:t>
                          </m:r>
                        </m:e>
                        <m:sup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sup>
                      </m:sSup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/>
                        </a:rPr>
                        <m:t>)=0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ℒ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400" i="1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US" sz="1400" b="0" i="0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f>
                        <m:f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4</m:t>
                          </m:r>
                        </m:den>
                      </m:f>
                      <m:sSub>
                        <m:sSub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b>
                      </m:sSub>
                      <m:sSup>
                        <m:sSupPr>
                          <m:ctrlP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𝐹</m:t>
                          </m:r>
                        </m:e>
                        <m:sup>
                          <m:r>
                            <a:rPr lang="en-US" sz="14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p>
                      </m:sSup>
                    </m:oMath>
                  </m:oMathPara>
                </a14:m>
                <a:endParaRPr lang="en-US" sz="1600" b="0" i="1" dirty="0">
                  <a:solidFill>
                    <a:schemeClr val="bg1"/>
                  </a:solidFill>
                  <a:latin typeface="Cambria Math"/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𝜇𝜈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bg1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  <m:sSub>
                        <m:sSubPr>
                          <m:ctrlP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𝜈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bg1"/>
                          </a:solidFill>
                          <a:latin typeface="Cambria Math"/>
                          <a:ea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𝜕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𝜈</m:t>
                          </m:r>
                        </m:sub>
                      </m:sSub>
                      <m:sSub>
                        <m:sSubPr>
                          <m:ctrlPr>
                            <a:rPr lang="en-US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bg1"/>
                              </a:solidFill>
                              <a:latin typeface="Cambria Math"/>
                              <a:ea typeface="Cambria Math"/>
                            </a:rPr>
                            <m:t>𝜇</m:t>
                          </m:r>
                        </m:sub>
                      </m:sSub>
                    </m:oMath>
                  </m:oMathPara>
                </a14:m>
                <a:endParaRPr lang="en-SG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4057100"/>
                <a:ext cx="2359107" cy="1314334"/>
              </a:xfrm>
              <a:prstGeom prst="rect">
                <a:avLst/>
              </a:prstGeom>
              <a:blipFill>
                <a:blip r:embed="rId5"/>
                <a:stretch>
                  <a:fillRect l="-1554" t="-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9600" y="3807023"/>
                <a:ext cx="7337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=0)</m:t>
                    </m:r>
                  </m:oMath>
                </a14:m>
                <a:endParaRPr lang="en-SG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807023"/>
                <a:ext cx="733727" cy="307777"/>
              </a:xfrm>
              <a:prstGeom prst="rect">
                <a:avLst/>
              </a:prstGeom>
              <a:blipFill>
                <a:blip r:embed="rId7"/>
                <a:stretch>
                  <a:fillRect l="-250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09600" y="5102423"/>
                <a:ext cx="92127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=1/2)</m:t>
                    </m:r>
                  </m:oMath>
                </a14:m>
                <a:endParaRPr lang="en-SG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5102423"/>
                <a:ext cx="921278" cy="307777"/>
              </a:xfrm>
              <a:prstGeom prst="rect">
                <a:avLst/>
              </a:prstGeom>
              <a:blipFill>
                <a:blip r:embed="rId8"/>
                <a:stretch>
                  <a:fillRect l="-1987" t="-3922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352800" y="3733800"/>
                <a:ext cx="73372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b="0" dirty="0">
                    <a:solidFill>
                      <a:schemeClr val="bg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𝑠</m:t>
                    </m:r>
                    <m:r>
                      <a:rPr lang="en-US" sz="1400" b="0" i="1" smtClean="0">
                        <a:solidFill>
                          <a:schemeClr val="bg1"/>
                        </a:solidFill>
                        <a:latin typeface="Cambria Math"/>
                      </a:rPr>
                      <m:t>=1)</m:t>
                    </m:r>
                  </m:oMath>
                </a14:m>
                <a:endParaRPr lang="en-SG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3733800"/>
                <a:ext cx="733727" cy="307777"/>
              </a:xfrm>
              <a:prstGeom prst="rect">
                <a:avLst/>
              </a:prstGeom>
              <a:blipFill>
                <a:blip r:embed="rId9"/>
                <a:stretch>
                  <a:fillRect l="-2500"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9342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/>
      <p:bldP spid="9" grpId="0"/>
      <p:bldP spid="11" grpId="0" animBg="1"/>
      <p:bldP spid="12" grpId="0" animBg="1"/>
      <p:bldP spid="13" grpId="0" animBg="1"/>
      <p:bldP spid="15" grpId="0"/>
      <p:bldP spid="16" grpId="0"/>
      <p:bldP spid="17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35359" y="166047"/>
            <a:ext cx="24580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solidFill>
                  <a:schemeClr val="accent6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The Standard Model</a:t>
            </a:r>
            <a:endParaRPr lang="en-SG" sz="2000" dirty="0">
              <a:solidFill>
                <a:schemeClr val="bg1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11003" y="762000"/>
                <a:ext cx="4643900" cy="8591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Interaction is introduced by the coupling of fields</a:t>
                </a:r>
                <a:r>
                  <a:rPr lang="en-SG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.</a:t>
                </a:r>
              </a:p>
              <a:p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      </a:t>
                </a:r>
              </a:p>
              <a:p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     For 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ℒ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𝐼</m:t>
                        </m:r>
                      </m:sub>
                    </m:sSub>
                    <m:r>
                      <a:rPr lang="en-US" sz="1600" i="1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1600" b="0" i="1" smtClean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/>
                        <a:ea typeface="Cambria Math"/>
                      </a:rPr>
                      <m:t>𝑒</m:t>
                    </m:r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r>
                      <a:rPr lang="en-US" sz="1600" i="1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/>
                        <a:ea typeface="Cambria Math"/>
                      </a:rPr>
                      <m:t>𝜓</m:t>
                    </m:r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for QED 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03" y="762000"/>
                <a:ext cx="4643900" cy="859146"/>
              </a:xfrm>
              <a:prstGeom prst="rect">
                <a:avLst/>
              </a:prstGeom>
              <a:blipFill>
                <a:blip r:embed="rId2"/>
                <a:stretch>
                  <a:fillRect l="-525" t="-2128" b="-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70059" y="3705761"/>
                <a:ext cx="4944941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Possible coupling are further constrained by the </a:t>
                </a:r>
                <a:r>
                  <a:rPr lang="en-US" sz="1600" b="1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gauge symmetries</a:t>
                </a:r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.</a:t>
                </a:r>
              </a:p>
              <a:p>
                <a:endParaRPr lang="en-US" sz="1600" dirty="0">
                  <a:solidFill>
                    <a:schemeClr val="accent6">
                      <a:lumMod val="40000"/>
                      <a:lumOff val="60000"/>
                    </a:schemeClr>
                  </a:solidFill>
                </a:endParaRPr>
              </a:p>
              <a:p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ea typeface="Cambria Math"/>
                  </a:rPr>
                  <a:t>        i)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𝑆𝑈</m:t>
                        </m:r>
                        <m:d>
                          <m:dPr>
                            <m:ctrlPr>
                              <a:rPr lang="en-US" sz="1600" i="1">
                                <a:solidFill>
                                  <a:schemeClr val="accent6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600" i="1">
                                <a:solidFill>
                                  <a:schemeClr val="accent6">
                                    <a:lumMod val="40000"/>
                                    <a:lumOff val="60000"/>
                                  </a:schemeClr>
                                </a:solidFill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</m:d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𝐿</m:t>
                        </m:r>
                      </m:sub>
                    </m:sSub>
                    <m:r>
                      <a:rPr lang="en-US" sz="1600" i="1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latin typeface="Cambria Math"/>
                        <a:ea typeface="Cambria Math"/>
                      </a:rPr>
                      <m:t>⊗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𝑈</m:t>
                        </m:r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(1)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  <a:ea typeface="Cambria Math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SG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for electroweak interaction.</a:t>
                </a:r>
              </a:p>
              <a:p>
                <a:r>
                  <a:rPr lang="en-US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       ii)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</a:rPr>
                          <m:t>𝑆𝑈</m:t>
                        </m:r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</a:rPr>
                          <m:t>(3)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accent6">
                                <a:lumMod val="40000"/>
                                <a:lumOff val="60000"/>
                              </a:schemeClr>
                            </a:solidFill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SG" sz="1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</a:rPr>
                  <a:t> for strong interaction.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59" y="3705761"/>
                <a:ext cx="4944941" cy="1323439"/>
              </a:xfrm>
              <a:prstGeom prst="rect">
                <a:avLst/>
              </a:prstGeom>
              <a:blipFill>
                <a:blip r:embed="rId3"/>
                <a:stretch>
                  <a:fillRect l="-493" t="-1382" b="-5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762000" y="2590800"/>
            <a:ext cx="4285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Only </a:t>
            </a:r>
            <a:r>
              <a:rPr lang="en-US" sz="1600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Lorentz invariant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 couplings are allowed. 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1143000" y="1582098"/>
            <a:ext cx="916615" cy="789086"/>
            <a:chOff x="5336352" y="2389496"/>
            <a:chExt cx="916615" cy="789086"/>
          </a:xfrm>
        </p:grpSpPr>
        <p:pic>
          <p:nvPicPr>
            <p:cNvPr id="12" name="Picture 5" descr="C:\Users\Faisal Akram\Desktop\Untitled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6352" y="2389496"/>
              <a:ext cx="916615" cy="7890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489513" y="2889365"/>
                  <a:ext cx="305147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000" i="1" smtClean="0">
                            <a:latin typeface="Cambria Math"/>
                            <a:ea typeface="Cambria Math"/>
                          </a:rPr>
                          <m:t>𝜓</m:t>
                        </m:r>
                      </m:oMath>
                    </m:oMathPara>
                  </a14:m>
                  <a:endParaRPr lang="en-SG" sz="1000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9513" y="2889365"/>
                  <a:ext cx="305147" cy="246221"/>
                </a:xfrm>
                <a:prstGeom prst="rect">
                  <a:avLst/>
                </a:prstGeom>
                <a:blipFill>
                  <a:blip r:embed="rId5"/>
                  <a:stretch>
                    <a:fillRect b="-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509949" y="2435095"/>
                  <a:ext cx="305147" cy="24782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l-GR" sz="100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accPr>
                          <m:e>
                            <m:r>
                              <a:rPr lang="el-GR" sz="1000" i="1" smtClean="0">
                                <a:latin typeface="Cambria Math"/>
                                <a:ea typeface="Cambria Math"/>
                              </a:rPr>
                              <m:t>𝜓</m:t>
                            </m:r>
                          </m:e>
                        </m:acc>
                      </m:oMath>
                    </m:oMathPara>
                  </a14:m>
                  <a:endParaRPr lang="en-SG" sz="10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9949" y="2435095"/>
                  <a:ext cx="305147" cy="247825"/>
                </a:xfrm>
                <a:prstGeom prst="rect">
                  <a:avLst/>
                </a:prstGeom>
                <a:blipFill>
                  <a:blip r:embed="rId6"/>
                  <a:stretch>
                    <a:fillRect b="-24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877327" y="2477024"/>
                  <a:ext cx="284309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1000" i="1" smtClean="0">
                            <a:latin typeface="Cambria Math"/>
                            <a:ea typeface="Cambria Math"/>
                          </a:rPr>
                          <m:t>𝛾</m:t>
                        </m:r>
                      </m:oMath>
                    </m:oMathPara>
                  </a14:m>
                  <a:endParaRPr lang="en-SG" sz="10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77327" y="2477024"/>
                  <a:ext cx="284309" cy="24622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78894" y="2971800"/>
                <a:ext cx="5414880" cy="366832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ℒ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𝐼</m:t>
                        </m:r>
                      </m:sub>
                    </m:sSub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; </a:t>
                </a:r>
                <a:r>
                  <a:rPr lang="en-US" sz="1600" dirty="0">
                    <a:solidFill>
                      <a:schemeClr val="bg1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5</m:t>
                        </m:r>
                      </m:sup>
                    </m:sSup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bg1"/>
                    </a:solidFill>
                    <a:ea typeface="Cambria Math"/>
                  </a:rPr>
                  <a:t>;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;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5</m:t>
                        </m:r>
                      </m:sup>
                    </m:sSup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r>
                      <a:rPr lang="en-US" sz="1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;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p>
                      <m:sSup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𝛾</m:t>
                        </m:r>
                      </m:e>
                      <m:sup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𝜇</m:t>
                        </m:r>
                      </m:sup>
                    </m:sSup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acc>
                      <m:accPr>
                        <m:chr m:val="̅"/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/>
                            <a:ea typeface="Cambria Math"/>
                          </a:rPr>
                          <m:t>𝜓</m:t>
                        </m:r>
                      </m:e>
                    </m:acc>
                    <m:sSub>
                      <m:sSubPr>
                        <m:ctrlP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sub>
                    </m:sSub>
                    <m:r>
                      <a:rPr lang="en-US" sz="1600" i="1">
                        <a:solidFill>
                          <a:schemeClr val="bg1"/>
                        </a:solidFill>
                        <a:latin typeface="Cambria Math"/>
                        <a:ea typeface="Cambria Math"/>
                      </a:rPr>
                      <m:t>𝜓</m:t>
                    </m:r>
                    <m:r>
                      <a:rPr lang="en-US" sz="160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/>
                      </a:rPr>
                      <m:t>;</m:t>
                    </m:r>
                  </m:oMath>
                </a14:m>
                <a:r>
                  <a:rPr lang="en-US" sz="1600" dirty="0">
                    <a:solidFill>
                      <a:schemeClr val="bg1"/>
                    </a:solidFill>
                  </a:rPr>
                  <a:t> . . . .</a:t>
                </a:r>
                <a:endParaRPr lang="en-US" sz="16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894" y="2971800"/>
                <a:ext cx="5414880" cy="366832"/>
              </a:xfrm>
              <a:prstGeom prst="rect">
                <a:avLst/>
              </a:prstGeom>
              <a:blipFill>
                <a:blip r:embed="rId8"/>
                <a:stretch>
                  <a:fillRect t="-1667" r="-450"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507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17449</TotalTime>
  <Words>2899</Words>
  <Application>Microsoft Office PowerPoint</Application>
  <PresentationFormat>On-screen Show (4:3)</PresentationFormat>
  <Paragraphs>734</Paragraphs>
  <Slides>59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Arial</vt:lpstr>
      <vt:lpstr>Batang</vt:lpstr>
      <vt:lpstr>Calibri</vt:lpstr>
      <vt:lpstr>Cambria Math</vt:lpstr>
      <vt:lpstr>Tahoma</vt:lpstr>
      <vt:lpstr>tci1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Faisal Akram</dc:creator>
  <cp:lastModifiedBy>Faisal Akram</cp:lastModifiedBy>
  <cp:revision>702</cp:revision>
  <dcterms:created xsi:type="dcterms:W3CDTF">2014-04-09T17:46:35Z</dcterms:created>
  <dcterms:modified xsi:type="dcterms:W3CDTF">2016-08-18T07:14:33Z</dcterms:modified>
</cp:coreProperties>
</file>