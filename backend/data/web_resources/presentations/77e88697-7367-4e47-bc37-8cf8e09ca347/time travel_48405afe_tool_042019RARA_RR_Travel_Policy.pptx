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367" r:id="rId5"/>
    <p:sldMasterId id="2147484379" r:id="rId6"/>
  </p:sldMasterIdLst>
  <p:notesMasterIdLst>
    <p:notesMasterId r:id="rId30"/>
  </p:notesMasterIdLst>
  <p:handoutMasterIdLst>
    <p:handoutMasterId r:id="rId31"/>
  </p:handoutMasterIdLst>
  <p:sldIdLst>
    <p:sldId id="403" r:id="rId7"/>
    <p:sldId id="923" r:id="rId8"/>
    <p:sldId id="959" r:id="rId9"/>
    <p:sldId id="960" r:id="rId10"/>
    <p:sldId id="955" r:id="rId11"/>
    <p:sldId id="956" r:id="rId12"/>
    <p:sldId id="957" r:id="rId13"/>
    <p:sldId id="958" r:id="rId14"/>
    <p:sldId id="892" r:id="rId15"/>
    <p:sldId id="949" r:id="rId16"/>
    <p:sldId id="900" r:id="rId17"/>
    <p:sldId id="961" r:id="rId18"/>
    <p:sldId id="966" r:id="rId19"/>
    <p:sldId id="962" r:id="rId20"/>
    <p:sldId id="964" r:id="rId21"/>
    <p:sldId id="965" r:id="rId22"/>
    <p:sldId id="963" r:id="rId23"/>
    <p:sldId id="946" r:id="rId24"/>
    <p:sldId id="932" r:id="rId25"/>
    <p:sldId id="934" r:id="rId26"/>
    <p:sldId id="935" r:id="rId27"/>
    <p:sldId id="925" r:id="rId28"/>
    <p:sldId id="421" r:id="rId29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1" userDrawn="1">
          <p15:clr>
            <a:srgbClr val="A4A3A4"/>
          </p15:clr>
        </p15:guide>
        <p15:guide id="2" pos="2213" userDrawn="1">
          <p15:clr>
            <a:srgbClr val="A4A3A4"/>
          </p15:clr>
        </p15:guide>
        <p15:guide id="3" orient="horz" pos="2947" userDrawn="1">
          <p15:clr>
            <a:srgbClr val="A4A3A4"/>
          </p15:clr>
        </p15:guide>
        <p15:guide id="4" pos="2209" userDrawn="1">
          <p15:clr>
            <a:srgbClr val="A4A3A4"/>
          </p15:clr>
        </p15:guide>
        <p15:guide id="5" orient="horz" pos="2932" userDrawn="1">
          <p15:clr>
            <a:srgbClr val="A4A3A4"/>
          </p15:clr>
        </p15:guide>
        <p15:guide id="6" orient="horz" pos="292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ts_local" initials="i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B89"/>
    <a:srgbClr val="E26A54"/>
    <a:srgbClr val="003E74"/>
    <a:srgbClr val="F2F2F2"/>
    <a:srgbClr val="2F5897"/>
    <a:srgbClr val="FFFF66"/>
    <a:srgbClr val="FFFFCC"/>
    <a:srgbClr val="2C5D98"/>
    <a:srgbClr val="33CC33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1945" autoAdjust="0"/>
  </p:normalViewPr>
  <p:slideViewPr>
    <p:cSldViewPr>
      <p:cViewPr varScale="1">
        <p:scale>
          <a:sx n="127" d="100"/>
          <a:sy n="127" d="100"/>
        </p:scale>
        <p:origin x="101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3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3072" y="-77"/>
      </p:cViewPr>
      <p:guideLst>
        <p:guide orient="horz" pos="2951"/>
        <p:guide pos="2213"/>
        <p:guide orient="horz" pos="2947"/>
        <p:guide pos="2209"/>
        <p:guide orient="horz" pos="2932"/>
        <p:guide orient="horz"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724-4980-8457-35BBA5C4CF1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724-4980-8457-35BBA5C4CF14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724-4980-8457-35BBA5C4CF14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724-4980-8457-35BBA5C4CF14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A724-4980-8457-35BBA5C4CF14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A724-4980-8457-35BBA5C4CF1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5"/>
                <c:pt idx="0">
                  <c:v>Non-SMD Schools</c:v>
                </c:pt>
                <c:pt idx="1">
                  <c:v>SMD</c:v>
                </c:pt>
                <c:pt idx="2">
                  <c:v>Central Administration</c:v>
                </c:pt>
                <c:pt idx="3">
                  <c:v>Medical</c:v>
                </c:pt>
                <c:pt idx="4">
                  <c:v>ESM/MAG</c:v>
                </c:pt>
              </c:strCache>
            </c:strRef>
          </c:cat>
          <c:val>
            <c:numRef>
              <c:f>Sheet1!$B$2:$B$7</c:f>
              <c:numCache>
                <c:formatCode>0%</c:formatCode>
                <c:ptCount val="6"/>
                <c:pt idx="0">
                  <c:v>0.35</c:v>
                </c:pt>
                <c:pt idx="1">
                  <c:v>0.25</c:v>
                </c:pt>
                <c:pt idx="2">
                  <c:v>0.2</c:v>
                </c:pt>
                <c:pt idx="3">
                  <c:v>0.15</c:v>
                </c:pt>
                <c:pt idx="4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CE-46A0-99DF-3384FDDB2A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5"/>
        <c:delete val="1"/>
      </c:legendEntry>
      <c:layout>
        <c:manualLayout>
          <c:xMode val="edge"/>
          <c:yMode val="edge"/>
          <c:x val="1.4746166597596347E-2"/>
          <c:y val="0.78587956405130055"/>
          <c:w val="0.95715689321729525"/>
          <c:h val="0.186674629521380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8192-46F8-AF1A-EE5DE73C678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8192-46F8-AF1A-EE5DE73C678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8192-46F8-AF1A-EE5DE73C678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8192-46F8-AF1A-EE5DE73C678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Traveler</c:v>
                </c:pt>
                <c:pt idx="1">
                  <c:v>Preparer/Reviewer</c:v>
                </c:pt>
                <c:pt idx="2">
                  <c:v>Approver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</c:v>
                </c:pt>
                <c:pt idx="1">
                  <c:v>0.16</c:v>
                </c:pt>
                <c:pt idx="2">
                  <c:v>0.04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F1-4A55-8C30-7B7260B04F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3"/>
        <c:delete val="1"/>
      </c:legendEntry>
      <c:layout>
        <c:manualLayout>
          <c:xMode val="edge"/>
          <c:yMode val="edge"/>
          <c:x val="3.4883720930232571E-3"/>
          <c:y val="0.81885874980808637"/>
          <c:w val="0.99651162790697678"/>
          <c:h val="0.1585562050484985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2BDC45-2B8D-4A23-A12A-27A683B9806D}" type="doc">
      <dgm:prSet loTypeId="urn:microsoft.com/office/officeart/2011/layout/HexagonRadial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78FD1F-5AD0-478C-BCBE-7E17276E0E36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Website</a:t>
          </a:r>
          <a:endParaRPr lang="en-US" dirty="0"/>
        </a:p>
      </dgm:t>
    </dgm:pt>
    <dgm:pt modelId="{160123B7-BD1A-40DB-B3DD-BCA0B14348A0}" type="parTrans" cxnId="{5970965D-315E-4C08-9860-2F24BE8DF273}">
      <dgm:prSet/>
      <dgm:spPr/>
      <dgm:t>
        <a:bodyPr/>
        <a:lstStyle/>
        <a:p>
          <a:endParaRPr lang="en-US"/>
        </a:p>
      </dgm:t>
    </dgm:pt>
    <dgm:pt modelId="{7C8694B3-1A78-4F90-95F4-0ACD15AB27E6}" type="sibTrans" cxnId="{5970965D-315E-4C08-9860-2F24BE8DF273}">
      <dgm:prSet/>
      <dgm:spPr/>
      <dgm:t>
        <a:bodyPr/>
        <a:lstStyle/>
        <a:p>
          <a:endParaRPr lang="en-US"/>
        </a:p>
      </dgm:t>
    </dgm:pt>
    <dgm:pt modelId="{F4A03F1A-3346-43E6-A5C4-974469D9F08A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Training</a:t>
          </a:r>
          <a:endParaRPr lang="en-US" dirty="0"/>
        </a:p>
      </dgm:t>
    </dgm:pt>
    <dgm:pt modelId="{03E11E62-276F-49E5-8AFF-6185C9BFDD97}" type="parTrans" cxnId="{2D9B99C8-A330-4129-9F73-0A4F56B7DC0B}">
      <dgm:prSet/>
      <dgm:spPr/>
      <dgm:t>
        <a:bodyPr/>
        <a:lstStyle/>
        <a:p>
          <a:endParaRPr lang="en-US"/>
        </a:p>
      </dgm:t>
    </dgm:pt>
    <dgm:pt modelId="{815A6EAA-B033-40F7-A163-1B8E5402BE80}" type="sibTrans" cxnId="{2D9B99C8-A330-4129-9F73-0A4F56B7DC0B}">
      <dgm:prSet/>
      <dgm:spPr/>
      <dgm:t>
        <a:bodyPr/>
        <a:lstStyle/>
        <a:p>
          <a:endParaRPr lang="en-US"/>
        </a:p>
      </dgm:t>
    </dgm:pt>
    <dgm:pt modelId="{58976EBF-CAD3-4983-91EB-707F4FDBCD3F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FAQs</a:t>
          </a:r>
          <a:endParaRPr lang="en-US" dirty="0"/>
        </a:p>
      </dgm:t>
    </dgm:pt>
    <dgm:pt modelId="{FD9D2287-67E3-4AC5-9CF9-C3B360D38E80}" type="parTrans" cxnId="{4A43C9D6-74DB-42A2-A94B-CBBFC1CDFFAD}">
      <dgm:prSet/>
      <dgm:spPr/>
      <dgm:t>
        <a:bodyPr/>
        <a:lstStyle/>
        <a:p>
          <a:endParaRPr lang="en-US"/>
        </a:p>
      </dgm:t>
    </dgm:pt>
    <dgm:pt modelId="{1AAE4364-9DE3-4609-8B02-448ACBACEF37}" type="sibTrans" cxnId="{4A43C9D6-74DB-42A2-A94B-CBBFC1CDFFAD}">
      <dgm:prSet/>
      <dgm:spPr/>
      <dgm:t>
        <a:bodyPr/>
        <a:lstStyle/>
        <a:p>
          <a:endParaRPr lang="en-US"/>
        </a:p>
      </dgm:t>
    </dgm:pt>
    <dgm:pt modelId="{10F75B5C-737E-496F-9EC5-BBA12CC6E30E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News</a:t>
          </a:r>
          <a:endParaRPr lang="en-US" dirty="0"/>
        </a:p>
      </dgm:t>
    </dgm:pt>
    <dgm:pt modelId="{6A224FFF-5402-4F22-B8C6-20D3C0873CA1}" type="parTrans" cxnId="{D4B3FF4B-11BF-48A6-A314-E6B062D7399D}">
      <dgm:prSet/>
      <dgm:spPr/>
      <dgm:t>
        <a:bodyPr/>
        <a:lstStyle/>
        <a:p>
          <a:endParaRPr lang="en-US"/>
        </a:p>
      </dgm:t>
    </dgm:pt>
    <dgm:pt modelId="{DD7770B2-4D6D-40BF-BDCF-7B42302DC1AA}" type="sibTrans" cxnId="{D4B3FF4B-11BF-48A6-A314-E6B062D7399D}">
      <dgm:prSet/>
      <dgm:spPr/>
      <dgm:t>
        <a:bodyPr/>
        <a:lstStyle/>
        <a:p>
          <a:endParaRPr lang="en-US"/>
        </a:p>
      </dgm:t>
    </dgm:pt>
    <dgm:pt modelId="{DEE97CB3-E0DA-44D2-A7FB-756454D47CCE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Email</a:t>
          </a:r>
          <a:endParaRPr lang="en-US" dirty="0"/>
        </a:p>
      </dgm:t>
    </dgm:pt>
    <dgm:pt modelId="{7F1E02F8-8111-4BD4-827A-6FEB49FA2E7B}" type="parTrans" cxnId="{14DDFA5A-73FC-4BE6-9771-915BCF896119}">
      <dgm:prSet/>
      <dgm:spPr/>
      <dgm:t>
        <a:bodyPr/>
        <a:lstStyle/>
        <a:p>
          <a:endParaRPr lang="en-US"/>
        </a:p>
      </dgm:t>
    </dgm:pt>
    <dgm:pt modelId="{DF940058-D786-4D91-9132-A95FBA835639}" type="sibTrans" cxnId="{14DDFA5A-73FC-4BE6-9771-915BCF896119}">
      <dgm:prSet/>
      <dgm:spPr/>
      <dgm:t>
        <a:bodyPr/>
        <a:lstStyle/>
        <a:p>
          <a:endParaRPr lang="en-US"/>
        </a:p>
      </dgm:t>
    </dgm:pt>
    <dgm:pt modelId="{8F31C69D-49C5-4F4B-A460-885443CCE15F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Survey</a:t>
          </a:r>
          <a:endParaRPr lang="en-US" dirty="0"/>
        </a:p>
      </dgm:t>
    </dgm:pt>
    <dgm:pt modelId="{B7506BE1-DD6F-4202-AB59-26C52E1D6C7E}" type="parTrans" cxnId="{871EDD50-B423-451F-B2FB-AEC1F9C8CE35}">
      <dgm:prSet/>
      <dgm:spPr/>
      <dgm:t>
        <a:bodyPr/>
        <a:lstStyle/>
        <a:p>
          <a:endParaRPr lang="en-US"/>
        </a:p>
      </dgm:t>
    </dgm:pt>
    <dgm:pt modelId="{DC3E7B1D-FB42-496D-83CF-8BAA18803E01}" type="sibTrans" cxnId="{871EDD50-B423-451F-B2FB-AEC1F9C8CE35}">
      <dgm:prSet/>
      <dgm:spPr/>
      <dgm:t>
        <a:bodyPr/>
        <a:lstStyle/>
        <a:p>
          <a:endParaRPr lang="en-US"/>
        </a:p>
      </dgm:t>
    </dgm:pt>
    <dgm:pt modelId="{5631CCDB-159D-4E57-88A8-41352937E9C9}">
      <dgm:prSet phldrT="[Text]"/>
      <dgm:spPr>
        <a:solidFill>
          <a:schemeClr val="tx2">
            <a:lumMod val="60000"/>
            <a:lumOff val="40000"/>
          </a:schemeClr>
        </a:solidFill>
      </dgm:spPr>
      <dgm:t>
        <a:bodyPr/>
        <a:lstStyle/>
        <a:p>
          <a:r>
            <a:rPr lang="en-US" dirty="0" smtClean="0"/>
            <a:t>Meetings</a:t>
          </a:r>
          <a:endParaRPr lang="en-US" dirty="0"/>
        </a:p>
      </dgm:t>
    </dgm:pt>
    <dgm:pt modelId="{C1A3CD4B-69F7-4181-B345-0162158A2F15}" type="parTrans" cxnId="{A3311594-2C7A-4519-93CE-ED84220EC261}">
      <dgm:prSet/>
      <dgm:spPr/>
      <dgm:t>
        <a:bodyPr/>
        <a:lstStyle/>
        <a:p>
          <a:endParaRPr lang="en-US"/>
        </a:p>
      </dgm:t>
    </dgm:pt>
    <dgm:pt modelId="{87288E29-CF2E-4D4F-93A3-2C60377345E9}" type="sibTrans" cxnId="{A3311594-2C7A-4519-93CE-ED84220EC261}">
      <dgm:prSet/>
      <dgm:spPr/>
      <dgm:t>
        <a:bodyPr/>
        <a:lstStyle/>
        <a:p>
          <a:endParaRPr lang="en-US"/>
        </a:p>
      </dgm:t>
    </dgm:pt>
    <dgm:pt modelId="{91F20E45-8544-4BC3-83D9-19CB32464A83}" type="pres">
      <dgm:prSet presAssocID="{882BDC45-2B8D-4A23-A12A-27A683B9806D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9966C66A-76C2-4CD7-9095-926E7E5DA280}" type="pres">
      <dgm:prSet presAssocID="{A078FD1F-5AD0-478C-BCBE-7E17276E0E36}" presName="Parent" presStyleLbl="node0" presStyleIdx="0" presStyleCnt="1">
        <dgm:presLayoutVars>
          <dgm:chMax val="6"/>
          <dgm:chPref val="6"/>
        </dgm:presLayoutVars>
      </dgm:prSet>
      <dgm:spPr/>
      <dgm:t>
        <a:bodyPr/>
        <a:lstStyle/>
        <a:p>
          <a:endParaRPr lang="en-US"/>
        </a:p>
      </dgm:t>
    </dgm:pt>
    <dgm:pt modelId="{827B1CF6-7517-48EF-90CB-CE76BC0FB4B5}" type="pres">
      <dgm:prSet presAssocID="{F4A03F1A-3346-43E6-A5C4-974469D9F08A}" presName="Accent1" presStyleCnt="0"/>
      <dgm:spPr/>
    </dgm:pt>
    <dgm:pt modelId="{EDFB5089-8B04-40E4-A147-60EAFEDD2655}" type="pres">
      <dgm:prSet presAssocID="{F4A03F1A-3346-43E6-A5C4-974469D9F08A}" presName="Accent" presStyleLbl="bgShp" presStyleIdx="0" presStyleCnt="6"/>
      <dgm:spPr/>
    </dgm:pt>
    <dgm:pt modelId="{4B96CA4E-B3E6-4030-A9D1-9755F0BE2579}" type="pres">
      <dgm:prSet presAssocID="{F4A03F1A-3346-43E6-A5C4-974469D9F08A}" presName="Child1" presStyleLbl="node1" presStyleIdx="0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E2D415-F577-43D7-A7FD-DF69DB4F8AB7}" type="pres">
      <dgm:prSet presAssocID="{58976EBF-CAD3-4983-91EB-707F4FDBCD3F}" presName="Accent2" presStyleCnt="0"/>
      <dgm:spPr/>
    </dgm:pt>
    <dgm:pt modelId="{DCF8EC19-EDC6-476E-A595-D2AE437A613F}" type="pres">
      <dgm:prSet presAssocID="{58976EBF-CAD3-4983-91EB-707F4FDBCD3F}" presName="Accent" presStyleLbl="bgShp" presStyleIdx="1" presStyleCnt="6"/>
      <dgm:spPr/>
    </dgm:pt>
    <dgm:pt modelId="{5C35C27E-36FE-406F-AD2B-359760EDEC9D}" type="pres">
      <dgm:prSet presAssocID="{58976EBF-CAD3-4983-91EB-707F4FDBCD3F}" presName="Child2" presStyleLbl="node1" presStyleIdx="1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32D063-9C44-4E7B-B9D9-AEED446C7C8D}" type="pres">
      <dgm:prSet presAssocID="{10F75B5C-737E-496F-9EC5-BBA12CC6E30E}" presName="Accent3" presStyleCnt="0"/>
      <dgm:spPr/>
    </dgm:pt>
    <dgm:pt modelId="{0C8BC195-E4AB-41A1-82C6-425C1EF669AE}" type="pres">
      <dgm:prSet presAssocID="{10F75B5C-737E-496F-9EC5-BBA12CC6E30E}" presName="Accent" presStyleLbl="bgShp" presStyleIdx="2" presStyleCnt="6"/>
      <dgm:spPr/>
    </dgm:pt>
    <dgm:pt modelId="{B8D45D8E-AD0E-4B6D-BC23-C77AE4AC1C48}" type="pres">
      <dgm:prSet presAssocID="{10F75B5C-737E-496F-9EC5-BBA12CC6E30E}" presName="Child3" presStyleLbl="node1" presStyleIdx="2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EF6719-B311-4689-A3F6-8AF49CD32B1B}" type="pres">
      <dgm:prSet presAssocID="{DEE97CB3-E0DA-44D2-A7FB-756454D47CCE}" presName="Accent4" presStyleCnt="0"/>
      <dgm:spPr/>
    </dgm:pt>
    <dgm:pt modelId="{2DCF0FA6-2BE5-4459-954C-9F736F654141}" type="pres">
      <dgm:prSet presAssocID="{DEE97CB3-E0DA-44D2-A7FB-756454D47CCE}" presName="Accent" presStyleLbl="bgShp" presStyleIdx="3" presStyleCnt="6"/>
      <dgm:spPr/>
    </dgm:pt>
    <dgm:pt modelId="{0B99B1A6-B7BB-49F4-8371-4DC2B335C03C}" type="pres">
      <dgm:prSet presAssocID="{DEE97CB3-E0DA-44D2-A7FB-756454D47CCE}" presName="Child4" presStyleLbl="node1" presStyleIdx="3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A6E40E-EC21-4029-A117-0646CB63CDDE}" type="pres">
      <dgm:prSet presAssocID="{8F31C69D-49C5-4F4B-A460-885443CCE15F}" presName="Accent5" presStyleCnt="0"/>
      <dgm:spPr/>
    </dgm:pt>
    <dgm:pt modelId="{6F0DAD91-8AFF-4BBE-B2C8-558514F6C06D}" type="pres">
      <dgm:prSet presAssocID="{8F31C69D-49C5-4F4B-A460-885443CCE15F}" presName="Accent" presStyleLbl="bgShp" presStyleIdx="4" presStyleCnt="6"/>
      <dgm:spPr/>
    </dgm:pt>
    <dgm:pt modelId="{2573C286-ACE2-4C32-93F3-1B77C721A485}" type="pres">
      <dgm:prSet presAssocID="{8F31C69D-49C5-4F4B-A460-885443CCE15F}" presName="Child5" presStyleLbl="node1" presStyleIdx="4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63F4C03-247C-4C45-90CE-98E7A3A6BFDE}" type="pres">
      <dgm:prSet presAssocID="{5631CCDB-159D-4E57-88A8-41352937E9C9}" presName="Accent6" presStyleCnt="0"/>
      <dgm:spPr/>
    </dgm:pt>
    <dgm:pt modelId="{18C75241-9D17-4F10-8E00-386A7B04FEF6}" type="pres">
      <dgm:prSet presAssocID="{5631CCDB-159D-4E57-88A8-41352937E9C9}" presName="Accent" presStyleLbl="bgShp" presStyleIdx="5" presStyleCnt="6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/>
        </a:p>
      </dgm:t>
    </dgm:pt>
    <dgm:pt modelId="{E658E950-406E-48D2-B750-D6A263381655}" type="pres">
      <dgm:prSet presAssocID="{5631CCDB-159D-4E57-88A8-41352937E9C9}" presName="Child6" presStyleLbl="node1" presStyleIdx="5" presStyleCnt="6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AC219D1-9D3D-4B92-851F-E85E6FEC88AF}" type="presOf" srcId="{882BDC45-2B8D-4A23-A12A-27A683B9806D}" destId="{91F20E45-8544-4BC3-83D9-19CB32464A83}" srcOrd="0" destOrd="0" presId="urn:microsoft.com/office/officeart/2011/layout/HexagonRadial"/>
    <dgm:cxn modelId="{5970965D-315E-4C08-9860-2F24BE8DF273}" srcId="{882BDC45-2B8D-4A23-A12A-27A683B9806D}" destId="{A078FD1F-5AD0-478C-BCBE-7E17276E0E36}" srcOrd="0" destOrd="0" parTransId="{160123B7-BD1A-40DB-B3DD-BCA0B14348A0}" sibTransId="{7C8694B3-1A78-4F90-95F4-0ACD15AB27E6}"/>
    <dgm:cxn modelId="{D4B3FF4B-11BF-48A6-A314-E6B062D7399D}" srcId="{A078FD1F-5AD0-478C-BCBE-7E17276E0E36}" destId="{10F75B5C-737E-496F-9EC5-BBA12CC6E30E}" srcOrd="2" destOrd="0" parTransId="{6A224FFF-5402-4F22-B8C6-20D3C0873CA1}" sibTransId="{DD7770B2-4D6D-40BF-BDCF-7B42302DC1AA}"/>
    <dgm:cxn modelId="{4A43C9D6-74DB-42A2-A94B-CBBFC1CDFFAD}" srcId="{A078FD1F-5AD0-478C-BCBE-7E17276E0E36}" destId="{58976EBF-CAD3-4983-91EB-707F4FDBCD3F}" srcOrd="1" destOrd="0" parTransId="{FD9D2287-67E3-4AC5-9CF9-C3B360D38E80}" sibTransId="{1AAE4364-9DE3-4609-8B02-448ACBACEF37}"/>
    <dgm:cxn modelId="{871EDD50-B423-451F-B2FB-AEC1F9C8CE35}" srcId="{A078FD1F-5AD0-478C-BCBE-7E17276E0E36}" destId="{8F31C69D-49C5-4F4B-A460-885443CCE15F}" srcOrd="4" destOrd="0" parTransId="{B7506BE1-DD6F-4202-AB59-26C52E1D6C7E}" sibTransId="{DC3E7B1D-FB42-496D-83CF-8BAA18803E01}"/>
    <dgm:cxn modelId="{14DDFA5A-73FC-4BE6-9771-915BCF896119}" srcId="{A078FD1F-5AD0-478C-BCBE-7E17276E0E36}" destId="{DEE97CB3-E0DA-44D2-A7FB-756454D47CCE}" srcOrd="3" destOrd="0" parTransId="{7F1E02F8-8111-4BD4-827A-6FEB49FA2E7B}" sibTransId="{DF940058-D786-4D91-9132-A95FBA835639}"/>
    <dgm:cxn modelId="{C55997F7-CB03-47CE-98E0-308BA084F3A0}" type="presOf" srcId="{58976EBF-CAD3-4983-91EB-707F4FDBCD3F}" destId="{5C35C27E-36FE-406F-AD2B-359760EDEC9D}" srcOrd="0" destOrd="0" presId="urn:microsoft.com/office/officeart/2011/layout/HexagonRadial"/>
    <dgm:cxn modelId="{43143976-13A0-4F9B-9E3E-146C7365FB48}" type="presOf" srcId="{DEE97CB3-E0DA-44D2-A7FB-756454D47CCE}" destId="{0B99B1A6-B7BB-49F4-8371-4DC2B335C03C}" srcOrd="0" destOrd="0" presId="urn:microsoft.com/office/officeart/2011/layout/HexagonRadial"/>
    <dgm:cxn modelId="{892F9C7C-6478-45B9-9C2E-FFE589B9EA85}" type="presOf" srcId="{5631CCDB-159D-4E57-88A8-41352937E9C9}" destId="{E658E950-406E-48D2-B750-D6A263381655}" srcOrd="0" destOrd="0" presId="urn:microsoft.com/office/officeart/2011/layout/HexagonRadial"/>
    <dgm:cxn modelId="{AEA184DA-F410-4E47-8EC5-C8A0EA86050A}" type="presOf" srcId="{8F31C69D-49C5-4F4B-A460-885443CCE15F}" destId="{2573C286-ACE2-4C32-93F3-1B77C721A485}" srcOrd="0" destOrd="0" presId="urn:microsoft.com/office/officeart/2011/layout/HexagonRadial"/>
    <dgm:cxn modelId="{2D9B99C8-A330-4129-9F73-0A4F56B7DC0B}" srcId="{A078FD1F-5AD0-478C-BCBE-7E17276E0E36}" destId="{F4A03F1A-3346-43E6-A5C4-974469D9F08A}" srcOrd="0" destOrd="0" parTransId="{03E11E62-276F-49E5-8AFF-6185C9BFDD97}" sibTransId="{815A6EAA-B033-40F7-A163-1B8E5402BE80}"/>
    <dgm:cxn modelId="{3DB1444A-2A46-477C-9974-B40BB17328C1}" type="presOf" srcId="{F4A03F1A-3346-43E6-A5C4-974469D9F08A}" destId="{4B96CA4E-B3E6-4030-A9D1-9755F0BE2579}" srcOrd="0" destOrd="0" presId="urn:microsoft.com/office/officeart/2011/layout/HexagonRadial"/>
    <dgm:cxn modelId="{A3311594-2C7A-4519-93CE-ED84220EC261}" srcId="{A078FD1F-5AD0-478C-BCBE-7E17276E0E36}" destId="{5631CCDB-159D-4E57-88A8-41352937E9C9}" srcOrd="5" destOrd="0" parTransId="{C1A3CD4B-69F7-4181-B345-0162158A2F15}" sibTransId="{87288E29-CF2E-4D4F-93A3-2C60377345E9}"/>
    <dgm:cxn modelId="{43F3A001-1E7C-47E1-B124-0B835AD5675F}" type="presOf" srcId="{A078FD1F-5AD0-478C-BCBE-7E17276E0E36}" destId="{9966C66A-76C2-4CD7-9095-926E7E5DA280}" srcOrd="0" destOrd="0" presId="urn:microsoft.com/office/officeart/2011/layout/HexagonRadial"/>
    <dgm:cxn modelId="{E3530D2D-0BB4-4D77-9CDE-09F4A140245E}" type="presOf" srcId="{10F75B5C-737E-496F-9EC5-BBA12CC6E30E}" destId="{B8D45D8E-AD0E-4B6D-BC23-C77AE4AC1C48}" srcOrd="0" destOrd="0" presId="urn:microsoft.com/office/officeart/2011/layout/HexagonRadial"/>
    <dgm:cxn modelId="{7629A273-B3BE-4A7C-9CAD-3F34F7B19E0E}" type="presParOf" srcId="{91F20E45-8544-4BC3-83D9-19CB32464A83}" destId="{9966C66A-76C2-4CD7-9095-926E7E5DA280}" srcOrd="0" destOrd="0" presId="urn:microsoft.com/office/officeart/2011/layout/HexagonRadial"/>
    <dgm:cxn modelId="{6573B32A-0F99-4BD6-B804-DF81217472FD}" type="presParOf" srcId="{91F20E45-8544-4BC3-83D9-19CB32464A83}" destId="{827B1CF6-7517-48EF-90CB-CE76BC0FB4B5}" srcOrd="1" destOrd="0" presId="urn:microsoft.com/office/officeart/2011/layout/HexagonRadial"/>
    <dgm:cxn modelId="{534A950E-282D-48DA-A6B3-C77E8A7A639A}" type="presParOf" srcId="{827B1CF6-7517-48EF-90CB-CE76BC0FB4B5}" destId="{EDFB5089-8B04-40E4-A147-60EAFEDD2655}" srcOrd="0" destOrd="0" presId="urn:microsoft.com/office/officeart/2011/layout/HexagonRadial"/>
    <dgm:cxn modelId="{2995BF55-8E91-4806-B866-0450C3423975}" type="presParOf" srcId="{91F20E45-8544-4BC3-83D9-19CB32464A83}" destId="{4B96CA4E-B3E6-4030-A9D1-9755F0BE2579}" srcOrd="2" destOrd="0" presId="urn:microsoft.com/office/officeart/2011/layout/HexagonRadial"/>
    <dgm:cxn modelId="{332BC281-54A8-475D-922F-534E3FB15E53}" type="presParOf" srcId="{91F20E45-8544-4BC3-83D9-19CB32464A83}" destId="{62E2D415-F577-43D7-A7FD-DF69DB4F8AB7}" srcOrd="3" destOrd="0" presId="urn:microsoft.com/office/officeart/2011/layout/HexagonRadial"/>
    <dgm:cxn modelId="{2FBADB9D-EFD4-4747-A051-F4AE71153244}" type="presParOf" srcId="{62E2D415-F577-43D7-A7FD-DF69DB4F8AB7}" destId="{DCF8EC19-EDC6-476E-A595-D2AE437A613F}" srcOrd="0" destOrd="0" presId="urn:microsoft.com/office/officeart/2011/layout/HexagonRadial"/>
    <dgm:cxn modelId="{9E8597E8-36DC-4B6C-BA23-86A28E521BBB}" type="presParOf" srcId="{91F20E45-8544-4BC3-83D9-19CB32464A83}" destId="{5C35C27E-36FE-406F-AD2B-359760EDEC9D}" srcOrd="4" destOrd="0" presId="urn:microsoft.com/office/officeart/2011/layout/HexagonRadial"/>
    <dgm:cxn modelId="{E4DDB454-A1C3-490F-954E-8ECCBA9684C0}" type="presParOf" srcId="{91F20E45-8544-4BC3-83D9-19CB32464A83}" destId="{D832D063-9C44-4E7B-B9D9-AEED446C7C8D}" srcOrd="5" destOrd="0" presId="urn:microsoft.com/office/officeart/2011/layout/HexagonRadial"/>
    <dgm:cxn modelId="{52449D82-58D4-4D4C-9ABC-B4FA78BDCD88}" type="presParOf" srcId="{D832D063-9C44-4E7B-B9D9-AEED446C7C8D}" destId="{0C8BC195-E4AB-41A1-82C6-425C1EF669AE}" srcOrd="0" destOrd="0" presId="urn:microsoft.com/office/officeart/2011/layout/HexagonRadial"/>
    <dgm:cxn modelId="{EBE644B1-AE9B-4644-95A7-E91F4D8094C6}" type="presParOf" srcId="{91F20E45-8544-4BC3-83D9-19CB32464A83}" destId="{B8D45D8E-AD0E-4B6D-BC23-C77AE4AC1C48}" srcOrd="6" destOrd="0" presId="urn:microsoft.com/office/officeart/2011/layout/HexagonRadial"/>
    <dgm:cxn modelId="{F1CBBCA5-9483-4B17-9311-A90F86236638}" type="presParOf" srcId="{91F20E45-8544-4BC3-83D9-19CB32464A83}" destId="{ABEF6719-B311-4689-A3F6-8AF49CD32B1B}" srcOrd="7" destOrd="0" presId="urn:microsoft.com/office/officeart/2011/layout/HexagonRadial"/>
    <dgm:cxn modelId="{2D098789-FE5E-486B-9672-DF93350AB0D5}" type="presParOf" srcId="{ABEF6719-B311-4689-A3F6-8AF49CD32B1B}" destId="{2DCF0FA6-2BE5-4459-954C-9F736F654141}" srcOrd="0" destOrd="0" presId="urn:microsoft.com/office/officeart/2011/layout/HexagonRadial"/>
    <dgm:cxn modelId="{E9819C5A-7C36-4FF3-82C3-7BAE1A72BE6E}" type="presParOf" srcId="{91F20E45-8544-4BC3-83D9-19CB32464A83}" destId="{0B99B1A6-B7BB-49F4-8371-4DC2B335C03C}" srcOrd="8" destOrd="0" presId="urn:microsoft.com/office/officeart/2011/layout/HexagonRadial"/>
    <dgm:cxn modelId="{95A5ACAD-07DF-452F-BD98-C6B3226DCB9E}" type="presParOf" srcId="{91F20E45-8544-4BC3-83D9-19CB32464A83}" destId="{EEA6E40E-EC21-4029-A117-0646CB63CDDE}" srcOrd="9" destOrd="0" presId="urn:microsoft.com/office/officeart/2011/layout/HexagonRadial"/>
    <dgm:cxn modelId="{91C9E0A7-AB6D-4570-8A88-B718CDA28E99}" type="presParOf" srcId="{EEA6E40E-EC21-4029-A117-0646CB63CDDE}" destId="{6F0DAD91-8AFF-4BBE-B2C8-558514F6C06D}" srcOrd="0" destOrd="0" presId="urn:microsoft.com/office/officeart/2011/layout/HexagonRadial"/>
    <dgm:cxn modelId="{91D0350F-54A4-4DDA-8734-6F0ADB4438B5}" type="presParOf" srcId="{91F20E45-8544-4BC3-83D9-19CB32464A83}" destId="{2573C286-ACE2-4C32-93F3-1B77C721A485}" srcOrd="10" destOrd="0" presId="urn:microsoft.com/office/officeart/2011/layout/HexagonRadial"/>
    <dgm:cxn modelId="{D5B7A3AE-F028-4323-9A00-044D77F7FF67}" type="presParOf" srcId="{91F20E45-8544-4BC3-83D9-19CB32464A83}" destId="{763F4C03-247C-4C45-90CE-98E7A3A6BFDE}" srcOrd="11" destOrd="0" presId="urn:microsoft.com/office/officeart/2011/layout/HexagonRadial"/>
    <dgm:cxn modelId="{D7FC45E6-8EA1-499C-9E10-3C0CD4E3A292}" type="presParOf" srcId="{763F4C03-247C-4C45-90CE-98E7A3A6BFDE}" destId="{18C75241-9D17-4F10-8E00-386A7B04FEF6}" srcOrd="0" destOrd="0" presId="urn:microsoft.com/office/officeart/2011/layout/HexagonRadial"/>
    <dgm:cxn modelId="{0D0F9772-2AA9-44C1-B553-624FE92762F3}" type="presParOf" srcId="{91F20E45-8544-4BC3-83D9-19CB32464A83}" destId="{E658E950-406E-48D2-B750-D6A263381655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C97EB2-FD74-48C5-983C-E8FC0DC6418C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049B1350-06D4-4B3C-BB01-6CFDBC7A7A54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dirty="0" smtClean="0"/>
            <a:t>In Person</a:t>
          </a:r>
          <a:endParaRPr lang="en-US" dirty="0"/>
        </a:p>
      </dgm:t>
    </dgm:pt>
    <dgm:pt modelId="{04EDE99D-CBBD-4B99-90C2-4F2535AA79E4}" type="parTrans" cxnId="{741EA833-59C9-481A-828F-E0A0004106CD}">
      <dgm:prSet/>
      <dgm:spPr/>
      <dgm:t>
        <a:bodyPr/>
        <a:lstStyle/>
        <a:p>
          <a:endParaRPr lang="en-US"/>
        </a:p>
      </dgm:t>
    </dgm:pt>
    <dgm:pt modelId="{E35B9556-E53D-4A69-B849-09D13B20380A}" type="sibTrans" cxnId="{741EA833-59C9-481A-828F-E0A0004106CD}">
      <dgm:prSet/>
      <dgm:spPr/>
      <dgm:t>
        <a:bodyPr/>
        <a:lstStyle/>
        <a:p>
          <a:endParaRPr lang="en-US"/>
        </a:p>
      </dgm:t>
    </dgm:pt>
    <dgm:pt modelId="{764E48F6-E62C-4AE0-97AD-E1E30A294A59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dirty="0" smtClean="0"/>
            <a:t>My Path</a:t>
          </a:r>
          <a:endParaRPr lang="en-US" dirty="0"/>
        </a:p>
      </dgm:t>
    </dgm:pt>
    <dgm:pt modelId="{38771B62-D6CC-4E6D-B8FD-82A93CE139BD}" type="parTrans" cxnId="{8A13D474-7CD5-498B-BF8C-8C10A4DF2D24}">
      <dgm:prSet/>
      <dgm:spPr/>
      <dgm:t>
        <a:bodyPr/>
        <a:lstStyle/>
        <a:p>
          <a:endParaRPr lang="en-US"/>
        </a:p>
      </dgm:t>
    </dgm:pt>
    <dgm:pt modelId="{2D96D918-C50A-4384-9FCD-45CCF0D8FF07}" type="sibTrans" cxnId="{8A13D474-7CD5-498B-BF8C-8C10A4DF2D24}">
      <dgm:prSet/>
      <dgm:spPr/>
      <dgm:t>
        <a:bodyPr/>
        <a:lstStyle/>
        <a:p>
          <a:endParaRPr lang="en-US"/>
        </a:p>
      </dgm:t>
    </dgm:pt>
    <dgm:pt modelId="{1DD2D97E-7B7F-4ECA-B9AD-B8B9A09E6298}">
      <dgm:prSet phldrT="[Text]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dirty="0" smtClean="0"/>
            <a:t>Ongoing: Both Available </a:t>
          </a:r>
          <a:endParaRPr lang="en-US" dirty="0"/>
        </a:p>
      </dgm:t>
    </dgm:pt>
    <dgm:pt modelId="{458625C7-1BAF-435A-A817-C97527A62C69}" type="parTrans" cxnId="{9D4811F6-F57A-4CBE-B307-AE5ACD717526}">
      <dgm:prSet/>
      <dgm:spPr/>
      <dgm:t>
        <a:bodyPr/>
        <a:lstStyle/>
        <a:p>
          <a:endParaRPr lang="en-US"/>
        </a:p>
      </dgm:t>
    </dgm:pt>
    <dgm:pt modelId="{2EC5C144-6390-4475-AEBE-1F8A95AC65B8}" type="sibTrans" cxnId="{9D4811F6-F57A-4CBE-B307-AE5ACD717526}">
      <dgm:prSet/>
      <dgm:spPr/>
      <dgm:t>
        <a:bodyPr/>
        <a:lstStyle/>
        <a:p>
          <a:endParaRPr lang="en-US"/>
        </a:p>
      </dgm:t>
    </dgm:pt>
    <dgm:pt modelId="{20C90119-0296-4682-98C5-BE978E928B0D}" type="pres">
      <dgm:prSet presAssocID="{B7C97EB2-FD74-48C5-983C-E8FC0DC6418C}" presName="CompostProcess" presStyleCnt="0">
        <dgm:presLayoutVars>
          <dgm:dir/>
          <dgm:resizeHandles val="exact"/>
        </dgm:presLayoutVars>
      </dgm:prSet>
      <dgm:spPr/>
    </dgm:pt>
    <dgm:pt modelId="{E3245227-3A9B-48EB-AF76-F1FD9CE281CB}" type="pres">
      <dgm:prSet presAssocID="{B7C97EB2-FD74-48C5-983C-E8FC0DC6418C}" presName="arrow" presStyleLbl="bgShp" presStyleIdx="0" presStyleCnt="1" custLinFactNeighborX="0" custLinFactNeighborY="-6434"/>
      <dgm:spPr>
        <a:solidFill>
          <a:schemeClr val="tx2">
            <a:lumMod val="60000"/>
            <a:lumOff val="40000"/>
          </a:schemeClr>
        </a:solidFill>
      </dgm:spPr>
    </dgm:pt>
    <dgm:pt modelId="{96CB0E79-926F-4102-BE2B-6883CEBC91AA}" type="pres">
      <dgm:prSet presAssocID="{B7C97EB2-FD74-48C5-983C-E8FC0DC6418C}" presName="linearProcess" presStyleCnt="0"/>
      <dgm:spPr/>
    </dgm:pt>
    <dgm:pt modelId="{48FFDBEF-079C-4909-8615-880CD7D71BD9}" type="pres">
      <dgm:prSet presAssocID="{049B1350-06D4-4B3C-BB01-6CFDBC7A7A54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5FC9137-B9DC-4336-BBA4-F0C9D72622B6}" type="pres">
      <dgm:prSet presAssocID="{E35B9556-E53D-4A69-B849-09D13B20380A}" presName="sibTrans" presStyleCnt="0"/>
      <dgm:spPr/>
    </dgm:pt>
    <dgm:pt modelId="{F1D4F8CF-FEE3-4EB8-AD70-8B947276C502}" type="pres">
      <dgm:prSet presAssocID="{764E48F6-E62C-4AE0-97AD-E1E30A294A59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9B8DEF-186D-4793-BBB9-524A764AA235}" type="pres">
      <dgm:prSet presAssocID="{2D96D918-C50A-4384-9FCD-45CCF0D8FF07}" presName="sibTrans" presStyleCnt="0"/>
      <dgm:spPr/>
    </dgm:pt>
    <dgm:pt modelId="{FE792CC4-4197-4CCB-B3FC-881DAE1AB05F}" type="pres">
      <dgm:prSet presAssocID="{1DD2D97E-7B7F-4ECA-B9AD-B8B9A09E6298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9062875-891B-427A-BDE3-1FD027D555DD}" type="presOf" srcId="{B7C97EB2-FD74-48C5-983C-E8FC0DC6418C}" destId="{20C90119-0296-4682-98C5-BE978E928B0D}" srcOrd="0" destOrd="0" presId="urn:microsoft.com/office/officeart/2005/8/layout/hProcess9"/>
    <dgm:cxn modelId="{9D4811F6-F57A-4CBE-B307-AE5ACD717526}" srcId="{B7C97EB2-FD74-48C5-983C-E8FC0DC6418C}" destId="{1DD2D97E-7B7F-4ECA-B9AD-B8B9A09E6298}" srcOrd="2" destOrd="0" parTransId="{458625C7-1BAF-435A-A817-C97527A62C69}" sibTransId="{2EC5C144-6390-4475-AEBE-1F8A95AC65B8}"/>
    <dgm:cxn modelId="{741EA833-59C9-481A-828F-E0A0004106CD}" srcId="{B7C97EB2-FD74-48C5-983C-E8FC0DC6418C}" destId="{049B1350-06D4-4B3C-BB01-6CFDBC7A7A54}" srcOrd="0" destOrd="0" parTransId="{04EDE99D-CBBD-4B99-90C2-4F2535AA79E4}" sibTransId="{E35B9556-E53D-4A69-B849-09D13B20380A}"/>
    <dgm:cxn modelId="{5C903BB7-3512-455C-AB4B-5406F0E0F135}" type="presOf" srcId="{1DD2D97E-7B7F-4ECA-B9AD-B8B9A09E6298}" destId="{FE792CC4-4197-4CCB-B3FC-881DAE1AB05F}" srcOrd="0" destOrd="0" presId="urn:microsoft.com/office/officeart/2005/8/layout/hProcess9"/>
    <dgm:cxn modelId="{8A13D474-7CD5-498B-BF8C-8C10A4DF2D24}" srcId="{B7C97EB2-FD74-48C5-983C-E8FC0DC6418C}" destId="{764E48F6-E62C-4AE0-97AD-E1E30A294A59}" srcOrd="1" destOrd="0" parTransId="{38771B62-D6CC-4E6D-B8FD-82A93CE139BD}" sibTransId="{2D96D918-C50A-4384-9FCD-45CCF0D8FF07}"/>
    <dgm:cxn modelId="{15355E0D-5A0F-4726-BB59-C69971A3C1EA}" type="presOf" srcId="{764E48F6-E62C-4AE0-97AD-E1E30A294A59}" destId="{F1D4F8CF-FEE3-4EB8-AD70-8B947276C502}" srcOrd="0" destOrd="0" presId="urn:microsoft.com/office/officeart/2005/8/layout/hProcess9"/>
    <dgm:cxn modelId="{31881491-51FB-4E30-BC38-86097DA0ECB4}" type="presOf" srcId="{049B1350-06D4-4B3C-BB01-6CFDBC7A7A54}" destId="{48FFDBEF-079C-4909-8615-880CD7D71BD9}" srcOrd="0" destOrd="0" presId="urn:microsoft.com/office/officeart/2005/8/layout/hProcess9"/>
    <dgm:cxn modelId="{35DFD395-44C8-490A-AFD5-E50E6C4FE0E5}" type="presParOf" srcId="{20C90119-0296-4682-98C5-BE978E928B0D}" destId="{E3245227-3A9B-48EB-AF76-F1FD9CE281CB}" srcOrd="0" destOrd="0" presId="urn:microsoft.com/office/officeart/2005/8/layout/hProcess9"/>
    <dgm:cxn modelId="{C4BC501A-C994-4B8A-817B-870173BF77F5}" type="presParOf" srcId="{20C90119-0296-4682-98C5-BE978E928B0D}" destId="{96CB0E79-926F-4102-BE2B-6883CEBC91AA}" srcOrd="1" destOrd="0" presId="urn:microsoft.com/office/officeart/2005/8/layout/hProcess9"/>
    <dgm:cxn modelId="{8744FD40-9F47-4288-A412-2CA55B81AFFA}" type="presParOf" srcId="{96CB0E79-926F-4102-BE2B-6883CEBC91AA}" destId="{48FFDBEF-079C-4909-8615-880CD7D71BD9}" srcOrd="0" destOrd="0" presId="urn:microsoft.com/office/officeart/2005/8/layout/hProcess9"/>
    <dgm:cxn modelId="{89052FE1-F254-4763-B919-AD4C51D77650}" type="presParOf" srcId="{96CB0E79-926F-4102-BE2B-6883CEBC91AA}" destId="{35FC9137-B9DC-4336-BBA4-F0C9D72622B6}" srcOrd="1" destOrd="0" presId="urn:microsoft.com/office/officeart/2005/8/layout/hProcess9"/>
    <dgm:cxn modelId="{15AE1D6F-F180-4983-AC6B-EC2F61490181}" type="presParOf" srcId="{96CB0E79-926F-4102-BE2B-6883CEBC91AA}" destId="{F1D4F8CF-FEE3-4EB8-AD70-8B947276C502}" srcOrd="2" destOrd="0" presId="urn:microsoft.com/office/officeart/2005/8/layout/hProcess9"/>
    <dgm:cxn modelId="{A0609324-F453-4CA8-A6E5-C1A104CEEF77}" type="presParOf" srcId="{96CB0E79-926F-4102-BE2B-6883CEBC91AA}" destId="{329B8DEF-186D-4793-BBB9-524A764AA235}" srcOrd="3" destOrd="0" presId="urn:microsoft.com/office/officeart/2005/8/layout/hProcess9"/>
    <dgm:cxn modelId="{5722BE70-B238-4DB7-AE8B-17A50D0CE147}" type="presParOf" srcId="{96CB0E79-926F-4102-BE2B-6883CEBC91AA}" destId="{FE792CC4-4197-4CCB-B3FC-881DAE1AB05F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66C66A-76C2-4CD7-9095-926E7E5DA280}">
      <dsp:nvSpPr>
        <dsp:cNvPr id="0" name=""/>
        <dsp:cNvSpPr/>
      </dsp:nvSpPr>
      <dsp:spPr>
        <a:xfrm>
          <a:off x="2855424" y="1721075"/>
          <a:ext cx="2187561" cy="1892329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Website</a:t>
          </a:r>
          <a:endParaRPr lang="en-US" sz="2400" kern="1200" dirty="0"/>
        </a:p>
      </dsp:txBody>
      <dsp:txXfrm>
        <a:off x="3217934" y="2034660"/>
        <a:ext cx="1462541" cy="1265159"/>
      </dsp:txXfrm>
    </dsp:sp>
    <dsp:sp modelId="{DCF8EC19-EDC6-476E-A595-D2AE437A613F}">
      <dsp:nvSpPr>
        <dsp:cNvPr id="0" name=""/>
        <dsp:cNvSpPr/>
      </dsp:nvSpPr>
      <dsp:spPr>
        <a:xfrm>
          <a:off x="4225258" y="815723"/>
          <a:ext cx="825360" cy="71115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96CA4E-B3E6-4030-A9D1-9755F0BE2579}">
      <dsp:nvSpPr>
        <dsp:cNvPr id="0" name=""/>
        <dsp:cNvSpPr/>
      </dsp:nvSpPr>
      <dsp:spPr>
        <a:xfrm>
          <a:off x="3056930" y="0"/>
          <a:ext cx="1792691" cy="1550888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Training</a:t>
          </a:r>
          <a:endParaRPr lang="en-US" sz="2400" kern="1200" dirty="0"/>
        </a:p>
      </dsp:txBody>
      <dsp:txXfrm>
        <a:off x="3354017" y="257015"/>
        <a:ext cx="1198517" cy="1036858"/>
      </dsp:txXfrm>
    </dsp:sp>
    <dsp:sp modelId="{0C8BC195-E4AB-41A1-82C6-425C1EF669AE}">
      <dsp:nvSpPr>
        <dsp:cNvPr id="0" name=""/>
        <dsp:cNvSpPr/>
      </dsp:nvSpPr>
      <dsp:spPr>
        <a:xfrm>
          <a:off x="5188518" y="2145208"/>
          <a:ext cx="825360" cy="71115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5C27E-36FE-406F-AD2B-359760EDEC9D}">
      <dsp:nvSpPr>
        <dsp:cNvPr id="0" name=""/>
        <dsp:cNvSpPr/>
      </dsp:nvSpPr>
      <dsp:spPr>
        <a:xfrm>
          <a:off x="4701036" y="953900"/>
          <a:ext cx="1792691" cy="1550888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FAQs</a:t>
          </a:r>
          <a:endParaRPr lang="en-US" sz="2400" kern="1200" dirty="0"/>
        </a:p>
      </dsp:txBody>
      <dsp:txXfrm>
        <a:off x="4998123" y="1210915"/>
        <a:ext cx="1198517" cy="1036858"/>
      </dsp:txXfrm>
    </dsp:sp>
    <dsp:sp modelId="{2DCF0FA6-2BE5-4459-954C-9F736F654141}">
      <dsp:nvSpPr>
        <dsp:cNvPr id="0" name=""/>
        <dsp:cNvSpPr/>
      </dsp:nvSpPr>
      <dsp:spPr>
        <a:xfrm>
          <a:off x="4519375" y="3645947"/>
          <a:ext cx="825360" cy="71115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D45D8E-AD0E-4B6D-BC23-C77AE4AC1C48}">
      <dsp:nvSpPr>
        <dsp:cNvPr id="0" name=""/>
        <dsp:cNvSpPr/>
      </dsp:nvSpPr>
      <dsp:spPr>
        <a:xfrm>
          <a:off x="4701036" y="2829157"/>
          <a:ext cx="1792691" cy="1550888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News</a:t>
          </a:r>
          <a:endParaRPr lang="en-US" sz="2400" kern="1200" dirty="0"/>
        </a:p>
      </dsp:txBody>
      <dsp:txXfrm>
        <a:off x="4998123" y="3086172"/>
        <a:ext cx="1198517" cy="1036858"/>
      </dsp:txXfrm>
    </dsp:sp>
    <dsp:sp modelId="{6F0DAD91-8AFF-4BBE-B2C8-558514F6C06D}">
      <dsp:nvSpPr>
        <dsp:cNvPr id="0" name=""/>
        <dsp:cNvSpPr/>
      </dsp:nvSpPr>
      <dsp:spPr>
        <a:xfrm>
          <a:off x="2859495" y="3801730"/>
          <a:ext cx="825360" cy="711157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99B1A6-B7BB-49F4-8371-4DC2B335C03C}">
      <dsp:nvSpPr>
        <dsp:cNvPr id="0" name=""/>
        <dsp:cNvSpPr/>
      </dsp:nvSpPr>
      <dsp:spPr>
        <a:xfrm>
          <a:off x="3056930" y="3784124"/>
          <a:ext cx="1792691" cy="1550888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Email</a:t>
          </a:r>
          <a:endParaRPr lang="en-US" sz="2400" kern="1200" dirty="0"/>
        </a:p>
      </dsp:txBody>
      <dsp:txXfrm>
        <a:off x="3354017" y="4041139"/>
        <a:ext cx="1198517" cy="1036858"/>
      </dsp:txXfrm>
    </dsp:sp>
    <dsp:sp modelId="{18C75241-9D17-4F10-8E00-386A7B04FEF6}">
      <dsp:nvSpPr>
        <dsp:cNvPr id="0" name=""/>
        <dsp:cNvSpPr/>
      </dsp:nvSpPr>
      <dsp:spPr>
        <a:xfrm>
          <a:off x="1880461" y="2472778"/>
          <a:ext cx="825360" cy="711157"/>
        </a:xfrm>
        <a:prstGeom prst="hexagon">
          <a:avLst>
            <a:gd name="adj" fmla="val 28900"/>
            <a:gd name="vf" fmla="val 11547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73C286-ACE2-4C32-93F3-1B77C721A485}">
      <dsp:nvSpPr>
        <dsp:cNvPr id="0" name=""/>
        <dsp:cNvSpPr/>
      </dsp:nvSpPr>
      <dsp:spPr>
        <a:xfrm>
          <a:off x="1405192" y="2830224"/>
          <a:ext cx="1792691" cy="1550888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Survey</a:t>
          </a:r>
          <a:endParaRPr lang="en-US" sz="2400" kern="1200" dirty="0"/>
        </a:p>
      </dsp:txBody>
      <dsp:txXfrm>
        <a:off x="1702279" y="3087239"/>
        <a:ext cx="1198517" cy="1036858"/>
      </dsp:txXfrm>
    </dsp:sp>
    <dsp:sp modelId="{E658E950-406E-48D2-B750-D6A263381655}">
      <dsp:nvSpPr>
        <dsp:cNvPr id="0" name=""/>
        <dsp:cNvSpPr/>
      </dsp:nvSpPr>
      <dsp:spPr>
        <a:xfrm>
          <a:off x="1405192" y="951766"/>
          <a:ext cx="1792691" cy="1550888"/>
        </a:xfrm>
        <a:prstGeom prst="hexagon">
          <a:avLst>
            <a:gd name="adj" fmla="val 28570"/>
            <a:gd name="vf" fmla="val 115470"/>
          </a:avLst>
        </a:prstGeom>
        <a:solidFill>
          <a:schemeClr val="tx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Meetings</a:t>
          </a:r>
          <a:endParaRPr lang="en-US" sz="2400" kern="1200" dirty="0"/>
        </a:p>
      </dsp:txBody>
      <dsp:txXfrm>
        <a:off x="1702279" y="1208781"/>
        <a:ext cx="1198517" cy="10368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245227-3A9B-48EB-AF76-F1FD9CE281CB}">
      <dsp:nvSpPr>
        <dsp:cNvPr id="0" name=""/>
        <dsp:cNvSpPr/>
      </dsp:nvSpPr>
      <dsp:spPr>
        <a:xfrm>
          <a:off x="417194" y="0"/>
          <a:ext cx="4728210" cy="3127983"/>
        </a:xfrm>
        <a:prstGeom prst="rightArrow">
          <a:avLst/>
        </a:prstGeom>
        <a:solidFill>
          <a:schemeClr val="tx2">
            <a:lumMod val="60000"/>
            <a:lumOff val="4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FFDBEF-079C-4909-8615-880CD7D71BD9}">
      <dsp:nvSpPr>
        <dsp:cNvPr id="0" name=""/>
        <dsp:cNvSpPr/>
      </dsp:nvSpPr>
      <dsp:spPr>
        <a:xfrm>
          <a:off x="188498" y="938394"/>
          <a:ext cx="1668780" cy="1251193"/>
        </a:xfrm>
        <a:prstGeom prst="roundRect">
          <a:avLst/>
        </a:prstGeom>
        <a:solidFill>
          <a:schemeClr val="bg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In Person</a:t>
          </a:r>
          <a:endParaRPr lang="en-US" sz="2300" kern="1200" dirty="0"/>
        </a:p>
      </dsp:txBody>
      <dsp:txXfrm>
        <a:off x="249576" y="999472"/>
        <a:ext cx="1546624" cy="1129037"/>
      </dsp:txXfrm>
    </dsp:sp>
    <dsp:sp modelId="{F1D4F8CF-FEE3-4EB8-AD70-8B947276C502}">
      <dsp:nvSpPr>
        <dsp:cNvPr id="0" name=""/>
        <dsp:cNvSpPr/>
      </dsp:nvSpPr>
      <dsp:spPr>
        <a:xfrm>
          <a:off x="1946910" y="938394"/>
          <a:ext cx="1668780" cy="1251193"/>
        </a:xfrm>
        <a:prstGeom prst="roundRect">
          <a:avLst/>
        </a:prstGeom>
        <a:solidFill>
          <a:schemeClr val="bg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My Path</a:t>
          </a:r>
          <a:endParaRPr lang="en-US" sz="2300" kern="1200" dirty="0"/>
        </a:p>
      </dsp:txBody>
      <dsp:txXfrm>
        <a:off x="2007988" y="999472"/>
        <a:ext cx="1546624" cy="1129037"/>
      </dsp:txXfrm>
    </dsp:sp>
    <dsp:sp modelId="{FE792CC4-4197-4CCB-B3FC-881DAE1AB05F}">
      <dsp:nvSpPr>
        <dsp:cNvPr id="0" name=""/>
        <dsp:cNvSpPr/>
      </dsp:nvSpPr>
      <dsp:spPr>
        <a:xfrm>
          <a:off x="3705321" y="938394"/>
          <a:ext cx="1668780" cy="1251193"/>
        </a:xfrm>
        <a:prstGeom prst="roundRect">
          <a:avLst/>
        </a:prstGeom>
        <a:solidFill>
          <a:schemeClr val="bg1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Ongoing: Both Available </a:t>
          </a:r>
          <a:endParaRPr lang="en-US" sz="2300" kern="1200" dirty="0"/>
        </a:p>
      </dsp:txBody>
      <dsp:txXfrm>
        <a:off x="3766399" y="999472"/>
        <a:ext cx="1546624" cy="1129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9" y="2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1188" y="2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/>
          <a:lstStyle>
            <a:lvl1pPr algn="r">
              <a:defRPr sz="1200"/>
            </a:lvl1pPr>
          </a:lstStyle>
          <a:p>
            <a:fld id="{C5665B36-4B68-4038-B04C-4259637837E9}" type="datetimeFigureOut">
              <a:rPr lang="en-US" smtClean="0"/>
              <a:pPr/>
              <a:t>4/12/2019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9" y="8829997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1188" y="8829997"/>
            <a:ext cx="3037628" cy="464820"/>
          </a:xfrm>
          <a:prstGeom prst="rect">
            <a:avLst/>
          </a:prstGeom>
        </p:spPr>
        <p:txBody>
          <a:bodyPr vert="horz" lIns="91470" tIns="45737" rIns="91470" bIns="45737" rtlCol="0" anchor="b"/>
          <a:lstStyle>
            <a:lvl1pPr algn="r">
              <a:defRPr sz="1200"/>
            </a:lvl1pPr>
          </a:lstStyle>
          <a:p>
            <a:fld id="{D13542EC-0850-4146-A731-B7F0AE82D52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6159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9" y="2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188" y="2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/>
          <a:lstStyle>
            <a:lvl1pPr algn="r">
              <a:defRPr sz="1200"/>
            </a:lvl1pPr>
          </a:lstStyle>
          <a:p>
            <a:pPr>
              <a:defRPr/>
            </a:pPr>
            <a:fld id="{B899B9D9-9514-4BB5-BD1B-84C8C666A399}" type="datetimeFigureOut">
              <a:rPr lang="en-US"/>
              <a:pPr>
                <a:defRPr/>
              </a:pPr>
              <a:t>4/12/2019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89" tIns="46494" rIns="92989" bIns="4649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360" y="4415798"/>
            <a:ext cx="5607684" cy="4183380"/>
          </a:xfrm>
          <a:prstGeom prst="rect">
            <a:avLst/>
          </a:prstGeom>
        </p:spPr>
        <p:txBody>
          <a:bodyPr vert="horz" lIns="92989" tIns="46494" rIns="92989" bIns="4649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9" y="8829997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188" y="8829997"/>
            <a:ext cx="3037628" cy="464820"/>
          </a:xfrm>
          <a:prstGeom prst="rect">
            <a:avLst/>
          </a:prstGeom>
        </p:spPr>
        <p:txBody>
          <a:bodyPr vert="horz" lIns="92989" tIns="46494" rIns="92989" bIns="46494" rtlCol="0" anchor="b"/>
          <a:lstStyle>
            <a:lvl1pPr algn="r">
              <a:defRPr sz="1200"/>
            </a:lvl1pPr>
          </a:lstStyle>
          <a:p>
            <a:pPr>
              <a:defRPr/>
            </a:pPr>
            <a:fld id="{6DD86180-870F-4C4E-80A9-4C1C75E40D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73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62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2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87386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3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14962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4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539448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5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755134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6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704540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159095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8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70523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9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19698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10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289511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11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85560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12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790952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13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01305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14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3041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15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0770487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16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6066945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44941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18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4604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19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806712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20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5173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21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960043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4C93BA-3513-4101-A6FE-9AAD5AEF4851}" type="slidenum">
              <a:rPr lang="en-US" altLang="en-US">
                <a:solidFill>
                  <a:prstClr val="black"/>
                </a:solidFill>
              </a:rPr>
              <a:pPr/>
              <a:t>22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11830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D86180-870F-4C4E-80A9-4C1C75E40D3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485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232E420-7A3D-42C3-8264-B5BCFC0A39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A890F-08BD-4227-B960-C236C3729ED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34880E-BE94-4AD5-ABF2-077AEC65D94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0F0BC1-900A-47A7-B68B-80E16F4A2F5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895C5-5B7E-4DA2-B36B-DA5C7BBD628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D4502B-7789-4E8F-BB3D-5A5CA3FEC2D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E41A-9738-42AF-AA10-C4A23CB8C35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709A0E-C91D-4C08-96DA-A9EF50F917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7F986-FBD9-4779-89EA-1BAFE282271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3505200"/>
            <a:ext cx="7772400" cy="1752600"/>
          </a:xfrm>
        </p:spPr>
        <p:txBody>
          <a:bodyPr/>
          <a:lstStyle>
            <a:lvl1pPr marL="0" indent="0" algn="ctr">
              <a:buFont typeface="Wingdings" pitchFamily="124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pic>
        <p:nvPicPr>
          <p:cNvPr id="3079" name="Picture 7" descr="footerda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6975"/>
            <a:ext cx="914400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907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67633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6587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8769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1210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7279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4747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72291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4311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2158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6145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232E420-7A3D-42C3-8264-B5BCFC0A391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68" r:id="rId1"/>
    <p:sldLayoutId id="2147484369" r:id="rId2"/>
    <p:sldLayoutId id="2147484370" r:id="rId3"/>
    <p:sldLayoutId id="2147484371" r:id="rId4"/>
    <p:sldLayoutId id="2147484372" r:id="rId5"/>
    <p:sldLayoutId id="2147484373" r:id="rId6"/>
    <p:sldLayoutId id="2147484374" r:id="rId7"/>
    <p:sldLayoutId id="2147484375" r:id="rId8"/>
    <p:sldLayoutId id="2147484376" r:id="rId9"/>
    <p:sldLayoutId id="2147484377" r:id="rId10"/>
    <p:sldLayoutId id="2147484378" r:id="rId11"/>
  </p:sldLayoutIdLst>
  <p:transition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00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D700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bg1"/>
          </a:solidFill>
          <a:latin typeface="+mj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footerdar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76975"/>
            <a:ext cx="9144000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647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80" r:id="rId1"/>
    <p:sldLayoutId id="2147484381" r:id="rId2"/>
    <p:sldLayoutId id="2147484382" r:id="rId3"/>
    <p:sldLayoutId id="2147484383" r:id="rId4"/>
    <p:sldLayoutId id="2147484384" r:id="rId5"/>
    <p:sldLayoutId id="2147484385" r:id="rId6"/>
    <p:sldLayoutId id="2147484386" r:id="rId7"/>
    <p:sldLayoutId id="2147484387" r:id="rId8"/>
    <p:sldLayoutId id="2147484388" r:id="rId9"/>
    <p:sldLayoutId id="2147484389" r:id="rId10"/>
    <p:sldLayoutId id="2147484390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24" charset="0"/>
          <a:ea typeface="MS Pゴシック" pitchFamily="-92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124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notesSlide" Target="../notesSlides/notesSlide9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rochester.edu/global/travel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sa.gov/travel/plan-book/per-diem-rates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9" descr="Hor2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4572000"/>
            <a:ext cx="2286000" cy="1798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200400" y="5257800"/>
            <a:ext cx="5943600" cy="0"/>
          </a:xfrm>
          <a:prstGeom prst="line">
            <a:avLst/>
          </a:prstGeom>
          <a:noFill/>
          <a:ln w="50800">
            <a:solidFill>
              <a:srgbClr val="FFDE3B"/>
            </a:solidFill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Text Box 15"/>
          <p:cNvSpPr txBox="1">
            <a:spLocks noChangeArrowheads="1"/>
          </p:cNvSpPr>
          <p:nvPr/>
        </p:nvSpPr>
        <p:spPr bwMode="auto">
          <a:xfrm>
            <a:off x="685800" y="762000"/>
            <a:ext cx="78486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4000" i="1" dirty="0" smtClean="0">
                <a:solidFill>
                  <a:srgbClr val="FFC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Proposed</a:t>
            </a:r>
            <a:r>
              <a:rPr lang="en-US" sz="4000" dirty="0" smtClean="0">
                <a:solidFill>
                  <a:prstClr val="white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Lean Travel &amp; Conference  Policy Updates</a:t>
            </a:r>
          </a:p>
          <a:p>
            <a:endParaRPr lang="en-US" sz="2000" dirty="0">
              <a:solidFill>
                <a:prstClr val="white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4000" dirty="0" smtClean="0">
                <a:solidFill>
                  <a:prstClr val="white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Renamed: Business Expense and Travel Reimbursement Policy</a:t>
            </a:r>
            <a:endParaRPr lang="en-US" sz="4000" dirty="0">
              <a:solidFill>
                <a:prstClr val="white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endParaRPr lang="en-US" sz="24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April 2019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8120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Project Charter</a:t>
            </a:r>
            <a:endParaRPr lang="en-US" sz="3200" cap="all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20479" y="7663896"/>
            <a:ext cx="846576" cy="181937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69863" lvl="1" indent="0">
              <a:spcBef>
                <a:spcPct val="0"/>
              </a:spcBef>
              <a:buNone/>
            </a:pPr>
            <a:endParaRPr lang="en-US" sz="24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69913" lvl="2" indent="0">
              <a:spcBef>
                <a:spcPct val="0"/>
              </a:spcBef>
              <a:buNone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2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838200"/>
            <a:ext cx="77724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Problems being addressed: UR </a:t>
            </a:r>
            <a:r>
              <a:rPr lang="en-US" sz="2400" dirty="0"/>
              <a:t>Travel Policy is </a:t>
            </a:r>
            <a:endParaRPr lang="en-US" sz="2400" dirty="0" smtClean="0"/>
          </a:p>
          <a:p>
            <a:pPr marL="857250" lvl="1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Not clear enough to ensure compliance with IRS </a:t>
            </a:r>
          </a:p>
          <a:p>
            <a:pPr marL="857250" lvl="1" indent="-285750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N</a:t>
            </a:r>
            <a:r>
              <a:rPr lang="en-US" sz="2400" dirty="0" smtClean="0"/>
              <a:t>ot aligned with peers</a:t>
            </a:r>
          </a:p>
          <a:p>
            <a:pPr marL="857250" lvl="1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Outdated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 smtClean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Use Lean to (</a:t>
            </a:r>
            <a:r>
              <a:rPr lang="en-US" sz="2400" b="1" dirty="0" smtClean="0"/>
              <a:t>our Reason for Action</a:t>
            </a:r>
            <a:r>
              <a:rPr lang="en-US" sz="2400" dirty="0" smtClean="0"/>
              <a:t>):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b="1" dirty="0" smtClean="0"/>
              <a:t>Ensure </a:t>
            </a:r>
            <a:r>
              <a:rPr lang="en-US" sz="2400" b="1" dirty="0"/>
              <a:t>compliance with current IRS Accountable Plan </a:t>
            </a:r>
            <a:r>
              <a:rPr lang="en-US" sz="2400" b="1" dirty="0" smtClean="0"/>
              <a:t>Rules</a:t>
            </a:r>
          </a:p>
          <a:p>
            <a:pPr marL="914400" lvl="1" indent="-457200">
              <a:buFont typeface="+mj-lt"/>
              <a:buAutoNum type="arabicParenR"/>
            </a:pPr>
            <a:endParaRPr lang="en-US" sz="2400" b="1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US" sz="2400" b="1" dirty="0" smtClean="0"/>
              <a:t>Benchmark/Align </a:t>
            </a:r>
            <a:r>
              <a:rPr lang="en-US" sz="2400" b="1" dirty="0"/>
              <a:t>with </a:t>
            </a:r>
            <a:r>
              <a:rPr lang="en-US" sz="2400" b="1" dirty="0" smtClean="0"/>
              <a:t>peers</a:t>
            </a:r>
          </a:p>
          <a:p>
            <a:pPr marL="914400" lvl="1" indent="-457200">
              <a:buFont typeface="+mj-lt"/>
              <a:buAutoNum type="arabicParenR"/>
            </a:pPr>
            <a:endParaRPr lang="en-US" sz="2400" b="1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US" sz="2400" b="1" dirty="0" smtClean="0"/>
              <a:t>Address </a:t>
            </a:r>
            <a:r>
              <a:rPr lang="en-US" sz="2400" b="1" dirty="0"/>
              <a:t>preferred purchasing </a:t>
            </a:r>
            <a:r>
              <a:rPr lang="en-US" sz="2400" b="1" dirty="0" smtClean="0"/>
              <a:t>methods</a:t>
            </a:r>
          </a:p>
          <a:p>
            <a:pPr marL="914400" lvl="1" indent="-457200">
              <a:buFont typeface="+mj-lt"/>
              <a:buAutoNum type="arabicParenR"/>
            </a:pPr>
            <a:endParaRPr lang="en-US" sz="2400" b="1" dirty="0" smtClean="0"/>
          </a:p>
          <a:p>
            <a:pPr marL="914400" lvl="1" indent="-457200">
              <a:buFont typeface="+mj-lt"/>
              <a:buAutoNum type="arabicParenR"/>
            </a:pPr>
            <a:r>
              <a:rPr lang="en-US" sz="2400" b="1" dirty="0" smtClean="0"/>
              <a:t>Enhance </a:t>
            </a:r>
            <a:r>
              <a:rPr lang="en-US" sz="2400" b="1" dirty="0"/>
              <a:t>communications and </a:t>
            </a:r>
            <a:r>
              <a:rPr lang="en-US" sz="2400" b="1" dirty="0" smtClean="0"/>
              <a:t>training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73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Key Stakeholders</a:t>
            </a:r>
            <a:endParaRPr lang="en-US" sz="3200" cap="all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20479" y="7663896"/>
            <a:ext cx="846576" cy="181937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69863" lvl="1" indent="0">
              <a:spcBef>
                <a:spcPct val="0"/>
              </a:spcBef>
              <a:buNone/>
            </a:pPr>
            <a:endParaRPr lang="en-US" sz="24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69913" lvl="2" indent="0">
              <a:spcBef>
                <a:spcPct val="0"/>
              </a:spcBef>
              <a:buNone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3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838200"/>
            <a:ext cx="777240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R="0" lvl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endParaRPr lang="en-US" sz="2400" dirty="0">
              <a:solidFill>
                <a:schemeClr val="dk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76101" y="1808592"/>
            <a:ext cx="381554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Caroline </a:t>
            </a:r>
            <a:r>
              <a:rPr lang="en-US" dirty="0"/>
              <a:t>Burnicki, Sr Director for Tax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Gunta Liders, AVP for Research and Project Admin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Alan Ryon, Manager for International Travel and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Scott Lawlor, Audit Supervisor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Kathy King-Griswold, Associate Treasurer &amp; Director of Treasury Operations &amp;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Luis Perez, Sr Purchasing Manager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Erin Johnson, Travel </a:t>
            </a:r>
            <a:r>
              <a:rPr lang="en-US" dirty="0" smtClean="0"/>
              <a:t>Accountant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94126" y="1808592"/>
            <a:ext cx="377857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Cheryl Bennett (10)</a:t>
            </a:r>
          </a:p>
          <a:p>
            <a:r>
              <a:rPr lang="en-US" dirty="0"/>
              <a:t>Roger Smith (20, 21, 22)</a:t>
            </a:r>
          </a:p>
          <a:p>
            <a:r>
              <a:rPr lang="en-US" dirty="0"/>
              <a:t>Brian Donovan (23)</a:t>
            </a:r>
          </a:p>
          <a:p>
            <a:r>
              <a:rPr lang="en-US" dirty="0"/>
              <a:t>Tracy Korts (24) </a:t>
            </a:r>
          </a:p>
          <a:p>
            <a:r>
              <a:rPr lang="en-US" dirty="0"/>
              <a:t>Michele Gibson/Jen Horn (30)</a:t>
            </a:r>
          </a:p>
          <a:p>
            <a:r>
              <a:rPr lang="en-US" dirty="0"/>
              <a:t>Bill Passalacqua (40)</a:t>
            </a:r>
          </a:p>
          <a:p>
            <a:r>
              <a:rPr lang="en-US" dirty="0"/>
              <a:t>Carrie Fuller-Spencer (50)</a:t>
            </a:r>
          </a:p>
          <a:p>
            <a:r>
              <a:rPr lang="en-US" dirty="0"/>
              <a:t>Kelly Talarczyk (60)</a:t>
            </a:r>
          </a:p>
          <a:p>
            <a:r>
              <a:rPr lang="en-US" dirty="0"/>
              <a:t>Sheryl </a:t>
            </a:r>
            <a:r>
              <a:rPr lang="en-US" dirty="0" smtClean="0"/>
              <a:t>Burgstrom </a:t>
            </a:r>
            <a:r>
              <a:rPr lang="en-US" dirty="0"/>
              <a:t>(70)</a:t>
            </a:r>
          </a:p>
          <a:p>
            <a:r>
              <a:rPr lang="en-US" dirty="0"/>
              <a:t>Kathy Strojny (90)</a:t>
            </a:r>
          </a:p>
          <a:p>
            <a:r>
              <a:rPr lang="en-US" dirty="0"/>
              <a:t>Jill Hetterich (91)</a:t>
            </a:r>
          </a:p>
          <a:p>
            <a:r>
              <a:rPr lang="en-US" dirty="0"/>
              <a:t>Ed Reif (92)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101" y="869923"/>
            <a:ext cx="78989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Project Sponsor: Elizabeth A Milavec, AVP Financial Operations &amp; Controller</a:t>
            </a:r>
          </a:p>
          <a:p>
            <a:r>
              <a:rPr lang="en-US" dirty="0" smtClean="0"/>
              <a:t>Project Manager: Marta Herman, Accounts Payable 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3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Core Team</a:t>
            </a:r>
            <a:endParaRPr lang="en-US" sz="3200" cap="all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20479" y="7663896"/>
            <a:ext cx="846576" cy="181937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69863" lvl="1" indent="0">
              <a:spcBef>
                <a:spcPct val="0"/>
              </a:spcBef>
              <a:buNone/>
            </a:pPr>
            <a:endParaRPr lang="en-US" sz="24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69913" lvl="2" indent="0">
              <a:spcBef>
                <a:spcPct val="0"/>
              </a:spcBef>
              <a:buNone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4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838200"/>
            <a:ext cx="7772400" cy="1431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dirty="0"/>
          </a:p>
          <a:p>
            <a:pPr marR="0" lvl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tabLst/>
              <a:defRPr/>
            </a:pPr>
            <a:endParaRPr lang="en-US" sz="2400" dirty="0">
              <a:solidFill>
                <a:schemeClr val="dk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063842"/>
              </p:ext>
            </p:extLst>
          </p:nvPr>
        </p:nvGraphicFramePr>
        <p:xfrm>
          <a:off x="609599" y="879077"/>
          <a:ext cx="3886201" cy="43957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2001">
                  <a:extLst>
                    <a:ext uri="{9D8B030D-6E8A-4147-A177-3AD203B41FA5}">
                      <a16:colId xmlns:a16="http://schemas.microsoft.com/office/drawing/2014/main" val="224186030"/>
                    </a:ext>
                  </a:extLst>
                </a:gridCol>
                <a:gridCol w="1584385">
                  <a:extLst>
                    <a:ext uri="{9D8B030D-6E8A-4147-A177-3AD203B41FA5}">
                      <a16:colId xmlns:a16="http://schemas.microsoft.com/office/drawing/2014/main" val="1065325147"/>
                    </a:ext>
                  </a:extLst>
                </a:gridCol>
                <a:gridCol w="1539815">
                  <a:extLst>
                    <a:ext uri="{9D8B030D-6E8A-4147-A177-3AD203B41FA5}">
                      <a16:colId xmlns:a16="http://schemas.microsoft.com/office/drawing/2014/main" val="47988341"/>
                    </a:ext>
                  </a:extLst>
                </a:gridCol>
              </a:tblGrid>
              <a:tr h="2276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sng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Division</a:t>
                      </a:r>
                      <a:endParaRPr lang="en-US" sz="1400" b="1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sng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Department</a:t>
                      </a:r>
                      <a:endParaRPr lang="en-US" sz="1400" b="1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sng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Name</a:t>
                      </a:r>
                      <a:endParaRPr lang="en-US" sz="1400" b="1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87301559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Advancement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Ryan Balys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50769551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Advancement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Christine Nyman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5899422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Institutional Resources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Tammy Lancy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59012691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Institutional Resources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Andrea Saunders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77252043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President's Office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Jen Faler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724376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Enrollment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Emmorie Anschutz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5103008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Resident Life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Fazeelah Chappell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4631006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Chemistry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Anna Kuitems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2449133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Deans Office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JC Stevens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0970404"/>
                  </a:ext>
                </a:extLst>
              </a:tr>
              <a:tr h="42717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Earth &amp; Environmental Sciences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Melissa Napolitano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10263440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Deans Office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Tim Woodward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57501244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Laser Lab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Sarah Zawodzkinski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53956819"/>
                  </a:ext>
                </a:extLst>
              </a:tr>
              <a:tr h="3924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Optics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Adrienne Snopkowski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43081151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Simon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Joe Kreel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93560830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Warner Finance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Christine Ferreri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8875267"/>
                  </a:ext>
                </a:extLst>
              </a:tr>
              <a:tr h="23852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ESM Administration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Jen Horn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0667597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53746"/>
              </p:ext>
            </p:extLst>
          </p:nvPr>
        </p:nvGraphicFramePr>
        <p:xfrm>
          <a:off x="4481945" y="879077"/>
          <a:ext cx="4267200" cy="42591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5214">
                  <a:extLst>
                    <a:ext uri="{9D8B030D-6E8A-4147-A177-3AD203B41FA5}">
                      <a16:colId xmlns:a16="http://schemas.microsoft.com/office/drawing/2014/main" val="539507017"/>
                    </a:ext>
                  </a:extLst>
                </a:gridCol>
                <a:gridCol w="1801451">
                  <a:extLst>
                    <a:ext uri="{9D8B030D-6E8A-4147-A177-3AD203B41FA5}">
                      <a16:colId xmlns:a16="http://schemas.microsoft.com/office/drawing/2014/main" val="4047801016"/>
                    </a:ext>
                  </a:extLst>
                </a:gridCol>
                <a:gridCol w="1800535">
                  <a:extLst>
                    <a:ext uri="{9D8B030D-6E8A-4147-A177-3AD203B41FA5}">
                      <a16:colId xmlns:a16="http://schemas.microsoft.com/office/drawing/2014/main" val="3716829626"/>
                    </a:ext>
                  </a:extLst>
                </a:gridCol>
              </a:tblGrid>
              <a:tr h="24107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sng" strike="noStrike" dirty="0">
                          <a:effectLst/>
                          <a:latin typeface="Arial Narrow" panose="020B0606020202030204" pitchFamily="34" charset="0"/>
                        </a:rPr>
                        <a:t>Division</a:t>
                      </a:r>
                      <a:endParaRPr lang="en-US" sz="1400" b="1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sng" strike="noStrike" dirty="0">
                          <a:effectLst/>
                          <a:latin typeface="Arial Narrow" panose="020B0606020202030204" pitchFamily="34" charset="0"/>
                        </a:rPr>
                        <a:t>Department</a:t>
                      </a:r>
                      <a:endParaRPr lang="en-US" sz="1400" b="1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sng" strike="noStrike" dirty="0">
                          <a:effectLst/>
                          <a:latin typeface="Arial Narrow" panose="020B0606020202030204" pitchFamily="34" charset="0"/>
                        </a:rPr>
                        <a:t>Name</a:t>
                      </a:r>
                      <a:endParaRPr lang="en-US" sz="1400" b="1" i="0" u="sng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45404903"/>
                  </a:ext>
                </a:extLst>
              </a:tr>
              <a:tr h="25936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Pharmacology</a:t>
                      </a:r>
                      <a:r>
                        <a:rPr lang="en-US" sz="1400" u="none" strike="noStrike" dirty="0" smtClean="0">
                          <a:effectLst/>
                          <a:latin typeface="Arial Narrow" panose="020B0606020202030204" pitchFamily="34" charset="0"/>
                        </a:rPr>
                        <a:t>/ Physiology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Francine Summermatter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0002026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40 / 91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Medicine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Mark Richards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4804332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40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SMD Deans Office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Donna Galloway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12600252"/>
                  </a:ext>
                </a:extLst>
              </a:tr>
              <a:tr h="18068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50 / 91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Neurology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Sara Uschold/ Alanna Orr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6559094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50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Neurology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Charlie Levin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1258430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60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SON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Kyle Dembrow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71843047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70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MAG Administration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Patti Walker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7246480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90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HSD/MC Finance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Sandy Torrell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2635357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90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ISD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MaryAnn Capuano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8296644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91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URMFG Administration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Lisa Clarke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2826811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92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EIOH Finance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Mike Winter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8283684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Global Engagement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Michelle Bopp-Smith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7718101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ORPA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Anthony Beckman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77139578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Purchasing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Brian Bowdish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14335554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Purchasing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Nathan Hodge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5189892"/>
                  </a:ext>
                </a:extLst>
              </a:tr>
              <a:tr h="252559"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Risk Management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  <a:latin typeface="Arial Narrow" panose="020B0606020202030204" pitchFamily="34" charset="0"/>
                        </a:rPr>
                        <a:t>Mary Goldenberg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6970368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02425" y="5791200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Overall attendance 80%!</a:t>
            </a:r>
            <a:endParaRPr lang="en-US" dirty="0"/>
          </a:p>
        </p:txBody>
      </p:sp>
      <p:pic>
        <p:nvPicPr>
          <p:cNvPr id="2050" name="Picture 2" descr="Image result for image for star attendanc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9453" y="5106367"/>
            <a:ext cx="1192694" cy="113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548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IRS Compliance Keys</a:t>
            </a:r>
            <a:endParaRPr lang="en-US" sz="3200" cap="all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20479" y="7663896"/>
            <a:ext cx="846576" cy="181937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69863" lvl="1" indent="0">
              <a:spcBef>
                <a:spcPct val="0"/>
              </a:spcBef>
              <a:buNone/>
            </a:pPr>
            <a:endParaRPr lang="en-US" sz="24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69913" lvl="2" indent="0">
              <a:spcBef>
                <a:spcPct val="0"/>
              </a:spcBef>
              <a:buNone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5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838200"/>
            <a:ext cx="7772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sz="2800" dirty="0" smtClean="0"/>
              <a:t>Timeliness of expense submissions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60 days = IRS reasonable amount of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514350" indent="-514350">
              <a:buFont typeface="+mj-lt"/>
              <a:buAutoNum type="arabicParenR"/>
            </a:pPr>
            <a:r>
              <a:rPr lang="en-US" sz="2800" dirty="0" smtClean="0"/>
              <a:t>Expense documentation details including business purpose explanations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Most room for improvement needed on the “why” = business connection for incurring the expense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514350" indent="-514350">
              <a:buFont typeface="+mj-lt"/>
              <a:buAutoNum type="arabicParenR"/>
            </a:pPr>
            <a:r>
              <a:rPr lang="en-US" sz="2800" dirty="0" smtClean="0"/>
              <a:t>Fly America Act: US air carrier for federally funded activities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Exceptions should be documented properly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196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BENCHMARKING</a:t>
            </a:r>
            <a:endParaRPr lang="en-US" sz="3200" cap="all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20479" y="7663896"/>
            <a:ext cx="846576" cy="181937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69863" lvl="1" indent="0">
              <a:spcBef>
                <a:spcPct val="0"/>
              </a:spcBef>
              <a:buNone/>
            </a:pPr>
            <a:endParaRPr lang="en-US" sz="24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69913" lvl="2" indent="0">
              <a:spcBef>
                <a:spcPct val="0"/>
              </a:spcBef>
              <a:buNone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6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799" y="838200"/>
            <a:ext cx="3930063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defRPr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Cornell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Per diem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Documentation requirements</a:t>
            </a:r>
          </a:p>
          <a:p>
            <a:pPr marL="114300">
              <a:defRPr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>
              <a:defRPr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Brown University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Business Purpose Policy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Missing Receipt Form</a:t>
            </a:r>
          </a:p>
          <a:p>
            <a:pPr marL="114300">
              <a:defRPr/>
            </a:pPr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>
              <a:defRPr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NYU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Fly America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Per diem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Documentation requirements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997779" y="4004817"/>
            <a:ext cx="35814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14300">
              <a:defRPr/>
            </a:pPr>
            <a:r>
              <a:rPr lang="en-US" sz="2400" dirty="0" smtClean="0"/>
              <a:t>Per Diem </a:t>
            </a:r>
          </a:p>
          <a:p>
            <a:pPr marL="457200" indent="-34290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Johns Hopkins</a:t>
            </a:r>
          </a:p>
          <a:p>
            <a:pPr marL="457200" indent="-34290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Northwestern</a:t>
            </a:r>
          </a:p>
          <a:p>
            <a:pPr marL="457200" indent="-342900">
              <a:buFont typeface="Arial" panose="020B0604020202020204" pitchFamily="34" charset="0"/>
              <a:buChar char="•"/>
              <a:defRPr/>
            </a:pPr>
            <a:endParaRPr lang="en-US" sz="2000" dirty="0" smtClean="0"/>
          </a:p>
          <a:p>
            <a:pPr marL="114300">
              <a:defRPr/>
            </a:pPr>
            <a:r>
              <a:rPr lang="en-US" sz="2400" dirty="0" smtClean="0"/>
              <a:t>Missing </a:t>
            </a:r>
            <a:r>
              <a:rPr lang="en-US" sz="2400" dirty="0"/>
              <a:t>Receipt Form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Harvard</a:t>
            </a:r>
            <a:endParaRPr lang="en-US" sz="2000" dirty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Yale</a:t>
            </a:r>
            <a:endParaRPr lang="en-US" sz="2000" dirty="0">
              <a:solidFill>
                <a:schemeClr val="dk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15863" y="947359"/>
            <a:ext cx="3963316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Columbia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Supplemental approval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smtClean="0"/>
              <a:t>Documentation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114300">
              <a:defRPr/>
            </a:pPr>
            <a:r>
              <a:rPr lang="en-US" sz="2400" dirty="0"/>
              <a:t>Stanford</a:t>
            </a:r>
          </a:p>
          <a:p>
            <a:pPr marL="4000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Reasonableness</a:t>
            </a:r>
          </a:p>
          <a:p>
            <a:pPr marL="4000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Per </a:t>
            </a:r>
            <a:r>
              <a:rPr lang="en-US" sz="2000" dirty="0" smtClean="0"/>
              <a:t>diem</a:t>
            </a:r>
            <a:endParaRPr lang="en-US"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58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SURVEY RESULTS</a:t>
            </a:r>
            <a:endParaRPr lang="en-US" sz="3200" cap="all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20479" y="7663896"/>
            <a:ext cx="846576" cy="181937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69863" lvl="1" indent="0">
              <a:spcBef>
                <a:spcPct val="0"/>
              </a:spcBef>
              <a:buNone/>
            </a:pPr>
            <a:endParaRPr lang="en-US" sz="24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69913" lvl="2" indent="0">
              <a:spcBef>
                <a:spcPct val="0"/>
              </a:spcBef>
              <a:buNone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7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838200"/>
            <a:ext cx="77724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700</a:t>
            </a:r>
            <a:r>
              <a:rPr lang="en-US" sz="2400" dirty="0" smtClean="0"/>
              <a:t> responses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 smtClean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 smtClean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 smtClean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 smtClean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 smtClean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endParaRPr lang="en-US" sz="2400" dirty="0" smtClean="0"/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25%: “I am not familiar…with UR’s travel policy…”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57%: Not in favor of per diem</a:t>
            </a:r>
          </a:p>
          <a:p>
            <a:pPr marL="8572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However, per diem: 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Complies with IRS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Better and necessary for some specialty travel 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Is Lean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Aligns with peers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1522446717"/>
              </p:ext>
            </p:extLst>
          </p:nvPr>
        </p:nvGraphicFramePr>
        <p:xfrm>
          <a:off x="152400" y="947359"/>
          <a:ext cx="5791200" cy="34722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1"/>
          <p:cNvGraphicFramePr/>
          <p:nvPr>
            <p:extLst>
              <p:ext uri="{D42A27DB-BD31-4B8C-83A1-F6EECF244321}">
                <p14:modId xmlns:p14="http://schemas.microsoft.com/office/powerpoint/2010/main" val="237564081"/>
              </p:ext>
            </p:extLst>
          </p:nvPr>
        </p:nvGraphicFramePr>
        <p:xfrm>
          <a:off x="5617169" y="817086"/>
          <a:ext cx="3276600" cy="33739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53776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SURVEY RESULTS</a:t>
            </a:r>
            <a:endParaRPr lang="en-US" sz="3200" cap="all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720479" y="7663896"/>
            <a:ext cx="846576" cy="181937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Font typeface="Wingdings" pitchFamily="124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169863" lvl="1" indent="0">
              <a:spcBef>
                <a:spcPct val="0"/>
              </a:spcBef>
              <a:buNone/>
            </a:pPr>
            <a:endParaRPr lang="en-US" sz="24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8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569913" lvl="2" indent="0">
              <a:spcBef>
                <a:spcPct val="0"/>
              </a:spcBef>
              <a:buNone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  <a:p>
            <a:pPr marL="341313" lvl="1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1200" kern="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8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85800" y="838200"/>
            <a:ext cx="77724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80% would prefer to keep or lower the dollar threshold for receipts</a:t>
            </a:r>
          </a:p>
          <a:p>
            <a:pPr marL="857250" lvl="1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However, raising the threshold to $50 is 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lower than the IRS threshold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/>
              <a:t>better for maintaining compliance 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lean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aligns better with some peers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82% in favor of 60 days or less for submitting expenses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60 days aligns with the IRS and benchmarks: Brown, NYU, Vanderbilt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Is better than a lower # of days for maintaining compliance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30 days: Cornell and Northwestern</a:t>
            </a:r>
          </a:p>
          <a:p>
            <a:pPr marL="1314450" lvl="2" indent="-285750">
              <a:buFont typeface="Arial" panose="020B0604020202020204" pitchFamily="34" charset="0"/>
              <a:buChar char="•"/>
              <a:defRPr/>
            </a:pPr>
            <a:r>
              <a:rPr lang="en-US" sz="2000" dirty="0" smtClean="0"/>
              <a:t>10 days: Yale, Stanford, Duke, Emory, Columbia</a:t>
            </a:r>
          </a:p>
          <a:p>
            <a:pPr marL="400050" indent="-285750">
              <a:buFont typeface="Arial" panose="020B0604020202020204" pitchFamily="34" charset="0"/>
              <a:buChar char="•"/>
              <a:defRPr/>
            </a:pPr>
            <a:r>
              <a:rPr lang="en-US" sz="2400" dirty="0" smtClean="0"/>
              <a:t>Training: In-person classroom preferred over MyPath</a:t>
            </a:r>
            <a:endParaRPr lang="en-US" sz="2400" dirty="0">
              <a:solidFill>
                <a:schemeClr val="dk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0967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Project Timeline</a:t>
            </a:r>
            <a:endParaRPr lang="en-US" sz="3200" cap="all" dirty="0"/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9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OTLSHAPE_TB_00000000000000000000000000000000_LeftEndCaps"/>
          <p:cNvSpPr txBox="1"/>
          <p:nvPr>
            <p:custDataLst>
              <p:tags r:id="rId1"/>
            </p:custDataLst>
          </p:nvPr>
        </p:nvSpPr>
        <p:spPr>
          <a:xfrm>
            <a:off x="441117" y="3446595"/>
            <a:ext cx="507062" cy="30777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2000" b="1" spc="-24" dirty="0" smtClean="0">
                <a:solidFill>
                  <a:srgbClr val="C00000"/>
                </a:solidFill>
                <a:latin typeface="Calibri" panose="020F0502020204030204" pitchFamily="34" charset="0"/>
              </a:rPr>
              <a:t>2018</a:t>
            </a:r>
            <a:endParaRPr lang="en-US" sz="1300" b="1" spc="-24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8" name="OTLSHAPE_TB_00000000000000000000000000000000_RightEndCaps"/>
          <p:cNvSpPr txBox="1"/>
          <p:nvPr>
            <p:custDataLst>
              <p:tags r:id="rId2"/>
            </p:custDataLst>
          </p:nvPr>
        </p:nvSpPr>
        <p:spPr>
          <a:xfrm>
            <a:off x="8104480" y="3439075"/>
            <a:ext cx="507062" cy="30777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2000" b="1" spc="-24" dirty="0" smtClean="0">
                <a:solidFill>
                  <a:srgbClr val="006600"/>
                </a:solidFill>
                <a:latin typeface="Calibri" panose="020F0502020204030204" pitchFamily="34" charset="0"/>
              </a:rPr>
              <a:t>2019</a:t>
            </a:r>
            <a:endParaRPr lang="en-US" sz="2000" b="1" spc="-24" dirty="0">
              <a:solidFill>
                <a:srgbClr val="006600"/>
              </a:solidFill>
              <a:latin typeface="Calibri" panose="020F0502020204030204" pitchFamily="34" charset="0"/>
            </a:endParaRPr>
          </a:p>
        </p:txBody>
      </p:sp>
      <p:sp>
        <p:nvSpPr>
          <p:cNvPr id="9" name="OTLSHAPE_TB_00000000000000000000000000000000_ScaleContainer"/>
          <p:cNvSpPr/>
          <p:nvPr>
            <p:custDataLst>
              <p:tags r:id="rId3"/>
            </p:custDataLst>
          </p:nvPr>
        </p:nvSpPr>
        <p:spPr>
          <a:xfrm>
            <a:off x="1027611" y="3447235"/>
            <a:ext cx="7034210" cy="381000"/>
          </a:xfrm>
          <a:prstGeom prst="round2DiagRect">
            <a:avLst>
              <a:gd name="adj1" fmla="val 100000"/>
              <a:gd name="adj2" fmla="val 0"/>
            </a:avLst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TLSHAPE_TB_00000000000000000000000000000000_TimescaleInterval1"/>
          <p:cNvSpPr txBox="1"/>
          <p:nvPr>
            <p:custDataLst>
              <p:tags r:id="rId4"/>
            </p:custDataLst>
          </p:nvPr>
        </p:nvSpPr>
        <p:spPr>
          <a:xfrm>
            <a:off x="1066887" y="3547584"/>
            <a:ext cx="973119" cy="178212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100" spc="-24" dirty="0" smtClean="0">
                <a:solidFill>
                  <a:schemeClr val="lt1"/>
                </a:solidFill>
                <a:latin typeface="Tahoma" panose="020B0604030504040204" pitchFamily="34" charset="0"/>
              </a:rPr>
              <a:t>May 2018	</a:t>
            </a:r>
            <a:endParaRPr lang="en-US" sz="1100" spc="-24" dirty="0">
              <a:solidFill>
                <a:schemeClr val="lt1"/>
              </a:solidFill>
              <a:latin typeface="Tahoma" panose="020B0604030504040204" pitchFamily="34" charset="0"/>
            </a:endParaRPr>
          </a:p>
        </p:txBody>
      </p:sp>
      <p:cxnSp>
        <p:nvCxnSpPr>
          <p:cNvPr id="11" name="OTLSHAPE_TB_00000000000000000000000000000000_Separator2"/>
          <p:cNvCxnSpPr/>
          <p:nvPr>
            <p:custDataLst>
              <p:tags r:id="rId5"/>
            </p:custDataLst>
          </p:nvPr>
        </p:nvCxnSpPr>
        <p:spPr>
          <a:xfrm>
            <a:off x="2040006" y="3492852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OTLSHAPE_TB_00000000000000000000000000000000_Separator6"/>
          <p:cNvCxnSpPr/>
          <p:nvPr>
            <p:custDataLst>
              <p:tags r:id="rId6"/>
            </p:custDataLst>
          </p:nvPr>
        </p:nvCxnSpPr>
        <p:spPr>
          <a:xfrm>
            <a:off x="3357786" y="3500372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TLSHAPE_TB_00000000000000000000000000000000_TimescaleInterval7"/>
          <p:cNvSpPr txBox="1"/>
          <p:nvPr>
            <p:custDataLst>
              <p:tags r:id="rId7"/>
            </p:custDataLst>
          </p:nvPr>
        </p:nvSpPr>
        <p:spPr>
          <a:xfrm>
            <a:off x="3748288" y="3557182"/>
            <a:ext cx="518694" cy="16861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100" spc="-24" dirty="0">
                <a:solidFill>
                  <a:schemeClr val="lt1"/>
                </a:solidFill>
                <a:latin typeface="Tahoma" panose="020B0604030504040204" pitchFamily="34" charset="0"/>
              </a:rPr>
              <a:t>4</a:t>
            </a:r>
            <a:r>
              <a:rPr lang="en-US" sz="1100" spc="-24" dirty="0" smtClean="0">
                <a:solidFill>
                  <a:schemeClr val="lt1"/>
                </a:solidFill>
                <a:latin typeface="Tahoma" panose="020B0604030504040204" pitchFamily="34" charset="0"/>
              </a:rPr>
              <a:t>Q2018</a:t>
            </a:r>
            <a:endParaRPr lang="en-US" sz="1100" spc="-24" dirty="0">
              <a:solidFill>
                <a:schemeClr val="lt1"/>
              </a:solidFill>
              <a:latin typeface="Tahoma" panose="020B0604030504040204" pitchFamily="34" charset="0"/>
            </a:endParaRPr>
          </a:p>
        </p:txBody>
      </p:sp>
      <p:cxnSp>
        <p:nvCxnSpPr>
          <p:cNvPr id="14" name="OTLSHAPE_TB_00000000000000000000000000000000_Separator8"/>
          <p:cNvCxnSpPr/>
          <p:nvPr>
            <p:custDataLst>
              <p:tags r:id="rId8"/>
            </p:custDataLst>
          </p:nvPr>
        </p:nvCxnSpPr>
        <p:spPr>
          <a:xfrm>
            <a:off x="5991309" y="3525391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TLSHAPE_TB_00000000000000000000000000000000_TimescaleInterval3"/>
          <p:cNvSpPr txBox="1"/>
          <p:nvPr>
            <p:custDataLst>
              <p:tags r:id="rId9"/>
            </p:custDataLst>
          </p:nvPr>
        </p:nvSpPr>
        <p:spPr>
          <a:xfrm>
            <a:off x="2479318" y="3480087"/>
            <a:ext cx="533807" cy="29930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100" spc="-24" dirty="0">
                <a:solidFill>
                  <a:schemeClr val="lt1"/>
                </a:solidFill>
                <a:latin typeface="Tahoma" panose="020B0604030504040204" pitchFamily="34" charset="0"/>
              </a:rPr>
              <a:t>3</a:t>
            </a:r>
            <a:r>
              <a:rPr lang="en-US" sz="1100" spc="-24" dirty="0" smtClean="0">
                <a:solidFill>
                  <a:schemeClr val="lt1"/>
                </a:solidFill>
                <a:latin typeface="Tahoma" panose="020B0604030504040204" pitchFamily="34" charset="0"/>
              </a:rPr>
              <a:t>Q2018</a:t>
            </a:r>
            <a:endParaRPr lang="en-US" sz="1100" spc="-24" dirty="0">
              <a:solidFill>
                <a:schemeClr val="lt1"/>
              </a:solidFill>
              <a:latin typeface="Tahoma" panose="020B0604030504040204" pitchFamily="34" charset="0"/>
            </a:endParaRPr>
          </a:p>
        </p:txBody>
      </p:sp>
      <p:cxnSp>
        <p:nvCxnSpPr>
          <p:cNvPr id="16" name="OTLSHAPE_TB_00000000000000000000000000000000_Separator8"/>
          <p:cNvCxnSpPr/>
          <p:nvPr>
            <p:custDataLst>
              <p:tags r:id="rId10"/>
            </p:custDataLst>
          </p:nvPr>
        </p:nvCxnSpPr>
        <p:spPr>
          <a:xfrm>
            <a:off x="4671748" y="3525391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>
            <a:off x="2332417" y="2795553"/>
            <a:ext cx="484632" cy="508808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Down Arrow 17"/>
          <p:cNvSpPr/>
          <p:nvPr/>
        </p:nvSpPr>
        <p:spPr>
          <a:xfrm>
            <a:off x="1185610" y="2795553"/>
            <a:ext cx="484632" cy="508808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Down Arrow 18"/>
          <p:cNvSpPr/>
          <p:nvPr/>
        </p:nvSpPr>
        <p:spPr>
          <a:xfrm>
            <a:off x="3505972" y="2795553"/>
            <a:ext cx="484632" cy="508808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Down Arrow 19"/>
          <p:cNvSpPr/>
          <p:nvPr/>
        </p:nvSpPr>
        <p:spPr>
          <a:xfrm>
            <a:off x="4584020" y="2795553"/>
            <a:ext cx="484632" cy="508808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320936" y="3049957"/>
            <a:ext cx="2740885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/>
              <a:t>Implementation Phase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1077773" y="1919208"/>
            <a:ext cx="8602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Project kickoff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0397" y="1913807"/>
            <a:ext cx="1329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Key Stakeholder Updates</a:t>
            </a:r>
            <a:endParaRPr lang="en-US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1596284" y="4267483"/>
            <a:ext cx="2438236" cy="33855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Core Team Meetings</a:t>
            </a:r>
            <a:endParaRPr lang="en-US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4188040" y="4593153"/>
            <a:ext cx="18903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Core Team Finalize Recommendations</a:t>
            </a: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>
            <a:off x="6482859" y="4576526"/>
            <a:ext cx="9772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Publish Updated Policy</a:t>
            </a:r>
            <a:endParaRPr 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4597810" y="1913807"/>
            <a:ext cx="17031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Recommendations to Key Stakeholders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6452792" y="4119229"/>
            <a:ext cx="1651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Training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7244015" y="4508347"/>
            <a:ext cx="977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New Policy Effective</a:t>
            </a:r>
            <a:endParaRPr lang="en-US" sz="1400" dirty="0"/>
          </a:p>
        </p:txBody>
      </p:sp>
      <p:sp>
        <p:nvSpPr>
          <p:cNvPr id="32" name="Right Arrow 31"/>
          <p:cNvSpPr/>
          <p:nvPr/>
        </p:nvSpPr>
        <p:spPr>
          <a:xfrm>
            <a:off x="6452792" y="4031263"/>
            <a:ext cx="1554267" cy="545263"/>
          </a:xfrm>
          <a:prstGeom prst="right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TLSHAPE_TB_00000000000000000000000000000000_TimescaleInterval7"/>
          <p:cNvSpPr txBox="1"/>
          <p:nvPr>
            <p:custDataLst>
              <p:tags r:id="rId11"/>
            </p:custDataLst>
          </p:nvPr>
        </p:nvSpPr>
        <p:spPr>
          <a:xfrm>
            <a:off x="6452793" y="3552383"/>
            <a:ext cx="518694" cy="16861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100" spc="-24" dirty="0" smtClean="0">
                <a:solidFill>
                  <a:schemeClr val="lt1"/>
                </a:solidFill>
                <a:latin typeface="Tahoma" panose="020B0604030504040204" pitchFamily="34" charset="0"/>
              </a:rPr>
              <a:t>2Q2019</a:t>
            </a:r>
            <a:endParaRPr lang="en-US" sz="1100" spc="-24" dirty="0">
              <a:solidFill>
                <a:schemeClr val="lt1"/>
              </a:solidFill>
              <a:latin typeface="Tahoma" panose="020B0604030504040204" pitchFamily="34" charset="0"/>
            </a:endParaRPr>
          </a:p>
        </p:txBody>
      </p:sp>
      <p:sp>
        <p:nvSpPr>
          <p:cNvPr id="34" name="OTLSHAPE_TB_00000000000000000000000000000000_TimescaleInterval7"/>
          <p:cNvSpPr txBox="1"/>
          <p:nvPr>
            <p:custDataLst>
              <p:tags r:id="rId12"/>
            </p:custDataLst>
          </p:nvPr>
        </p:nvSpPr>
        <p:spPr>
          <a:xfrm>
            <a:off x="5133233" y="3557182"/>
            <a:ext cx="518694" cy="168614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100" spc="-24" dirty="0" smtClean="0">
                <a:solidFill>
                  <a:schemeClr val="lt1"/>
                </a:solidFill>
                <a:latin typeface="Tahoma" panose="020B0604030504040204" pitchFamily="34" charset="0"/>
              </a:rPr>
              <a:t>1Q2019</a:t>
            </a:r>
            <a:endParaRPr lang="en-US" sz="1100" spc="-24" dirty="0">
              <a:solidFill>
                <a:schemeClr val="lt1"/>
              </a:solidFill>
              <a:latin typeface="Tahoma" panose="020B0604030504040204" pitchFamily="34" charset="0"/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1596284" y="4170571"/>
            <a:ext cx="2438236" cy="545263"/>
          </a:xfrm>
          <a:prstGeom prst="rightArrow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OTLSHAPE_TB_00000000000000000000000000000000_Separator8"/>
          <p:cNvCxnSpPr/>
          <p:nvPr>
            <p:custDataLst>
              <p:tags r:id="rId13"/>
            </p:custDataLst>
          </p:nvPr>
        </p:nvCxnSpPr>
        <p:spPr>
          <a:xfrm>
            <a:off x="7328075" y="3500372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5-Point Star 36"/>
          <p:cNvSpPr/>
          <p:nvPr/>
        </p:nvSpPr>
        <p:spPr>
          <a:xfrm>
            <a:off x="6078425" y="3318039"/>
            <a:ext cx="333721" cy="283656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341757" y="1923527"/>
            <a:ext cx="13299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Key Stakeholder Updates</a:t>
            </a:r>
            <a:endParaRPr lang="en-US" sz="1400" dirty="0"/>
          </a:p>
        </p:txBody>
      </p:sp>
      <p:sp>
        <p:nvSpPr>
          <p:cNvPr id="39" name="Down Arrow 38"/>
          <p:cNvSpPr/>
          <p:nvPr/>
        </p:nvSpPr>
        <p:spPr>
          <a:xfrm flipV="1">
            <a:off x="4634753" y="3871442"/>
            <a:ext cx="310352" cy="721711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0" name="Straight Connector 39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890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BUDGET/SPEND TRENDS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10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Average reimbursement has only grown 1.4% over the last 4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However volume of reimbursements has grown 10% and reimbursement dollars 11.5%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229983"/>
              </p:ext>
            </p:extLst>
          </p:nvPr>
        </p:nvGraphicFramePr>
        <p:xfrm>
          <a:off x="304800" y="2590800"/>
          <a:ext cx="8534400" cy="23622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29489">
                  <a:extLst>
                    <a:ext uri="{9D8B030D-6E8A-4147-A177-3AD203B41FA5}">
                      <a16:colId xmlns:a16="http://schemas.microsoft.com/office/drawing/2014/main" val="1584085300"/>
                    </a:ext>
                  </a:extLst>
                </a:gridCol>
                <a:gridCol w="1460382">
                  <a:extLst>
                    <a:ext uri="{9D8B030D-6E8A-4147-A177-3AD203B41FA5}">
                      <a16:colId xmlns:a16="http://schemas.microsoft.com/office/drawing/2014/main" val="3940051556"/>
                    </a:ext>
                  </a:extLst>
                </a:gridCol>
                <a:gridCol w="1024230">
                  <a:extLst>
                    <a:ext uri="{9D8B030D-6E8A-4147-A177-3AD203B41FA5}">
                      <a16:colId xmlns:a16="http://schemas.microsoft.com/office/drawing/2014/main" val="2494554483"/>
                    </a:ext>
                  </a:extLst>
                </a:gridCol>
                <a:gridCol w="1792404">
                  <a:extLst>
                    <a:ext uri="{9D8B030D-6E8A-4147-A177-3AD203B41FA5}">
                      <a16:colId xmlns:a16="http://schemas.microsoft.com/office/drawing/2014/main" val="2499225894"/>
                    </a:ext>
                  </a:extLst>
                </a:gridCol>
                <a:gridCol w="961923">
                  <a:extLst>
                    <a:ext uri="{9D8B030D-6E8A-4147-A177-3AD203B41FA5}">
                      <a16:colId xmlns:a16="http://schemas.microsoft.com/office/drawing/2014/main" val="530334348"/>
                    </a:ext>
                  </a:extLst>
                </a:gridCol>
                <a:gridCol w="1351984">
                  <a:extLst>
                    <a:ext uri="{9D8B030D-6E8A-4147-A177-3AD203B41FA5}">
                      <a16:colId xmlns:a16="http://schemas.microsoft.com/office/drawing/2014/main" val="1178366911"/>
                    </a:ext>
                  </a:extLst>
                </a:gridCol>
                <a:gridCol w="1013988">
                  <a:extLst>
                    <a:ext uri="{9D8B030D-6E8A-4147-A177-3AD203B41FA5}">
                      <a16:colId xmlns:a16="http://schemas.microsoft.com/office/drawing/2014/main" val="2765988842"/>
                    </a:ext>
                  </a:extLst>
                </a:gridCol>
              </a:tblGrid>
              <a:tr h="68251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Calendar</a:t>
                      </a:r>
                      <a:r>
                        <a:rPr lang="en-US" sz="1200" b="1" u="none" strike="noStrike" baseline="0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1" u="none" strike="noStrike" dirty="0" smtClean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Reimbursements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 Change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Reimbursement Dollars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 Change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Reimbursement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2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Percentage Change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5704545"/>
                  </a:ext>
                </a:extLst>
              </a:tr>
              <a:tr h="3359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2015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30,000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20,641,589.85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$688.05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56128318"/>
                  </a:ext>
                </a:extLst>
              </a:tr>
              <a:tr h="3359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2016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33,567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23,505,886.37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13.9%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$700.27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1.8%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6197462"/>
                  </a:ext>
                </a:extLst>
              </a:tr>
              <a:tr h="3359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2017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36,082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26,149,618.74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$724.73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3.5%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6143049"/>
                  </a:ext>
                </a:extLst>
              </a:tr>
              <a:tr h="3359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2018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39,929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10.7%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28,589,051.46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9.3%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$716.00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-1.2%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1142678"/>
                  </a:ext>
                </a:extLst>
              </a:tr>
              <a:tr h="3359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11.5%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1.4%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671676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6416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Data Analysis – </a:t>
            </a:r>
            <a:r>
              <a:rPr lang="en-US" sz="1600" cap="all" dirty="0" smtClean="0"/>
              <a:t>To be updated based on FY2019 results</a:t>
            </a:r>
            <a:endParaRPr lang="en-US" sz="1600" cap="all" dirty="0"/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11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" name="AutoShape 2" descr="Image result for cost saving imag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222002"/>
              </p:ext>
            </p:extLst>
          </p:nvPr>
        </p:nvGraphicFramePr>
        <p:xfrm>
          <a:off x="741218" y="846911"/>
          <a:ext cx="7620000" cy="28532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2406">
                  <a:extLst>
                    <a:ext uri="{9D8B030D-6E8A-4147-A177-3AD203B41FA5}">
                      <a16:colId xmlns:a16="http://schemas.microsoft.com/office/drawing/2014/main" val="1120497638"/>
                    </a:ext>
                  </a:extLst>
                </a:gridCol>
                <a:gridCol w="706375">
                  <a:extLst>
                    <a:ext uri="{9D8B030D-6E8A-4147-A177-3AD203B41FA5}">
                      <a16:colId xmlns:a16="http://schemas.microsoft.com/office/drawing/2014/main" val="666331751"/>
                    </a:ext>
                  </a:extLst>
                </a:gridCol>
                <a:gridCol w="790818">
                  <a:extLst>
                    <a:ext uri="{9D8B030D-6E8A-4147-A177-3AD203B41FA5}">
                      <a16:colId xmlns:a16="http://schemas.microsoft.com/office/drawing/2014/main" val="522020162"/>
                    </a:ext>
                  </a:extLst>
                </a:gridCol>
                <a:gridCol w="1092401">
                  <a:extLst>
                    <a:ext uri="{9D8B030D-6E8A-4147-A177-3AD203B41FA5}">
                      <a16:colId xmlns:a16="http://schemas.microsoft.com/office/drawing/2014/main" val="133756710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538614366"/>
                    </a:ext>
                  </a:extLst>
                </a:gridCol>
              </a:tblGrid>
              <a:tr h="257964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 smtClean="0">
                          <a:effectLst/>
                          <a:latin typeface="Arial Narrow" panose="020B0606020202030204" pitchFamily="34" charset="0"/>
                        </a:rPr>
                        <a:t>Calendar Year 2017</a:t>
                      </a:r>
                    </a:p>
                    <a:p>
                      <a:pPr algn="l" fontAlgn="b"/>
                      <a:r>
                        <a:rPr lang="en-US" sz="1800" b="1" u="none" strike="noStrike" dirty="0" smtClean="0">
                          <a:effectLst/>
                          <a:latin typeface="Arial Narrow" panose="020B0606020202030204" pitchFamily="34" charset="0"/>
                        </a:rPr>
                        <a:t>(in </a:t>
                      </a:r>
                      <a:r>
                        <a:rPr lang="en-US" sz="1800" b="1" u="none" strike="noStrike" dirty="0">
                          <a:effectLst/>
                          <a:latin typeface="Arial Narrow" panose="020B0606020202030204" pitchFamily="34" charset="0"/>
                        </a:rPr>
                        <a:t>thousands)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sz="1800" b="1" u="none" strike="noStrike" dirty="0" smtClean="0">
                          <a:effectLst/>
                          <a:latin typeface="Arial Narrow" panose="020B0606020202030204" pitchFamily="34" charset="0"/>
                        </a:rPr>
                        <a:t>Grant 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Non-Grant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  <a:latin typeface="Arial Narrow" panose="020B0606020202030204" pitchFamily="34" charset="0"/>
                        </a:rPr>
                        <a:t>Goals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7872"/>
                  </a:ext>
                </a:extLst>
              </a:tr>
              <a:tr h="3712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Arial Narrow" panose="020B0606020202030204" pitchFamily="34" charset="0"/>
                        </a:rPr>
                        <a:t>F4-eligible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Narrow" panose="020B0606020202030204" pitchFamily="34" charset="0"/>
                        </a:rPr>
                        <a:t>$139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$1,265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$1,404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 Narrow" panose="020B0606020202030204" pitchFamily="34" charset="0"/>
                        </a:rPr>
                        <a:t>Reduce by 50% (to less than $1m annually)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7537433"/>
                  </a:ext>
                </a:extLst>
              </a:tr>
              <a:tr h="3712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Arial Narrow" panose="020B0606020202030204" pitchFamily="34" charset="0"/>
                        </a:rPr>
                        <a:t>Pcard-eligible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Narrow" panose="020B0606020202030204" pitchFamily="34" charset="0"/>
                        </a:rPr>
                        <a:t>$280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$6,127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$6,407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 Narrow" panose="020B0606020202030204" pitchFamily="34" charset="0"/>
                        </a:rPr>
                        <a:t>Reduce by 75% (to less than $2m annually)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3539750"/>
                  </a:ext>
                </a:extLst>
              </a:tr>
              <a:tr h="507271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Arial Narrow" panose="020B0606020202030204" pitchFamily="34" charset="0"/>
                        </a:rPr>
                        <a:t>Other preferred purchasing method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Narrow" panose="020B0606020202030204" pitchFamily="34" charset="0"/>
                        </a:rPr>
                        <a:t>$309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$1,438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$1,747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  <a:latin typeface="Arial Narrow" panose="020B0606020202030204" pitchFamily="34" charset="0"/>
                        </a:rPr>
                        <a:t>Reduce by 50% (to less than $1m annually)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6750557"/>
                  </a:ext>
                </a:extLst>
              </a:tr>
              <a:tr h="3712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Arial Narrow" panose="020B0606020202030204" pitchFamily="34" charset="0"/>
                        </a:rPr>
                        <a:t>Traditional travel spend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Arial Narrow" panose="020B0606020202030204" pitchFamily="34" charset="0"/>
                        </a:rPr>
                        <a:t>$3,539</a:t>
                      </a:r>
                      <a:endParaRPr lang="en-US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$13,126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$16,665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**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9312595"/>
                  </a:ext>
                </a:extLst>
              </a:tr>
              <a:tr h="371257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effectLst/>
                          <a:latin typeface="Arial Narrow" panose="020B0606020202030204" pitchFamily="34" charset="0"/>
                        </a:rPr>
                        <a:t>Total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Arial Narrow" panose="020B0606020202030204" pitchFamily="34" charset="0"/>
                        </a:rPr>
                        <a:t>$4,267</a:t>
                      </a:r>
                      <a:endParaRPr lang="en-US" b="1" dirty="0"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$21,956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Narrow" panose="020B0606020202030204" pitchFamily="34" charset="0"/>
                        </a:rPr>
                        <a:t>$26,223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 Narrow" panose="020B0606020202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027745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56458" y="3657600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**Non-grant annual growth should be limited to the same percentage designated for overall budgetary changes</a:t>
            </a:r>
          </a:p>
          <a:p>
            <a:r>
              <a:rPr lang="en-US" sz="1600" dirty="0" smtClean="0"/>
              <a:t>**Grant annual growth should match funding %age changes</a:t>
            </a:r>
            <a:endParaRPr lang="en-US" sz="1600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4279483"/>
              </p:ext>
            </p:extLst>
          </p:nvPr>
        </p:nvGraphicFramePr>
        <p:xfrm>
          <a:off x="2074846" y="5638800"/>
          <a:ext cx="4478354" cy="5676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0260">
                  <a:extLst>
                    <a:ext uri="{9D8B030D-6E8A-4147-A177-3AD203B41FA5}">
                      <a16:colId xmlns:a16="http://schemas.microsoft.com/office/drawing/2014/main" val="1600027644"/>
                    </a:ext>
                  </a:extLst>
                </a:gridCol>
                <a:gridCol w="1524047">
                  <a:extLst>
                    <a:ext uri="{9D8B030D-6E8A-4147-A177-3AD203B41FA5}">
                      <a16:colId xmlns:a16="http://schemas.microsoft.com/office/drawing/2014/main" val="961777326"/>
                    </a:ext>
                  </a:extLst>
                </a:gridCol>
                <a:gridCol w="1524047">
                  <a:extLst>
                    <a:ext uri="{9D8B030D-6E8A-4147-A177-3AD203B41FA5}">
                      <a16:colId xmlns:a16="http://schemas.microsoft.com/office/drawing/2014/main" val="20239545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1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2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Year 3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34302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19,165 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  (7,157)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$       (55,479)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529039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0258" y="4602033"/>
            <a:ext cx="7396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Year 1 net impact is an increase to expense due to UR and grant growth while policy and related initiatives are rolling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Thereafter, direct impact from strategic sourcing and F2 usage drive savings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8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Key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12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29948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653691"/>
            <a:ext cx="7898921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Divisions/Departments may chose to publish more strict/detailed policies and </a:t>
            </a:r>
            <a:r>
              <a:rPr lang="en-US" sz="2800" dirty="0" smtClean="0"/>
              <a:t>procedures  </a:t>
            </a:r>
            <a:endParaRPr lang="en-US" sz="2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These policies </a:t>
            </a:r>
            <a:r>
              <a:rPr lang="en-US" sz="2800" dirty="0" smtClean="0"/>
              <a:t>are monitored </a:t>
            </a:r>
            <a:r>
              <a:rPr lang="en-US" sz="2800" dirty="0"/>
              <a:t>for compliance within those areas, not by Accounts Payable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You must adhere to the more strict </a:t>
            </a:r>
            <a:r>
              <a:rPr lang="en-US" sz="2800" dirty="0" smtClean="0"/>
              <a:t>policy</a:t>
            </a:r>
          </a:p>
          <a:p>
            <a:pPr lvl="1"/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Timeliness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F3 or F34 expense report must be submitted to the Department for review and approval within </a:t>
            </a:r>
            <a:r>
              <a:rPr lang="en-US" sz="2800" b="1" dirty="0"/>
              <a:t>60 days</a:t>
            </a:r>
            <a:r>
              <a:rPr lang="en-US" sz="2800" dirty="0"/>
              <a:t> from the date of event, return from trip, or date of expenditure if no event or trip involved.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605877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Key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13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Overview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Buying &amp; Paying Guide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No sales tax reimbursement for capital purchases on F3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Responsibilities as an initiator or someone incurring expenses as well as approver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Reasonableness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Reimbursement via cash from cashiering window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Eliminated for employees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Capped at $50 for students</a:t>
            </a:r>
          </a:p>
          <a:p>
            <a:pPr lvl="1"/>
            <a:endParaRPr lang="en-US" sz="2400" dirty="0" smtClean="0">
              <a:solidFill>
                <a:srgbClr val="FF0000"/>
              </a:solidFill>
            </a:endParaRPr>
          </a:p>
          <a:p>
            <a:pPr lvl="1"/>
            <a:endParaRPr lang="en-US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104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Key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14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Business Purpose emphasized and clarified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Original receipts: electronic/scanned are ok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Employees and departments should take necessary precautions and implement procedures to ensure the same expense is not submitted multiple times. </a:t>
            </a: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Receipt Threshold: $50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If expense item is under $50, employee is still required to provide the name of the vendor, location, date, dollar amount of the expense, and a description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If expense item is $50+ and no receipt available, </a:t>
            </a:r>
            <a:r>
              <a:rPr lang="en-US" sz="2400" b="1" i="1" dirty="0" smtClean="0"/>
              <a:t>Missing Receipt Form </a:t>
            </a:r>
            <a:r>
              <a:rPr lang="en-US" sz="2400" dirty="0" smtClean="0"/>
              <a:t>is required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8162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Key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15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Documentation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International Travel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Faculty, Staff, and Students that are traveling abroad on UR sponsored or supported activity are </a:t>
            </a:r>
            <a:r>
              <a:rPr lang="en-US" sz="2400" u="sng" dirty="0"/>
              <a:t>required to register their trip</a:t>
            </a:r>
            <a:r>
              <a:rPr lang="en-US" sz="2400" dirty="0"/>
              <a:t> with the </a:t>
            </a:r>
            <a:r>
              <a:rPr lang="en-US" sz="2400" u="sng" dirty="0">
                <a:hlinkClick r:id="rId3"/>
              </a:rPr>
              <a:t>Office for Global Engagement</a:t>
            </a:r>
            <a:r>
              <a:rPr lang="en-US" sz="2400" dirty="0"/>
              <a:t>. </a:t>
            </a: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Fly America Act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b="1" i="1" dirty="0" smtClean="0"/>
              <a:t>Fly America Exception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312461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Key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16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Per Diem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Meals &amp; Incidentals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Lodging: Only for international travel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Use of federal per diem rates and guidelines </a:t>
            </a:r>
            <a:r>
              <a:rPr lang="en-US" sz="2800" u="sng" dirty="0" smtClean="0">
                <a:hlinkClick r:id="rId3"/>
              </a:rPr>
              <a:t>GSA.gov/Perdiem</a:t>
            </a:r>
            <a:endParaRPr lang="en-US" sz="2800" u="sng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Allowance for first/last day of trip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How to adjust per diem reimbursement when a meal was hosted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Key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17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Travel arrangements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Benefits of travel agent/F2 process highlighted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Information/Clarifications provided for travel accident insurance and car rental insurance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8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Mileage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FAQ-type clarifications provided with examples including diagrams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New form: </a:t>
            </a:r>
            <a:r>
              <a:rPr lang="en-US" sz="2800" b="1" i="1" dirty="0"/>
              <a:t>Mileage Log </a:t>
            </a:r>
          </a:p>
          <a:p>
            <a:pPr lvl="1"/>
            <a:endParaRPr lang="en-US" sz="240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942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Form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18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7048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Major Updates: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F3 Employee Business Expense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F34 Student </a:t>
            </a:r>
            <a:r>
              <a:rPr lang="en-US" sz="2800" dirty="0"/>
              <a:t>Business Expense </a:t>
            </a:r>
            <a:r>
              <a:rPr lang="en-US" sz="2800" dirty="0" smtClean="0"/>
              <a:t>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Redesigned to start transitioning towards Workday entry of expense reports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Identify expense type then fill in details/explanations for each item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Space provided for each expense item to detail and explain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dirty="0" smtClean="0"/>
              <a:t>Minor Updates: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F2 Request for Advance Air Reservation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AMEX Corporate Card Application (fillable)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63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Ongoing Monitoring for success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19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85800" y="762000"/>
            <a:ext cx="789892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Annual Policy 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Survey to get policy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Track form usage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AMEX applications, F2 usage,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Track per diem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Measure timeliness change (improvement)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Measure payment type volumes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Direct deposit vs check vs cashiering location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Cash advances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 rot="18863600">
            <a:off x="6635774" y="5112903"/>
            <a:ext cx="21119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OTHERS?</a:t>
            </a:r>
            <a:endParaRPr lang="en-US" sz="3200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1766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xagon 8"/>
          <p:cNvSpPr/>
          <p:nvPr/>
        </p:nvSpPr>
        <p:spPr>
          <a:xfrm>
            <a:off x="3200400" y="1828800"/>
            <a:ext cx="825360" cy="711157"/>
          </a:xfrm>
          <a:prstGeom prst="hexagon">
            <a:avLst>
              <a:gd name="adj" fmla="val 28900"/>
              <a:gd name="vf" fmla="val 115470"/>
            </a:avLst>
          </a:prstGeom>
          <a:blipFill rotWithShape="0">
            <a:blip r:embed="rId3"/>
            <a:stretch>
              <a:fillRect/>
            </a:stretch>
          </a:blipFill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Communications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20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117921763"/>
              </p:ext>
            </p:extLst>
          </p:nvPr>
        </p:nvGraphicFramePr>
        <p:xfrm>
          <a:off x="685801" y="837187"/>
          <a:ext cx="7898920" cy="5335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4927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536812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3200" cap="all" dirty="0" smtClean="0"/>
              <a:t>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21</a:t>
            </a:fld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85800" y="762000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08668" y="3856732"/>
            <a:ext cx="789892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smtClean="0"/>
              <a:t>Annual updates will be incorporated into training materials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Track frequently asked questions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OUA observations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Results from monitoring activities/metrics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 smtClean="0"/>
              <a:t>Results from survey responses</a:t>
            </a:r>
            <a:endParaRPr lang="en-US" sz="2400" dirty="0"/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1006894227"/>
              </p:ext>
            </p:extLst>
          </p:nvPr>
        </p:nvGraphicFramePr>
        <p:xfrm>
          <a:off x="1756653" y="762000"/>
          <a:ext cx="5562600" cy="3127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7724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 bwMode="auto">
          <a:xfrm>
            <a:off x="152400" y="152400"/>
            <a:ext cx="8771106" cy="685800"/>
          </a:xfrm>
          <a:prstGeom prst="rect">
            <a:avLst/>
          </a:prstGeom>
          <a:noFill/>
          <a:ln>
            <a:noFill/>
          </a:ln>
          <a:effectLst>
            <a:outerShdw blurRad="50800" dist="12700" dir="8100000" algn="ctr" rotWithShape="0">
              <a:srgbClr val="FFFFFF">
                <a:alpha val="7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3200" cap="all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2pPr>
            <a:lvl3pPr algn="ctr"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3pPr>
            <a:lvl4pPr algn="ctr"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4pPr>
            <a:lvl5pPr algn="ctr"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pitchFamily="124" charset="0"/>
                <a:ea typeface="MS Pゴシック" pitchFamily="-92" charset="-128"/>
              </a:defRPr>
            </a:lvl9pPr>
          </a:lstStyle>
          <a:p>
            <a:r>
              <a:rPr lang="en-US" dirty="0" smtClean="0"/>
              <a:t>Spinoff Projects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639454" y="6400800"/>
            <a:ext cx="2840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fld id="{19F6E41A-9738-42AF-AA10-C4A23CB8C352}" type="slidenum">
              <a:rPr lang="en-US" sz="1400">
                <a:solidFill>
                  <a:schemeClr val="bg1"/>
                </a:solidFill>
              </a:rPr>
              <a:pPr algn="r">
                <a:defRPr/>
              </a:pPr>
              <a:t>22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0257" y="817086"/>
            <a:ext cx="789892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Other policies in development or review: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Moving/Relocation Policy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Taxable Payments to Individuals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Sales Tax Policy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Card solutions being considered for alternative/preferred payment methods: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Research Subject Card solution(s)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Event Card solution</a:t>
            </a:r>
          </a:p>
          <a:p>
            <a:pPr marL="800100" lvl="1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Travel card solution (students travelling with employees)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Cash advance/disbursement analysis </a:t>
            </a:r>
          </a:p>
          <a:p>
            <a:pPr marL="342900" indent="-342900" fontAlgn="auto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University-pay advance reservations for hotels (room charge and hotel taxes only)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680258" y="817086"/>
            <a:ext cx="7898921" cy="2399"/>
          </a:xfrm>
          <a:prstGeom prst="line">
            <a:avLst/>
          </a:prstGeom>
          <a:ln w="34925">
            <a:solidFill>
              <a:srgbClr val="FFDE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Image result for images for action item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0" y="3505200"/>
            <a:ext cx="1039990" cy="1117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78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Hor2colo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9000" y="2514600"/>
            <a:ext cx="2286000" cy="1798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61372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solidFill>
          <a:schemeClr val="accent5">
            <a:lumMod val="75000"/>
          </a:schemeClr>
        </a:solidFill>
        <a:ln w="12700">
          <a:noFill/>
          <a:miter lim="800000"/>
          <a:headEnd/>
          <a:tailEnd/>
        </a:ln>
      </a:spPr>
      <a:bodyPr anchor="ctr">
        <a:spAutoFit/>
      </a:bodyPr>
      <a:lstStyle>
        <a:defPPr>
          <a:defRPr dirty="0" smtClean="0">
            <a:solidFill>
              <a:srgbClr val="FFFF00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Office Theme">
      <a:majorFont>
        <a:latin typeface="Times New Roman"/>
        <a:ea typeface="MS Pゴシック"/>
        <a:cs typeface=""/>
      </a:majorFont>
      <a:minorFont>
        <a:latin typeface="Times New Roman"/>
        <a:ea typeface="MS P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ゴシック" pitchFamily="-9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MS Pゴシック" pitchFamily="-92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E8EAE9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2F3F2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E8EAE9"/>
        </a:lt1>
        <a:dk2>
          <a:srgbClr val="000000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F2F3F2"/>
        </a:accent3>
        <a:accent4>
          <a:srgbClr val="000000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Status xmlns="445c0127-97e6-4ecf-8763-62a3d9444353">In Build</Statu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BF38ED958B0D42A1DB4C3166A68EE8" ma:contentTypeVersion="2" ma:contentTypeDescription="Create a new document." ma:contentTypeScope="" ma:versionID="108eeeb8665d8e084ebb628891056e6d">
  <xsd:schema xmlns:xsd="http://www.w3.org/2001/XMLSchema" xmlns:p="http://schemas.microsoft.com/office/2006/metadata/properties" xmlns:ns2="445c0127-97e6-4ecf-8763-62a3d9444353" targetNamespace="http://schemas.microsoft.com/office/2006/metadata/properties" ma:root="true" ma:fieldsID="67fc13db787d5e920f87b6a691640e83" ns2:_="">
    <xsd:import namespace="445c0127-97e6-4ecf-8763-62a3d9444353"/>
    <xsd:element name="properties">
      <xsd:complexType>
        <xsd:sequence>
          <xsd:element name="documentManagement">
            <xsd:complexType>
              <xsd:all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dms="http://schemas.microsoft.com/office/2006/documentManagement/types" targetNamespace="445c0127-97e6-4ecf-8763-62a3d9444353" elementFormDefault="qualified">
    <xsd:import namespace="http://schemas.microsoft.com/office/2006/documentManagement/types"/>
    <xsd:element name="Status" ma:index="8" nillable="true" ma:displayName="Status" ma:default="In Build" ma:format="Dropdown" ma:internalName="Status">
      <xsd:simpleType>
        <xsd:restriction base="dms:Choice">
          <xsd:enumeration value="In Build"/>
          <xsd:enumeration value="Ready for Testing"/>
          <xsd:enumeration value="In Process"/>
          <xsd:enumeration value="Completed - With Errors"/>
          <xsd:enumeration value="Completed - Without Errors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4.xml><?xml version="1.0" encoding="utf-8"?>
<?mso-contentType ?>
<rca:RCAuthoringProperties xmlns:rca="urn:sharePointPublishingRcaProperties">
  <rca:Converter rca:guid="6dfdc5b4-2a28-4a06-b0c6-ad3901e3a807">
    <rca:property rca:type="InheritParentSettings">False</rca:property>
    <rca:property rca:type="SelectedPageLayout">28</rca:property>
    <rca:property rca:type="SelectedPageField">f55c4d88-1f2e-4ad9-aaa8-819af4ee7ee8</rca:property>
    <rca:property rca:type="SelectedStylesField">00000000-0000-0000-0000-000000000000</rca:property>
    <rca:property rca:type="CreatePageWithSourceDocument">True</rca:property>
    <rca:property rca:type="AllowChangeLocationConfig">False</rca:property>
    <rca:property rca:type="ConfiguredPageLocation">https://uofr.rochester.edu</rca:property>
    <rca:property rca:type="CreateSynchronously">False</rca:property>
    <rca:property rca:type="AllowChangeProcessingConfig">False</rca:property>
    <rca:property rca:type="ConverterSpecificSettings"/>
  </rca:Converter>
</rca:RCAuthoringProperties>
</file>

<file path=customXml/itemProps1.xml><?xml version="1.0" encoding="utf-8"?>
<ds:datastoreItem xmlns:ds="http://schemas.openxmlformats.org/officeDocument/2006/customXml" ds:itemID="{8CE1EC6E-7DEE-40A7-8470-13A775BFD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650506-E0D1-4842-AE4E-075A8982DE02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2006/metadata/properties"/>
    <ds:schemaRef ds:uri="445c0127-97e6-4ecf-8763-62a3d9444353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1A2773B-34BB-4B2F-95B1-ED89D23180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5c0127-97e6-4ecf-8763-62a3d9444353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4.xml><?xml version="1.0" encoding="utf-8"?>
<ds:datastoreItem xmlns:ds="http://schemas.openxmlformats.org/officeDocument/2006/customXml" ds:itemID="{590AE3C2-51D7-4772-85EF-99B26ACECB13}">
  <ds:schemaRefs>
    <ds:schemaRef ds:uri="urn:sharePointPublishingRca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46124</TotalTime>
  <Words>1487</Words>
  <Application>Microsoft Office PowerPoint</Application>
  <PresentationFormat>On-screen Show (4:3)</PresentationFormat>
  <Paragraphs>465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Narrow</vt:lpstr>
      <vt:lpstr>Calibri</vt:lpstr>
      <vt:lpstr>MS Pゴシック</vt:lpstr>
      <vt:lpstr>Tahoma</vt:lpstr>
      <vt:lpstr>Times New Roman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Rochester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EDUCAUSE 2007</dc:subject>
  <dc:creator>Jim Dobbertin, Doug Wylie, John Barden</dc:creator>
  <cp:lastModifiedBy>Ritz, Michael</cp:lastModifiedBy>
  <cp:revision>2706</cp:revision>
  <cp:lastPrinted>2019-03-28T19:47:18Z</cp:lastPrinted>
  <dcterms:created xsi:type="dcterms:W3CDTF">2007-09-21T12:15:26Z</dcterms:created>
  <dcterms:modified xsi:type="dcterms:W3CDTF">2019-04-12T11:24:23Z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ContentTypeId">
    <vt:lpwstr>0x010100F9BF38ED958B0D42A1DB4C3166A68EE8</vt:lpwstr>
  </property>
</Properties>
</file>