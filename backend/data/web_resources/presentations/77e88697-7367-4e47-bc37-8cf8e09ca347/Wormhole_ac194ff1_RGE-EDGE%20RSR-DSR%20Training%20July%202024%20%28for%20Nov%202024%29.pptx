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5"/>
  </p:sldMasterIdLst>
  <p:notesMasterIdLst>
    <p:notesMasterId r:id="rId36"/>
  </p:notesMasterIdLst>
  <p:handoutMasterIdLst>
    <p:handoutMasterId r:id="rId37"/>
  </p:handoutMasterIdLst>
  <p:sldIdLst>
    <p:sldId id="256" r:id="rId6"/>
    <p:sldId id="451" r:id="rId7"/>
    <p:sldId id="460" r:id="rId8"/>
    <p:sldId id="515" r:id="rId9"/>
    <p:sldId id="463" r:id="rId10"/>
    <p:sldId id="518" r:id="rId11"/>
    <p:sldId id="363" r:id="rId12"/>
    <p:sldId id="441" r:id="rId13"/>
    <p:sldId id="431" r:id="rId14"/>
    <p:sldId id="442" r:id="rId15"/>
    <p:sldId id="516" r:id="rId16"/>
    <p:sldId id="453" r:id="rId17"/>
    <p:sldId id="455" r:id="rId18"/>
    <p:sldId id="456" r:id="rId19"/>
    <p:sldId id="457" r:id="rId20"/>
    <p:sldId id="418" r:id="rId21"/>
    <p:sldId id="439" r:id="rId22"/>
    <p:sldId id="444" r:id="rId23"/>
    <p:sldId id="445" r:id="rId24"/>
    <p:sldId id="446" r:id="rId25"/>
    <p:sldId id="432" r:id="rId26"/>
    <p:sldId id="396" r:id="rId27"/>
    <p:sldId id="436" r:id="rId28"/>
    <p:sldId id="513" r:id="rId29"/>
    <p:sldId id="517" r:id="rId30"/>
    <p:sldId id="440" r:id="rId31"/>
    <p:sldId id="397" r:id="rId32"/>
    <p:sldId id="340" r:id="rId33"/>
    <p:sldId id="395" r:id="rId34"/>
    <p:sldId id="394" r:id="rId35"/>
  </p:sldIdLst>
  <p:sldSz cx="9144000" cy="5143500" type="screen16x9"/>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119114-C9B7-C98A-777E-C0F41203F73F}" name="Miller, Mark P" initials="MP" userId="S::mpmiller@usgs.gov::efe94641-e7be-4b77-8024-eb89cd5c4b57" providerId="AD"/>
  <p188:author id="{F6C0D669-F882-ABEB-3A45-627299FBAA91}" name="Campbell, Cara" initials="CC" userId="S::ccampbell@usgs.gov::7ef3d846-6e28-4b0d-a711-96d059444664" providerId="AD"/>
  <p188:author id="{13686D86-2959-BADE-7280-E080964338C0}" name="Hilburger, Steven B" initials="HSB" userId="S::shilburger@usgs.gov::9ea58ea1-ffe5-42a4-b9fd-7159dde7a28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teinheimer, Cynthia A." initials="CAS" lastIdx="6" clrIdx="0"/>
  <p:cmAuthor id="1" name="Jones, Kevin B" initials="JKB" lastIdx="44" clrIdx="1">
    <p:extLst>
      <p:ext uri="{19B8F6BF-5375-455C-9EA6-DF929625EA0E}">
        <p15:presenceInfo xmlns:p15="http://schemas.microsoft.com/office/powerpoint/2012/main" userId="S::kevinjones@usgs.gov::95c71446-b433-4f7c-a950-ae720975afa6" providerId="AD"/>
      </p:ext>
    </p:extLst>
  </p:cmAuthor>
  <p:cmAuthor id="2" name="Rice, Kenneth G" initials="RKG" lastIdx="5" clrIdx="2">
    <p:extLst>
      <p:ext uri="{19B8F6BF-5375-455C-9EA6-DF929625EA0E}">
        <p15:presenceInfo xmlns:p15="http://schemas.microsoft.com/office/powerpoint/2012/main" userId="S-1-5-21-3697291689-1161744426-439199626-22230" providerId="AD"/>
      </p:ext>
    </p:extLst>
  </p:cmAuthor>
  <p:cmAuthor id="3" name="Hilburger, Steven B" initials="HSB" lastIdx="30" clrIdx="3">
    <p:extLst>
      <p:ext uri="{19B8F6BF-5375-455C-9EA6-DF929625EA0E}">
        <p15:presenceInfo xmlns:p15="http://schemas.microsoft.com/office/powerpoint/2012/main" userId="S::shilburger@usgs.gov::9ea58ea1-ffe5-42a4-b9fd-7159dde7a287" providerId="AD"/>
      </p:ext>
    </p:extLst>
  </p:cmAuthor>
  <p:cmAuthor id="4" name="Lamb-Ghenee, Tamara S" initials="LTS" lastIdx="6" clrIdx="4">
    <p:extLst>
      <p:ext uri="{19B8F6BF-5375-455C-9EA6-DF929625EA0E}">
        <p15:presenceInfo xmlns:p15="http://schemas.microsoft.com/office/powerpoint/2012/main" userId="S::tlamb-ghenee@usgs.gov::e2fbf77a-3de4-4b6c-a5fb-195e1468561f" providerId="AD"/>
      </p:ext>
    </p:extLst>
  </p:cmAuthor>
  <p:cmAuthor id="5" name="Campbell, Cara" initials="CC" lastIdx="19" clrIdx="5">
    <p:extLst>
      <p:ext uri="{19B8F6BF-5375-455C-9EA6-DF929625EA0E}">
        <p15:presenceInfo xmlns:p15="http://schemas.microsoft.com/office/powerpoint/2012/main" userId="S::ccampbell@usgs.gov::7ef3d846-6e28-4b0d-a711-96d05944466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6600"/>
    <a:srgbClr val="FFCC00"/>
    <a:srgbClr val="E9E7E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ECFF1D-F845-48D6-88CB-9202BC8501E0}" v="3" dt="2024-07-11T20:21:10.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6611" autoAdjust="0"/>
  </p:normalViewPr>
  <p:slideViewPr>
    <p:cSldViewPr snapToGrid="0">
      <p:cViewPr varScale="1">
        <p:scale>
          <a:sx n="105" d="100"/>
          <a:sy n="105" d="100"/>
        </p:scale>
        <p:origin x="162" y="96"/>
      </p:cViewPr>
      <p:guideLst>
        <p:guide orient="horz" pos="1620"/>
        <p:guide pos="2880"/>
      </p:guideLst>
    </p:cSldViewPr>
  </p:slideViewPr>
  <p:notesTextViewPr>
    <p:cViewPr>
      <p:scale>
        <a:sx n="1" d="1"/>
        <a:sy n="1" d="1"/>
      </p:scale>
      <p:origin x="0" y="0"/>
    </p:cViewPr>
  </p:notesTextViewPr>
  <p:sorterViewPr>
    <p:cViewPr>
      <p:scale>
        <a:sx n="160" d="100"/>
        <a:sy n="160" d="100"/>
      </p:scale>
      <p:origin x="0" y="0"/>
    </p:cViewPr>
  </p:sorter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tour, Maria R" userId="e3ab81e7-495a-4698-8259-107bd19fbc89" providerId="ADAL" clId="{52ECFF1D-F845-48D6-88CB-9202BC8501E0}"/>
    <pc:docChg chg="modSld">
      <pc:chgData name="Montour, Maria R" userId="e3ab81e7-495a-4698-8259-107bd19fbc89" providerId="ADAL" clId="{52ECFF1D-F845-48D6-88CB-9202BC8501E0}" dt="2024-07-11T20:21:38.951" v="34" actId="13244"/>
      <pc:docMkLst>
        <pc:docMk/>
      </pc:docMkLst>
      <pc:sldChg chg="modSp mod">
        <pc:chgData name="Montour, Maria R" userId="e3ab81e7-495a-4698-8259-107bd19fbc89" providerId="ADAL" clId="{52ECFF1D-F845-48D6-88CB-9202BC8501E0}" dt="2024-07-11T20:21:00.924" v="31" actId="962"/>
        <pc:sldMkLst>
          <pc:docMk/>
          <pc:sldMk cId="0" sldId="256"/>
        </pc:sldMkLst>
        <pc:picChg chg="mod">
          <ac:chgData name="Montour, Maria R" userId="e3ab81e7-495a-4698-8259-107bd19fbc89" providerId="ADAL" clId="{52ECFF1D-F845-48D6-88CB-9202BC8501E0}" dt="2024-07-11T20:21:00.924" v="31" actId="962"/>
          <ac:picMkLst>
            <pc:docMk/>
            <pc:sldMk cId="0" sldId="256"/>
            <ac:picMk id="3" creationId="{BFC1DBD9-352A-F6AC-79FA-4CEAD1A59B7E}"/>
          </ac:picMkLst>
        </pc:picChg>
      </pc:sldChg>
      <pc:sldChg chg="modSp mod">
        <pc:chgData name="Montour, Maria R" userId="e3ab81e7-495a-4698-8259-107bd19fbc89" providerId="ADAL" clId="{52ECFF1D-F845-48D6-88CB-9202BC8501E0}" dt="2024-07-11T20:21:38.951" v="34" actId="13244"/>
        <pc:sldMkLst>
          <pc:docMk/>
          <pc:sldMk cId="2797407244" sldId="395"/>
        </pc:sldMkLst>
        <pc:spChg chg="ord">
          <ac:chgData name="Montour, Maria R" userId="e3ab81e7-495a-4698-8259-107bd19fbc89" providerId="ADAL" clId="{52ECFF1D-F845-48D6-88CB-9202BC8501E0}" dt="2024-07-11T20:21:38.951" v="34" actId="13244"/>
          <ac:spMkLst>
            <pc:docMk/>
            <pc:sldMk cId="2797407244" sldId="395"/>
            <ac:spMk id="4" creationId="{1A28AB8A-403E-41C6-AF1B-6ED327BED4E9}"/>
          </ac:spMkLst>
        </pc:spChg>
        <pc:picChg chg="mod">
          <ac:chgData name="Montour, Maria R" userId="e3ab81e7-495a-4698-8259-107bd19fbc89" providerId="ADAL" clId="{52ECFF1D-F845-48D6-88CB-9202BC8501E0}" dt="2024-07-11T20:21:10.823" v="33" actId="962"/>
          <ac:picMkLst>
            <pc:docMk/>
            <pc:sldMk cId="2797407244" sldId="395"/>
            <ac:picMk id="1026" creationId="{AC366AF3-7BE4-FB42-49BA-728849D3D470}"/>
          </ac:picMkLst>
        </pc:picChg>
      </pc:sldChg>
    </pc:docChg>
  </pc:docChgLst>
  <pc:docChgLst>
    <pc:chgData name="Hilburger, Steven B" userId="9ea58ea1-ffe5-42a4-b9fd-7159dde7a287" providerId="ADAL" clId="{E338B675-2E90-47CB-9719-0D0B50C0FAE4}"/>
    <pc:docChg chg="undo custSel delSld modSld">
      <pc:chgData name="Hilburger, Steven B" userId="9ea58ea1-ffe5-42a4-b9fd-7159dde7a287" providerId="ADAL" clId="{E338B675-2E90-47CB-9719-0D0B50C0FAE4}" dt="2024-07-10T16:48:29.522" v="449" actId="20577"/>
      <pc:docMkLst>
        <pc:docMk/>
      </pc:docMkLst>
      <pc:sldChg chg="modNotesTx">
        <pc:chgData name="Hilburger, Steven B" userId="9ea58ea1-ffe5-42a4-b9fd-7159dde7a287" providerId="ADAL" clId="{E338B675-2E90-47CB-9719-0D0B50C0FAE4}" dt="2024-07-10T16:47:56.985" v="445" actId="20577"/>
        <pc:sldMkLst>
          <pc:docMk/>
          <pc:sldMk cId="206845203" sldId="363"/>
        </pc:sldMkLst>
      </pc:sldChg>
      <pc:sldChg chg="modSp mod modNotesTx">
        <pc:chgData name="Hilburger, Steven B" userId="9ea58ea1-ffe5-42a4-b9fd-7159dde7a287" providerId="ADAL" clId="{E338B675-2E90-47CB-9719-0D0B50C0FAE4}" dt="2024-07-10T16:48:29.522" v="449" actId="20577"/>
        <pc:sldMkLst>
          <pc:docMk/>
          <pc:sldMk cId="2797407244" sldId="395"/>
        </pc:sldMkLst>
        <pc:spChg chg="mod">
          <ac:chgData name="Hilburger, Steven B" userId="9ea58ea1-ffe5-42a4-b9fd-7159dde7a287" providerId="ADAL" clId="{E338B675-2E90-47CB-9719-0D0B50C0FAE4}" dt="2024-07-10T16:27:27.922" v="427" actId="113"/>
          <ac:spMkLst>
            <pc:docMk/>
            <pc:sldMk cId="2797407244" sldId="395"/>
            <ac:spMk id="2" creationId="{0E1570D8-192C-49E5-B660-7C46E84A1C3B}"/>
          </ac:spMkLst>
        </pc:spChg>
        <pc:spChg chg="mod">
          <ac:chgData name="Hilburger, Steven B" userId="9ea58ea1-ffe5-42a4-b9fd-7159dde7a287" providerId="ADAL" clId="{E338B675-2E90-47CB-9719-0D0B50C0FAE4}" dt="2024-07-10T16:28:34.643" v="435" actId="255"/>
          <ac:spMkLst>
            <pc:docMk/>
            <pc:sldMk cId="2797407244" sldId="395"/>
            <ac:spMk id="3" creationId="{EC54B90C-E63E-4C10-8F94-B5F64036E005}"/>
          </ac:spMkLst>
        </pc:spChg>
      </pc:sldChg>
      <pc:sldChg chg="modSp mod">
        <pc:chgData name="Hilburger, Steven B" userId="9ea58ea1-ffe5-42a4-b9fd-7159dde7a287" providerId="ADAL" clId="{E338B675-2E90-47CB-9719-0D0B50C0FAE4}" dt="2024-07-10T16:17:09.606" v="81" actId="20577"/>
        <pc:sldMkLst>
          <pc:docMk/>
          <pc:sldMk cId="3869048120" sldId="418"/>
        </pc:sldMkLst>
        <pc:spChg chg="mod">
          <ac:chgData name="Hilburger, Steven B" userId="9ea58ea1-ffe5-42a4-b9fd-7159dde7a287" providerId="ADAL" clId="{E338B675-2E90-47CB-9719-0D0B50C0FAE4}" dt="2024-07-10T16:17:09.606" v="81" actId="20577"/>
          <ac:spMkLst>
            <pc:docMk/>
            <pc:sldMk cId="3869048120" sldId="418"/>
            <ac:spMk id="6" creationId="{33623A4C-ED90-40C3-A409-3806D274C40B}"/>
          </ac:spMkLst>
        </pc:spChg>
      </pc:sldChg>
      <pc:sldChg chg="modSp mod modNotesTx">
        <pc:chgData name="Hilburger, Steven B" userId="9ea58ea1-ffe5-42a4-b9fd-7159dde7a287" providerId="ADAL" clId="{E338B675-2E90-47CB-9719-0D0B50C0FAE4}" dt="2024-07-10T16:48:06.666" v="447" actId="20577"/>
        <pc:sldMkLst>
          <pc:docMk/>
          <pc:sldMk cId="3924928052" sldId="442"/>
        </pc:sldMkLst>
        <pc:spChg chg="mod">
          <ac:chgData name="Hilburger, Steven B" userId="9ea58ea1-ffe5-42a4-b9fd-7159dde7a287" providerId="ADAL" clId="{E338B675-2E90-47CB-9719-0D0B50C0FAE4}" dt="2024-07-10T16:46:38.664" v="442" actId="20577"/>
          <ac:spMkLst>
            <pc:docMk/>
            <pc:sldMk cId="3924928052" sldId="442"/>
            <ac:spMk id="3" creationId="{00000000-0000-0000-0000-000000000000}"/>
          </ac:spMkLst>
        </pc:spChg>
        <pc:spChg chg="mod">
          <ac:chgData name="Hilburger, Steven B" userId="9ea58ea1-ffe5-42a4-b9fd-7159dde7a287" providerId="ADAL" clId="{E338B675-2E90-47CB-9719-0D0B50C0FAE4}" dt="2024-07-10T16:12:13.004" v="3" actId="6549"/>
          <ac:spMkLst>
            <pc:docMk/>
            <pc:sldMk cId="3924928052" sldId="442"/>
            <ac:spMk id="4" creationId="{71B29C58-46AA-416B-A36A-0A486D75BF03}"/>
          </ac:spMkLst>
        </pc:spChg>
      </pc:sldChg>
      <pc:sldChg chg="addSp delSp modSp mod modNotesTx">
        <pc:chgData name="Hilburger, Steven B" userId="9ea58ea1-ffe5-42a4-b9fd-7159dde7a287" providerId="ADAL" clId="{E338B675-2E90-47CB-9719-0D0B50C0FAE4}" dt="2024-07-10T16:48:17.969" v="448" actId="20577"/>
        <pc:sldMkLst>
          <pc:docMk/>
          <pc:sldMk cId="3084318042" sldId="445"/>
        </pc:sldMkLst>
        <pc:spChg chg="mod">
          <ac:chgData name="Hilburger, Steven B" userId="9ea58ea1-ffe5-42a4-b9fd-7159dde7a287" providerId="ADAL" clId="{E338B675-2E90-47CB-9719-0D0B50C0FAE4}" dt="2024-07-10T16:25:51.540" v="424" actId="255"/>
          <ac:spMkLst>
            <pc:docMk/>
            <pc:sldMk cId="3084318042" sldId="445"/>
            <ac:spMk id="3" creationId="{00000000-0000-0000-0000-000000000000}"/>
          </ac:spMkLst>
        </pc:spChg>
        <pc:spChg chg="add del mod">
          <ac:chgData name="Hilburger, Steven B" userId="9ea58ea1-ffe5-42a4-b9fd-7159dde7a287" providerId="ADAL" clId="{E338B675-2E90-47CB-9719-0D0B50C0FAE4}" dt="2024-07-10T16:21:02.335" v="129" actId="478"/>
          <ac:spMkLst>
            <pc:docMk/>
            <pc:sldMk cId="3084318042" sldId="445"/>
            <ac:spMk id="4" creationId="{14AC2D3D-FD20-2D2A-71C1-38D650CE31BC}"/>
          </ac:spMkLst>
        </pc:spChg>
      </pc:sldChg>
      <pc:sldChg chg="modSp mod">
        <pc:chgData name="Hilburger, Steven B" userId="9ea58ea1-ffe5-42a4-b9fd-7159dde7a287" providerId="ADAL" clId="{E338B675-2E90-47CB-9719-0D0B50C0FAE4}" dt="2024-07-10T16:26:14.354" v="426" actId="255"/>
        <pc:sldMkLst>
          <pc:docMk/>
          <pc:sldMk cId="2366183673" sldId="446"/>
        </pc:sldMkLst>
        <pc:spChg chg="mod">
          <ac:chgData name="Hilburger, Steven B" userId="9ea58ea1-ffe5-42a4-b9fd-7159dde7a287" providerId="ADAL" clId="{E338B675-2E90-47CB-9719-0D0B50C0FAE4}" dt="2024-07-10T16:26:14.354" v="426" actId="255"/>
          <ac:spMkLst>
            <pc:docMk/>
            <pc:sldMk cId="2366183673" sldId="446"/>
            <ac:spMk id="3" creationId="{00000000-0000-0000-0000-000000000000}"/>
          </ac:spMkLst>
        </pc:spChg>
      </pc:sldChg>
      <pc:sldChg chg="modSp mod">
        <pc:chgData name="Hilburger, Steven B" userId="9ea58ea1-ffe5-42a4-b9fd-7159dde7a287" providerId="ADAL" clId="{E338B675-2E90-47CB-9719-0D0B50C0FAE4}" dt="2024-07-10T16:45:43.454" v="438" actId="113"/>
        <pc:sldMkLst>
          <pc:docMk/>
          <pc:sldMk cId="2241599047" sldId="455"/>
        </pc:sldMkLst>
        <pc:spChg chg="mod">
          <ac:chgData name="Hilburger, Steven B" userId="9ea58ea1-ffe5-42a4-b9fd-7159dde7a287" providerId="ADAL" clId="{E338B675-2E90-47CB-9719-0D0B50C0FAE4}" dt="2024-07-10T16:45:43.454" v="438" actId="113"/>
          <ac:spMkLst>
            <pc:docMk/>
            <pc:sldMk cId="2241599047" sldId="455"/>
            <ac:spMk id="7" creationId="{127CC782-2320-43BB-9C35-F2C349B53F99}"/>
          </ac:spMkLst>
        </pc:spChg>
      </pc:sldChg>
      <pc:sldChg chg="modSp mod">
        <pc:chgData name="Hilburger, Steven B" userId="9ea58ea1-ffe5-42a4-b9fd-7159dde7a287" providerId="ADAL" clId="{E338B675-2E90-47CB-9719-0D0B50C0FAE4}" dt="2024-07-10T16:15:33.695" v="59" actId="115"/>
        <pc:sldMkLst>
          <pc:docMk/>
          <pc:sldMk cId="1039014221" sldId="456"/>
        </pc:sldMkLst>
        <pc:spChg chg="mod">
          <ac:chgData name="Hilburger, Steven B" userId="9ea58ea1-ffe5-42a4-b9fd-7159dde7a287" providerId="ADAL" clId="{E338B675-2E90-47CB-9719-0D0B50C0FAE4}" dt="2024-07-10T16:15:33.695" v="59" actId="115"/>
          <ac:spMkLst>
            <pc:docMk/>
            <pc:sldMk cId="1039014221" sldId="456"/>
            <ac:spMk id="7" creationId="{127CC782-2320-43BB-9C35-F2C349B53F99}"/>
          </ac:spMkLst>
        </pc:spChg>
      </pc:sldChg>
      <pc:sldChg chg="modSp mod">
        <pc:chgData name="Hilburger, Steven B" userId="9ea58ea1-ffe5-42a4-b9fd-7159dde7a287" providerId="ADAL" clId="{E338B675-2E90-47CB-9719-0D0B50C0FAE4}" dt="2024-07-10T16:16:32.498" v="70" actId="20577"/>
        <pc:sldMkLst>
          <pc:docMk/>
          <pc:sldMk cId="2438278298" sldId="457"/>
        </pc:sldMkLst>
        <pc:spChg chg="mod">
          <ac:chgData name="Hilburger, Steven B" userId="9ea58ea1-ffe5-42a4-b9fd-7159dde7a287" providerId="ADAL" clId="{E338B675-2E90-47CB-9719-0D0B50C0FAE4}" dt="2024-07-10T16:16:12.330" v="66" actId="6549"/>
          <ac:spMkLst>
            <pc:docMk/>
            <pc:sldMk cId="2438278298" sldId="457"/>
            <ac:spMk id="6" creationId="{992F183A-526B-4168-9331-FD7EE00A81DF}"/>
          </ac:spMkLst>
        </pc:spChg>
        <pc:spChg chg="mod">
          <ac:chgData name="Hilburger, Steven B" userId="9ea58ea1-ffe5-42a4-b9fd-7159dde7a287" providerId="ADAL" clId="{E338B675-2E90-47CB-9719-0D0B50C0FAE4}" dt="2024-07-10T16:16:32.498" v="70" actId="20577"/>
          <ac:spMkLst>
            <pc:docMk/>
            <pc:sldMk cId="2438278298" sldId="457"/>
            <ac:spMk id="7" creationId="{127CC782-2320-43BB-9C35-F2C349B53F99}"/>
          </ac:spMkLst>
        </pc:spChg>
      </pc:sldChg>
      <pc:sldChg chg="modNotesTx">
        <pc:chgData name="Hilburger, Steven B" userId="9ea58ea1-ffe5-42a4-b9fd-7159dde7a287" providerId="ADAL" clId="{E338B675-2E90-47CB-9719-0D0B50C0FAE4}" dt="2024-07-10T16:47:50.149" v="443" actId="20577"/>
        <pc:sldMkLst>
          <pc:docMk/>
          <pc:sldMk cId="391527224" sldId="463"/>
        </pc:sldMkLst>
      </pc:sldChg>
      <pc:sldChg chg="modSp mod">
        <pc:chgData name="Hilburger, Steven B" userId="9ea58ea1-ffe5-42a4-b9fd-7159dde7a287" providerId="ADAL" clId="{E338B675-2E90-47CB-9719-0D0B50C0FAE4}" dt="2024-07-10T16:46:03.413" v="439" actId="255"/>
        <pc:sldMkLst>
          <pc:docMk/>
          <pc:sldMk cId="970836711" sldId="516"/>
        </pc:sldMkLst>
        <pc:spChg chg="mod">
          <ac:chgData name="Hilburger, Steven B" userId="9ea58ea1-ffe5-42a4-b9fd-7159dde7a287" providerId="ADAL" clId="{E338B675-2E90-47CB-9719-0D0B50C0FAE4}" dt="2024-07-10T16:46:03.413" v="439" actId="255"/>
          <ac:spMkLst>
            <pc:docMk/>
            <pc:sldMk cId="970836711" sldId="516"/>
            <ac:spMk id="4" creationId="{71B29C58-46AA-416B-A36A-0A486D75BF03}"/>
          </ac:spMkLst>
        </pc:spChg>
      </pc:sldChg>
      <pc:sldChg chg="modNotesTx">
        <pc:chgData name="Hilburger, Steven B" userId="9ea58ea1-ffe5-42a4-b9fd-7159dde7a287" providerId="ADAL" clId="{E338B675-2E90-47CB-9719-0D0B50C0FAE4}" dt="2024-07-10T16:47:54.315" v="444" actId="20577"/>
        <pc:sldMkLst>
          <pc:docMk/>
          <pc:sldMk cId="1550519422" sldId="518"/>
        </pc:sldMkLst>
      </pc:sldChg>
      <pc:sldChg chg="del">
        <pc:chgData name="Hilburger, Steven B" userId="9ea58ea1-ffe5-42a4-b9fd-7159dde7a287" providerId="ADAL" clId="{E338B675-2E90-47CB-9719-0D0B50C0FAE4}" dt="2024-07-10T16:34:45.969" v="436" actId="2696"/>
        <pc:sldMkLst>
          <pc:docMk/>
          <pc:sldMk cId="2403829400" sldId="51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2972834" cy="464503"/>
          </a:xfrm>
          <a:prstGeom prst="rect">
            <a:avLst/>
          </a:prstGeom>
        </p:spPr>
        <p:txBody>
          <a:bodyPr vert="horz" lIns="91769" tIns="45884" rIns="91769" bIns="45884"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3617" y="3"/>
            <a:ext cx="2972834" cy="464503"/>
          </a:xfrm>
          <a:prstGeom prst="rect">
            <a:avLst/>
          </a:prstGeom>
        </p:spPr>
        <p:txBody>
          <a:bodyPr vert="horz" lIns="91769" tIns="45884" rIns="91769" bIns="45884" rtlCol="0"/>
          <a:lstStyle>
            <a:lvl1pPr algn="r">
              <a:defRPr sz="1200" smtClean="0"/>
            </a:lvl1pPr>
          </a:lstStyle>
          <a:p>
            <a:pPr>
              <a:defRPr/>
            </a:pPr>
            <a:fld id="{33FA0FBC-0F18-4078-8AD0-D8F58BA39E9A}" type="datetimeFigureOut">
              <a:rPr lang="en-US"/>
              <a:pPr>
                <a:defRPr/>
              </a:pPr>
              <a:t>7/11/2024</a:t>
            </a:fld>
            <a:endParaRPr lang="en-US"/>
          </a:p>
        </p:txBody>
      </p:sp>
      <p:sp>
        <p:nvSpPr>
          <p:cNvPr id="4" name="Footer Placeholder 3"/>
          <p:cNvSpPr>
            <a:spLocks noGrp="1"/>
          </p:cNvSpPr>
          <p:nvPr>
            <p:ph type="ftr" sz="quarter" idx="2"/>
          </p:nvPr>
        </p:nvSpPr>
        <p:spPr>
          <a:xfrm>
            <a:off x="2" y="8830315"/>
            <a:ext cx="2972834" cy="464503"/>
          </a:xfrm>
          <a:prstGeom prst="rect">
            <a:avLst/>
          </a:prstGeom>
        </p:spPr>
        <p:txBody>
          <a:bodyPr vert="horz" lIns="91769" tIns="45884" rIns="91769" bIns="45884"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3617" y="8830315"/>
            <a:ext cx="2972834" cy="464503"/>
          </a:xfrm>
          <a:prstGeom prst="rect">
            <a:avLst/>
          </a:prstGeom>
        </p:spPr>
        <p:txBody>
          <a:bodyPr vert="horz" lIns="91769" tIns="45884" rIns="91769" bIns="45884" rtlCol="0" anchor="b"/>
          <a:lstStyle>
            <a:lvl1pPr algn="r">
              <a:defRPr sz="1200" smtClean="0"/>
            </a:lvl1pPr>
          </a:lstStyle>
          <a:p>
            <a:pPr>
              <a:defRPr/>
            </a:pPr>
            <a:fld id="{F01168BA-4771-4DA5-AF6A-CD87E2254B5A}" type="slidenum">
              <a:rPr lang="en-US"/>
              <a:pPr>
                <a:defRPr/>
              </a:pPr>
              <a:t>‹#›</a:t>
            </a:fld>
            <a:endParaRPr lang="en-US"/>
          </a:p>
        </p:txBody>
      </p:sp>
    </p:spTree>
    <p:extLst>
      <p:ext uri="{BB962C8B-B14F-4D97-AF65-F5344CB8AC3E}">
        <p14:creationId xmlns:p14="http://schemas.microsoft.com/office/powerpoint/2010/main" val="201814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2" y="3"/>
            <a:ext cx="2972834" cy="464503"/>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defRPr sz="1200">
                <a:latin typeface="Arial" charset="0"/>
              </a:defRPr>
            </a:lvl1pPr>
          </a:lstStyle>
          <a:p>
            <a:pPr>
              <a:defRPr/>
            </a:pPr>
            <a:endParaRPr lang="en-US"/>
          </a:p>
        </p:txBody>
      </p:sp>
      <p:sp>
        <p:nvSpPr>
          <p:cNvPr id="12291" name="Rectangle 3"/>
          <p:cNvSpPr>
            <a:spLocks noGrp="1" noChangeArrowheads="1"/>
          </p:cNvSpPr>
          <p:nvPr>
            <p:ph type="dt" idx="1"/>
          </p:nvPr>
        </p:nvSpPr>
        <p:spPr bwMode="auto">
          <a:xfrm>
            <a:off x="3883617" y="3"/>
            <a:ext cx="2972834" cy="464503"/>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lvl1pPr algn="r">
              <a:defRPr sz="1200">
                <a:latin typeface="Arial" charset="0"/>
              </a:defRPr>
            </a:lvl1pPr>
          </a:lstStyle>
          <a:p>
            <a:pPr>
              <a:defRPr/>
            </a:pPr>
            <a:endParaRPr lang="en-US"/>
          </a:p>
        </p:txBody>
      </p:sp>
      <p:sp>
        <p:nvSpPr>
          <p:cNvPr id="23556" name="Rectangle 4"/>
          <p:cNvSpPr>
            <a:spLocks noGrp="1" noRot="1" noChangeAspect="1" noChangeArrowheads="1" noTextEdit="1"/>
          </p:cNvSpPr>
          <p:nvPr>
            <p:ph type="sldImg" idx="2"/>
          </p:nvPr>
        </p:nvSpPr>
        <p:spPr bwMode="auto">
          <a:xfrm>
            <a:off x="330200" y="695325"/>
            <a:ext cx="6197600" cy="34877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3"/>
          </p:nvPr>
        </p:nvSpPr>
        <p:spPr bwMode="auto">
          <a:xfrm>
            <a:off x="685800" y="4416741"/>
            <a:ext cx="5486400" cy="4183698"/>
          </a:xfrm>
          <a:prstGeom prst="rect">
            <a:avLst/>
          </a:prstGeom>
          <a:noFill/>
          <a:ln w="9525">
            <a:noFill/>
            <a:miter lim="800000"/>
            <a:headEnd/>
            <a:tailEnd/>
          </a:ln>
          <a:effectLst/>
        </p:spPr>
        <p:txBody>
          <a:bodyPr vert="horz" wrap="square" lIns="93164" tIns="46582" rIns="93164" bIns="465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p:cNvSpPr>
            <a:spLocks noGrp="1" noChangeArrowheads="1"/>
          </p:cNvSpPr>
          <p:nvPr>
            <p:ph type="ftr" sz="quarter" idx="4"/>
          </p:nvPr>
        </p:nvSpPr>
        <p:spPr bwMode="auto">
          <a:xfrm>
            <a:off x="2" y="8830315"/>
            <a:ext cx="2972834" cy="464503"/>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defRPr sz="1200">
                <a:latin typeface="Arial" charset="0"/>
              </a:defRPr>
            </a:lvl1pPr>
          </a:lstStyle>
          <a:p>
            <a:pPr>
              <a:defRPr/>
            </a:pPr>
            <a:endParaRPr lang="en-US"/>
          </a:p>
        </p:txBody>
      </p:sp>
      <p:sp>
        <p:nvSpPr>
          <p:cNvPr id="12295" name="Rectangle 7"/>
          <p:cNvSpPr>
            <a:spLocks noGrp="1" noChangeArrowheads="1"/>
          </p:cNvSpPr>
          <p:nvPr>
            <p:ph type="sldNum" sz="quarter" idx="5"/>
          </p:nvPr>
        </p:nvSpPr>
        <p:spPr bwMode="auto">
          <a:xfrm>
            <a:off x="3883617" y="8830315"/>
            <a:ext cx="2972834" cy="464503"/>
          </a:xfrm>
          <a:prstGeom prst="rect">
            <a:avLst/>
          </a:prstGeom>
          <a:noFill/>
          <a:ln w="9525">
            <a:noFill/>
            <a:miter lim="800000"/>
            <a:headEnd/>
            <a:tailEnd/>
          </a:ln>
          <a:effectLst/>
        </p:spPr>
        <p:txBody>
          <a:bodyPr vert="horz" wrap="square" lIns="93164" tIns="46582" rIns="93164" bIns="46582" numCol="1" anchor="b" anchorCtr="0" compatLnSpc="1">
            <a:prstTxWarp prst="textNoShape">
              <a:avLst/>
            </a:prstTxWarp>
          </a:bodyPr>
          <a:lstStyle>
            <a:lvl1pPr algn="r">
              <a:defRPr sz="1200">
                <a:latin typeface="Arial" charset="0"/>
              </a:defRPr>
            </a:lvl1pPr>
          </a:lstStyle>
          <a:p>
            <a:pPr>
              <a:defRPr/>
            </a:pPr>
            <a:fld id="{742F296D-A178-4FC7-8DA4-E4B30C2582F5}" type="slidenum">
              <a:rPr lang="en-US"/>
              <a:pPr>
                <a:defRPr/>
              </a:pPr>
              <a:t>‹#›</a:t>
            </a:fld>
            <a:endParaRPr lang="en-US"/>
          </a:p>
        </p:txBody>
      </p:sp>
    </p:spTree>
    <p:extLst>
      <p:ext uri="{BB962C8B-B14F-4D97-AF65-F5344CB8AC3E}">
        <p14:creationId xmlns:p14="http://schemas.microsoft.com/office/powerpoint/2010/main" val="31112136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usgs.gov/rge-edge"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r>
              <a:rPr lang="en-US" b="0"/>
              <a:t>This session is not being recorded</a:t>
            </a:r>
          </a:p>
          <a:p>
            <a:r>
              <a:rPr lang="en-US" b="0"/>
              <a:t>Slides are available online </a:t>
            </a:r>
            <a:r>
              <a:rPr lang="en-US" sz="1100" b="0">
                <a:hlinkClick r:id="rId3"/>
              </a:rPr>
              <a:t>www.usgs.gov/rge-edge</a:t>
            </a:r>
            <a:endParaRPr lang="en-US" sz="1100" b="0"/>
          </a:p>
          <a:p>
            <a:r>
              <a:rPr lang="en-US" b="0"/>
              <a:t>Focus on scientists planning to submit in the upcoming November 2024 submission </a:t>
            </a:r>
          </a:p>
          <a:p>
            <a:r>
              <a:rPr lang="en-US" b="0"/>
              <a:t>All the documents you will need are on the program web site.</a:t>
            </a:r>
          </a:p>
          <a:p>
            <a:r>
              <a:rPr lang="en-US" b="0"/>
              <a:t>We will pause periodically for questions</a:t>
            </a:r>
          </a:p>
          <a:p>
            <a:endParaRPr lang="en-US" sz="1200" kern="120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a:t>
            </a:fld>
            <a:endParaRPr lang="en-US"/>
          </a:p>
        </p:txBody>
      </p:sp>
    </p:spTree>
    <p:extLst>
      <p:ext uri="{BB962C8B-B14F-4D97-AF65-F5344CB8AC3E}">
        <p14:creationId xmlns:p14="http://schemas.microsoft.com/office/powerpoint/2010/main" val="705681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a:t>
            </a:fld>
            <a:endParaRPr lang="en-US"/>
          </a:p>
        </p:txBody>
      </p:sp>
    </p:spTree>
    <p:extLst>
      <p:ext uri="{BB962C8B-B14F-4D97-AF65-F5344CB8AC3E}">
        <p14:creationId xmlns:p14="http://schemas.microsoft.com/office/powerpoint/2010/main" val="22226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3</a:t>
            </a:fld>
            <a:endParaRPr lang="en-US"/>
          </a:p>
        </p:txBody>
      </p:sp>
    </p:spTree>
    <p:extLst>
      <p:ext uri="{BB962C8B-B14F-4D97-AF65-F5344CB8AC3E}">
        <p14:creationId xmlns:p14="http://schemas.microsoft.com/office/powerpoint/2010/main" val="156297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2F296D-A178-4FC7-8DA4-E4B30C2582F5}"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2268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5</a:t>
            </a:fld>
            <a:endParaRPr lang="en-US"/>
          </a:p>
        </p:txBody>
      </p:sp>
    </p:spTree>
    <p:extLst>
      <p:ext uri="{BB962C8B-B14F-4D97-AF65-F5344CB8AC3E}">
        <p14:creationId xmlns:p14="http://schemas.microsoft.com/office/powerpoint/2010/main" val="3791067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latin typeface="Arial"/>
              <a:cs typeface="Arial"/>
            </a:endParaRPr>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6</a:t>
            </a:fld>
            <a:endParaRPr lang="en-US"/>
          </a:p>
        </p:txBody>
      </p:sp>
    </p:spTree>
    <p:extLst>
      <p:ext uri="{BB962C8B-B14F-4D97-AF65-F5344CB8AC3E}">
        <p14:creationId xmlns:p14="http://schemas.microsoft.com/office/powerpoint/2010/main" val="2249570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cs typeface="Arial"/>
            </a:endParaRPr>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7</a:t>
            </a:fld>
            <a:endParaRPr lang="en-US"/>
          </a:p>
        </p:txBody>
      </p:sp>
    </p:spTree>
    <p:extLst>
      <p:ext uri="{BB962C8B-B14F-4D97-AF65-F5344CB8AC3E}">
        <p14:creationId xmlns:p14="http://schemas.microsoft.com/office/powerpoint/2010/main" val="1478034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2F296D-A178-4FC7-8DA4-E4B30C2582F5}"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924069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9</a:t>
            </a:fld>
            <a:endParaRPr lang="en-US"/>
          </a:p>
        </p:txBody>
      </p:sp>
    </p:spTree>
    <p:extLst>
      <p:ext uri="{BB962C8B-B14F-4D97-AF65-F5344CB8AC3E}">
        <p14:creationId xmlns:p14="http://schemas.microsoft.com/office/powerpoint/2010/main" val="3848201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10</a:t>
            </a:fld>
            <a:endParaRPr lang="en-US"/>
          </a:p>
        </p:txBody>
      </p:sp>
    </p:spTree>
    <p:extLst>
      <p:ext uri="{BB962C8B-B14F-4D97-AF65-F5344CB8AC3E}">
        <p14:creationId xmlns:p14="http://schemas.microsoft.com/office/powerpoint/2010/main" val="306854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11</a:t>
            </a:fld>
            <a:endParaRPr lang="en-US"/>
          </a:p>
        </p:txBody>
      </p:sp>
    </p:spTree>
    <p:extLst>
      <p:ext uri="{BB962C8B-B14F-4D97-AF65-F5344CB8AC3E}">
        <p14:creationId xmlns:p14="http://schemas.microsoft.com/office/powerpoint/2010/main" val="5981202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12</a:t>
            </a:fld>
            <a:endParaRPr lang="en-US"/>
          </a:p>
        </p:txBody>
      </p:sp>
    </p:spTree>
    <p:extLst>
      <p:ext uri="{BB962C8B-B14F-4D97-AF65-F5344CB8AC3E}">
        <p14:creationId xmlns:p14="http://schemas.microsoft.com/office/powerpoint/2010/main" val="3719234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13</a:t>
            </a:fld>
            <a:endParaRPr lang="en-US"/>
          </a:p>
        </p:txBody>
      </p:sp>
    </p:spTree>
    <p:extLst>
      <p:ext uri="{BB962C8B-B14F-4D97-AF65-F5344CB8AC3E}">
        <p14:creationId xmlns:p14="http://schemas.microsoft.com/office/powerpoint/2010/main" val="3979510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pPr marR="0" algn="l"/>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14</a:t>
            </a:fld>
            <a:endParaRPr lang="en-US"/>
          </a:p>
        </p:txBody>
      </p:sp>
    </p:spTree>
    <p:extLst>
      <p:ext uri="{BB962C8B-B14F-4D97-AF65-F5344CB8AC3E}">
        <p14:creationId xmlns:p14="http://schemas.microsoft.com/office/powerpoint/2010/main" val="3962108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15</a:t>
            </a:fld>
            <a:endParaRPr lang="en-US"/>
          </a:p>
        </p:txBody>
      </p:sp>
    </p:spTree>
    <p:extLst>
      <p:ext uri="{BB962C8B-B14F-4D97-AF65-F5344CB8AC3E}">
        <p14:creationId xmlns:p14="http://schemas.microsoft.com/office/powerpoint/2010/main" val="3246141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93A4E24A-96BA-4EAF-9CE8-81A0A1EAC89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2855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17</a:t>
            </a:fld>
            <a:endParaRPr lang="en-US"/>
          </a:p>
        </p:txBody>
      </p:sp>
    </p:spTree>
    <p:extLst>
      <p:ext uri="{BB962C8B-B14F-4D97-AF65-F5344CB8AC3E}">
        <p14:creationId xmlns:p14="http://schemas.microsoft.com/office/powerpoint/2010/main" val="38735567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18</a:t>
            </a:fld>
            <a:endParaRPr lang="en-US"/>
          </a:p>
        </p:txBody>
      </p:sp>
    </p:spTree>
    <p:extLst>
      <p:ext uri="{BB962C8B-B14F-4D97-AF65-F5344CB8AC3E}">
        <p14:creationId xmlns:p14="http://schemas.microsoft.com/office/powerpoint/2010/main" val="27580731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19</a:t>
            </a:fld>
            <a:endParaRPr lang="en-US"/>
          </a:p>
        </p:txBody>
      </p:sp>
    </p:spTree>
    <p:extLst>
      <p:ext uri="{BB962C8B-B14F-4D97-AF65-F5344CB8AC3E}">
        <p14:creationId xmlns:p14="http://schemas.microsoft.com/office/powerpoint/2010/main" val="1409700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20</a:t>
            </a:fld>
            <a:endParaRPr lang="en-US"/>
          </a:p>
        </p:txBody>
      </p:sp>
    </p:spTree>
    <p:extLst>
      <p:ext uri="{BB962C8B-B14F-4D97-AF65-F5344CB8AC3E}">
        <p14:creationId xmlns:p14="http://schemas.microsoft.com/office/powerpoint/2010/main" val="543397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21</a:t>
            </a:fld>
            <a:endParaRPr lang="en-US"/>
          </a:p>
        </p:txBody>
      </p:sp>
    </p:spTree>
    <p:extLst>
      <p:ext uri="{BB962C8B-B14F-4D97-AF65-F5344CB8AC3E}">
        <p14:creationId xmlns:p14="http://schemas.microsoft.com/office/powerpoint/2010/main" val="4123358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22</a:t>
            </a:fld>
            <a:endParaRPr lang="en-US"/>
          </a:p>
        </p:txBody>
      </p:sp>
    </p:spTree>
    <p:extLst>
      <p:ext uri="{BB962C8B-B14F-4D97-AF65-F5344CB8AC3E}">
        <p14:creationId xmlns:p14="http://schemas.microsoft.com/office/powerpoint/2010/main" val="4324412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23</a:t>
            </a:fld>
            <a:endParaRPr lang="en-US"/>
          </a:p>
        </p:txBody>
      </p:sp>
    </p:spTree>
    <p:extLst>
      <p:ext uri="{BB962C8B-B14F-4D97-AF65-F5344CB8AC3E}">
        <p14:creationId xmlns:p14="http://schemas.microsoft.com/office/powerpoint/2010/main" val="18522303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24</a:t>
            </a:fld>
            <a:endParaRPr lang="en-US"/>
          </a:p>
        </p:txBody>
      </p:sp>
    </p:spTree>
    <p:extLst>
      <p:ext uri="{BB962C8B-B14F-4D97-AF65-F5344CB8AC3E}">
        <p14:creationId xmlns:p14="http://schemas.microsoft.com/office/powerpoint/2010/main" val="33891891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2F296D-A178-4FC7-8DA4-E4B30C2582F5}"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7636632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2F296D-A178-4FC7-8DA4-E4B30C2582F5}"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182042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27</a:t>
            </a:fld>
            <a:endParaRPr lang="en-US"/>
          </a:p>
        </p:txBody>
      </p:sp>
    </p:spTree>
    <p:extLst>
      <p:ext uri="{BB962C8B-B14F-4D97-AF65-F5344CB8AC3E}">
        <p14:creationId xmlns:p14="http://schemas.microsoft.com/office/powerpoint/2010/main" val="17294893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28</a:t>
            </a:fld>
            <a:endParaRPr lang="en-US"/>
          </a:p>
        </p:txBody>
      </p:sp>
    </p:spTree>
    <p:extLst>
      <p:ext uri="{BB962C8B-B14F-4D97-AF65-F5344CB8AC3E}">
        <p14:creationId xmlns:p14="http://schemas.microsoft.com/office/powerpoint/2010/main" val="3289937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29</a:t>
            </a:fld>
            <a:endParaRPr lang="en-US"/>
          </a:p>
        </p:txBody>
      </p:sp>
    </p:spTree>
    <p:extLst>
      <p:ext uri="{BB962C8B-B14F-4D97-AF65-F5344CB8AC3E}">
        <p14:creationId xmlns:p14="http://schemas.microsoft.com/office/powerpoint/2010/main" val="3377357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5325"/>
            <a:ext cx="6197600" cy="34877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42F296D-A178-4FC7-8DA4-E4B30C2582F5}" type="slidenum">
              <a:rPr lang="en-US" smtClean="0"/>
              <a:pPr>
                <a:defRPr/>
              </a:pPr>
              <a:t>30</a:t>
            </a:fld>
            <a:endParaRPr lang="en-US"/>
          </a:p>
        </p:txBody>
      </p:sp>
    </p:spTree>
    <p:extLst>
      <p:ext uri="{BB962C8B-B14F-4D97-AF65-F5344CB8AC3E}">
        <p14:creationId xmlns:p14="http://schemas.microsoft.com/office/powerpoint/2010/main" val="33236363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6"/>
          <p:cNvSpPr>
            <a:spLocks noChangeShapeType="1"/>
          </p:cNvSpPr>
          <p:nvPr/>
        </p:nvSpPr>
        <p:spPr bwMode="auto">
          <a:xfrm>
            <a:off x="457200" y="2220686"/>
            <a:ext cx="82264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 name="Rectangle 7"/>
          <p:cNvSpPr>
            <a:spLocks noChangeArrowheads="1"/>
          </p:cNvSpPr>
          <p:nvPr/>
        </p:nvSpPr>
        <p:spPr bwMode="auto">
          <a:xfrm>
            <a:off x="404814" y="4572001"/>
            <a:ext cx="1530868" cy="29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6675" tIns="33338" rIns="66675" bIns="33338">
            <a:spAutoFit/>
          </a:bodyPr>
          <a:lstStyle>
            <a:lvl1pPr defTabSz="885825" eaLnBrk="0" hangingPunct="0">
              <a:defRPr>
                <a:solidFill>
                  <a:schemeClr val="tx1"/>
                </a:solidFill>
                <a:latin typeface="Arial" charset="0"/>
              </a:defRPr>
            </a:lvl1pPr>
            <a:lvl2pPr marL="742950" indent="-285750" defTabSz="885825" eaLnBrk="0" hangingPunct="0">
              <a:defRPr>
                <a:solidFill>
                  <a:schemeClr val="tx1"/>
                </a:solidFill>
                <a:latin typeface="Arial" charset="0"/>
              </a:defRPr>
            </a:lvl2pPr>
            <a:lvl3pPr marL="1143000" indent="-228600" defTabSz="885825" eaLnBrk="0" hangingPunct="0">
              <a:defRPr>
                <a:solidFill>
                  <a:schemeClr val="tx1"/>
                </a:solidFill>
                <a:latin typeface="Arial" charset="0"/>
              </a:defRPr>
            </a:lvl3pPr>
            <a:lvl4pPr marL="1600200" indent="-228600" defTabSz="885825" eaLnBrk="0" hangingPunct="0">
              <a:defRPr>
                <a:solidFill>
                  <a:schemeClr val="tx1"/>
                </a:solidFill>
                <a:latin typeface="Arial" charset="0"/>
              </a:defRPr>
            </a:lvl4pPr>
            <a:lvl5pPr marL="2057400" indent="-228600" defTabSz="885825" eaLnBrk="0" hangingPunct="0">
              <a:defRPr>
                <a:solidFill>
                  <a:schemeClr val="tx1"/>
                </a:solidFill>
                <a:latin typeface="Arial" charset="0"/>
              </a:defRPr>
            </a:lvl5pPr>
            <a:lvl6pPr marL="2514600" indent="-228600" defTabSz="885825" eaLnBrk="0" fontAlgn="base" hangingPunct="0">
              <a:spcBef>
                <a:spcPct val="0"/>
              </a:spcBef>
              <a:spcAft>
                <a:spcPct val="0"/>
              </a:spcAft>
              <a:defRPr>
                <a:solidFill>
                  <a:schemeClr val="tx1"/>
                </a:solidFill>
                <a:latin typeface="Arial" charset="0"/>
              </a:defRPr>
            </a:lvl6pPr>
            <a:lvl7pPr marL="2971800" indent="-228600" defTabSz="885825" eaLnBrk="0" fontAlgn="base" hangingPunct="0">
              <a:spcBef>
                <a:spcPct val="0"/>
              </a:spcBef>
              <a:spcAft>
                <a:spcPct val="0"/>
              </a:spcAft>
              <a:defRPr>
                <a:solidFill>
                  <a:schemeClr val="tx1"/>
                </a:solidFill>
                <a:latin typeface="Arial" charset="0"/>
              </a:defRPr>
            </a:lvl7pPr>
            <a:lvl8pPr marL="3429000" indent="-228600" defTabSz="885825" eaLnBrk="0" fontAlgn="base" hangingPunct="0">
              <a:spcBef>
                <a:spcPct val="0"/>
              </a:spcBef>
              <a:spcAft>
                <a:spcPct val="0"/>
              </a:spcAft>
              <a:defRPr>
                <a:solidFill>
                  <a:schemeClr val="tx1"/>
                </a:solidFill>
                <a:latin typeface="Arial" charset="0"/>
              </a:defRPr>
            </a:lvl8pPr>
            <a:lvl9pPr marL="3886200" indent="-228600" defTabSz="885825" eaLnBrk="0" fontAlgn="base" hangingPunct="0">
              <a:spcBef>
                <a:spcPct val="0"/>
              </a:spcBef>
              <a:spcAft>
                <a:spcPct val="0"/>
              </a:spcAft>
              <a:defRPr>
                <a:solidFill>
                  <a:schemeClr val="tx1"/>
                </a:solidFill>
                <a:latin typeface="Arial" charset="0"/>
              </a:defRPr>
            </a:lvl9pPr>
          </a:lstStyle>
          <a:p>
            <a:pPr>
              <a:defRPr/>
            </a:pPr>
            <a:r>
              <a:rPr lang="en-US" altLang="en-US" sz="750" b="1"/>
              <a:t>U.S. Department of the Interior</a:t>
            </a:r>
          </a:p>
          <a:p>
            <a:pPr>
              <a:defRPr/>
            </a:pPr>
            <a:r>
              <a:rPr lang="en-US" altLang="en-US" sz="750" b="1"/>
              <a:t>U.S. Geological Survey</a:t>
            </a:r>
          </a:p>
        </p:txBody>
      </p:sp>
      <p:pic>
        <p:nvPicPr>
          <p:cNvPr id="6" name="Picture 8" descr="ident_4_onscreen_png"/>
          <p:cNvPicPr>
            <a:picLocks noChangeAspect="1" noChangeArrowheads="1"/>
          </p:cNvPicPr>
          <p:nvPr/>
        </p:nvPicPr>
        <p:blipFill>
          <a:blip r:embed="rId2" cstate="print">
            <a:lum bright="-100000"/>
            <a:extLst>
              <a:ext uri="{28A0092B-C50C-407E-A947-70E740481C1C}">
                <a14:useLocalDpi xmlns:a14="http://schemas.microsoft.com/office/drawing/2010/main" val="0"/>
              </a:ext>
            </a:extLst>
          </a:blip>
          <a:srcRect/>
          <a:stretch>
            <a:fillRect/>
          </a:stretch>
        </p:blipFill>
        <p:spPr bwMode="auto">
          <a:xfrm>
            <a:off x="533400" y="342901"/>
            <a:ext cx="1563624" cy="569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 name="Rectangle 2"/>
          <p:cNvSpPr>
            <a:spLocks noGrp="1" noChangeArrowheads="1"/>
          </p:cNvSpPr>
          <p:nvPr>
            <p:ph type="ctrTitle"/>
          </p:nvPr>
        </p:nvSpPr>
        <p:spPr>
          <a:xfrm>
            <a:off x="457200" y="1428750"/>
            <a:ext cx="8226425" cy="800100"/>
          </a:xfrm>
        </p:spPr>
        <p:txBody>
          <a:bodyPr anchor="t"/>
          <a:lstStyle>
            <a:lvl1pPr>
              <a:defRPr sz="3300"/>
            </a:lvl1pPr>
          </a:lstStyle>
          <a:p>
            <a:r>
              <a:rPr lang="en-US" altLang="en-US"/>
              <a:t>Click to edit Master title style</a:t>
            </a:r>
          </a:p>
        </p:txBody>
      </p:sp>
      <p:sp>
        <p:nvSpPr>
          <p:cNvPr id="5123" name="Rectangle 3"/>
          <p:cNvSpPr>
            <a:spLocks noGrp="1" noChangeArrowheads="1"/>
          </p:cNvSpPr>
          <p:nvPr>
            <p:ph type="subTitle" idx="1"/>
          </p:nvPr>
        </p:nvSpPr>
        <p:spPr>
          <a:xfrm>
            <a:off x="457200" y="2628900"/>
            <a:ext cx="8226425" cy="1314450"/>
          </a:xfrm>
        </p:spPr>
        <p:txBody>
          <a:bodyPr/>
          <a:lstStyle>
            <a:lvl1pPr marL="0" indent="0">
              <a:buFont typeface="Wingdings" pitchFamily="2" charset="2"/>
              <a:buNone/>
              <a:defRPr sz="1950"/>
            </a:lvl1pPr>
          </a:lstStyle>
          <a:p>
            <a:r>
              <a:rPr lang="en-US" altLang="en-US"/>
              <a:t>Click to edit Master subtitle style</a:t>
            </a:r>
          </a:p>
        </p:txBody>
      </p:sp>
      <p:sp>
        <p:nvSpPr>
          <p:cNvPr id="7" name="Rectangle 4"/>
          <p:cNvSpPr>
            <a:spLocks noGrp="1" noChangeArrowheads="1"/>
          </p:cNvSpPr>
          <p:nvPr>
            <p:ph type="ftr" sz="quarter" idx="10"/>
          </p:nvPr>
        </p:nvSpPr>
        <p:spPr bwMode="auto">
          <a:xfrm>
            <a:off x="3124200" y="4682729"/>
            <a:ext cx="2895600" cy="3429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defRPr sz="900">
                <a:latin typeface="Garamond" pitchFamily="18" charset="0"/>
              </a:defRPr>
            </a:lvl1pPr>
          </a:lstStyle>
          <a:p>
            <a:pPr>
              <a:defRPr/>
            </a:pPr>
            <a:endParaRPr lang="en-US" altLang="en-US"/>
          </a:p>
        </p:txBody>
      </p:sp>
      <p:sp>
        <p:nvSpPr>
          <p:cNvPr id="8" name="Rectangle 5"/>
          <p:cNvSpPr>
            <a:spLocks noGrp="1" noChangeArrowheads="1"/>
          </p:cNvSpPr>
          <p:nvPr>
            <p:ph type="sldNum" sz="quarter" idx="11"/>
          </p:nvPr>
        </p:nvSpPr>
        <p:spPr>
          <a:xfrm>
            <a:off x="6553200" y="4682729"/>
            <a:ext cx="2133600" cy="342900"/>
          </a:xfrm>
        </p:spPr>
        <p:txBody>
          <a:bodyPr/>
          <a:lstStyle>
            <a:lvl1pPr>
              <a:defRPr>
                <a:latin typeface="Garamond" pitchFamily="18" charset="0"/>
              </a:defRPr>
            </a:lvl1pPr>
          </a:lstStyle>
          <a:p>
            <a:pPr>
              <a:defRPr/>
            </a:pPr>
            <a:fld id="{C19C1373-8828-43DB-BCD1-9DC827A7A843}" type="slidenum">
              <a:rPr lang="en-US" altLang="en-US"/>
              <a:pPr>
                <a:defRPr/>
              </a:pPr>
              <a:t>‹#›</a:t>
            </a:fld>
            <a:endParaRPr lang="en-US" altLang="en-US"/>
          </a:p>
        </p:txBody>
      </p:sp>
    </p:spTree>
    <p:extLst>
      <p:ext uri="{BB962C8B-B14F-4D97-AF65-F5344CB8AC3E}">
        <p14:creationId xmlns:p14="http://schemas.microsoft.com/office/powerpoint/2010/main" val="505523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sz="quarter" idx="10"/>
          </p:nvPr>
        </p:nvSpPr>
        <p:spPr>
          <a:ln/>
        </p:spPr>
        <p:txBody>
          <a:bodyPr/>
          <a:lstStyle>
            <a:lvl1pPr>
              <a:defRPr/>
            </a:lvl1pPr>
          </a:lstStyle>
          <a:p>
            <a:pPr>
              <a:defRPr/>
            </a:pPr>
            <a:fld id="{7916C709-DE7C-48B2-9FF3-7E1AF6E49BCB}" type="slidenum">
              <a:rPr lang="en-US" altLang="en-US"/>
              <a:pPr>
                <a:defRPr/>
              </a:pPr>
              <a:t>‹#›</a:t>
            </a:fld>
            <a:endParaRPr lang="en-US" altLang="en-US"/>
          </a:p>
        </p:txBody>
      </p:sp>
    </p:spTree>
    <p:extLst>
      <p:ext uri="{BB962C8B-B14F-4D97-AF65-F5344CB8AC3E}">
        <p14:creationId xmlns:p14="http://schemas.microsoft.com/office/powerpoint/2010/main" val="204936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3"/>
          <p:cNvSpPr>
            <a:spLocks noGrp="1" noChangeArrowheads="1"/>
          </p:cNvSpPr>
          <p:nvPr>
            <p:ph type="sldNum" sz="quarter" idx="10"/>
          </p:nvPr>
        </p:nvSpPr>
        <p:spPr>
          <a:ln/>
        </p:spPr>
        <p:txBody>
          <a:bodyPr/>
          <a:lstStyle>
            <a:lvl1pPr>
              <a:defRPr/>
            </a:lvl1pPr>
          </a:lstStyle>
          <a:p>
            <a:pPr>
              <a:defRPr/>
            </a:pPr>
            <a:fld id="{BAD8DC51-2FB1-492D-8942-65BF1D9521FF}" type="slidenum">
              <a:rPr lang="en-US" altLang="en-US"/>
              <a:pPr>
                <a:defRPr/>
              </a:pPr>
              <a:t>‹#›</a:t>
            </a:fld>
            <a:endParaRPr lang="en-US" altLang="en-US"/>
          </a:p>
        </p:txBody>
      </p:sp>
    </p:spTree>
    <p:extLst>
      <p:ext uri="{BB962C8B-B14F-4D97-AF65-F5344CB8AC3E}">
        <p14:creationId xmlns:p14="http://schemas.microsoft.com/office/powerpoint/2010/main" val="1738426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14400"/>
            <a:ext cx="4038600" cy="35433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4038600" cy="35433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p:cNvSpPr>
            <a:spLocks noGrp="1" noChangeArrowheads="1"/>
          </p:cNvSpPr>
          <p:nvPr>
            <p:ph type="sldNum" sz="quarter" idx="10"/>
          </p:nvPr>
        </p:nvSpPr>
        <p:spPr>
          <a:ln/>
        </p:spPr>
        <p:txBody>
          <a:bodyPr/>
          <a:lstStyle>
            <a:lvl1pPr>
              <a:defRPr/>
            </a:lvl1pPr>
          </a:lstStyle>
          <a:p>
            <a:pPr>
              <a:defRPr/>
            </a:pPr>
            <a:fld id="{5BED959A-058F-4CC1-B228-6F6E839B7913}" type="slidenum">
              <a:rPr lang="en-US" altLang="en-US"/>
              <a:pPr>
                <a:defRPr/>
              </a:pPr>
              <a:t>‹#›</a:t>
            </a:fld>
            <a:endParaRPr lang="en-US" altLang="en-US"/>
          </a:p>
        </p:txBody>
      </p:sp>
    </p:spTree>
    <p:extLst>
      <p:ext uri="{BB962C8B-B14F-4D97-AF65-F5344CB8AC3E}">
        <p14:creationId xmlns:p14="http://schemas.microsoft.com/office/powerpoint/2010/main" val="263255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p:cNvSpPr>
            <a:spLocks noGrp="1" noChangeArrowheads="1"/>
          </p:cNvSpPr>
          <p:nvPr>
            <p:ph type="sldNum" sz="quarter" idx="10"/>
          </p:nvPr>
        </p:nvSpPr>
        <p:spPr>
          <a:ln/>
        </p:spPr>
        <p:txBody>
          <a:bodyPr/>
          <a:lstStyle>
            <a:lvl1pPr>
              <a:defRPr/>
            </a:lvl1pPr>
          </a:lstStyle>
          <a:p>
            <a:pPr>
              <a:defRPr/>
            </a:pPr>
            <a:fld id="{624A647C-FF10-4225-B6D1-0A458FB19301}" type="slidenum">
              <a:rPr lang="en-US" altLang="en-US"/>
              <a:pPr>
                <a:defRPr/>
              </a:pPr>
              <a:t>‹#›</a:t>
            </a:fld>
            <a:endParaRPr lang="en-US" altLang="en-US"/>
          </a:p>
        </p:txBody>
      </p:sp>
    </p:spTree>
    <p:extLst>
      <p:ext uri="{BB962C8B-B14F-4D97-AF65-F5344CB8AC3E}">
        <p14:creationId xmlns:p14="http://schemas.microsoft.com/office/powerpoint/2010/main" val="166158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p:cNvSpPr>
            <a:spLocks noGrp="1" noChangeArrowheads="1"/>
          </p:cNvSpPr>
          <p:nvPr>
            <p:ph type="sldNum" sz="quarter" idx="10"/>
          </p:nvPr>
        </p:nvSpPr>
        <p:spPr>
          <a:ln/>
        </p:spPr>
        <p:txBody>
          <a:bodyPr/>
          <a:lstStyle>
            <a:lvl1pPr>
              <a:defRPr/>
            </a:lvl1pPr>
          </a:lstStyle>
          <a:p>
            <a:pPr>
              <a:defRPr/>
            </a:pPr>
            <a:fld id="{ED4B04CB-7CA7-497F-9E05-1043D19F03FA}" type="slidenum">
              <a:rPr lang="en-US" altLang="en-US"/>
              <a:pPr>
                <a:defRPr/>
              </a:pPr>
              <a:t>‹#›</a:t>
            </a:fld>
            <a:endParaRPr lang="en-US" altLang="en-US"/>
          </a:p>
        </p:txBody>
      </p:sp>
    </p:spTree>
    <p:extLst>
      <p:ext uri="{BB962C8B-B14F-4D97-AF65-F5344CB8AC3E}">
        <p14:creationId xmlns:p14="http://schemas.microsoft.com/office/powerpoint/2010/main" val="768361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sldNum" sz="quarter" idx="10"/>
          </p:nvPr>
        </p:nvSpPr>
        <p:spPr>
          <a:ln/>
        </p:spPr>
        <p:txBody>
          <a:bodyPr/>
          <a:lstStyle>
            <a:lvl1pPr>
              <a:defRPr/>
            </a:lvl1pPr>
          </a:lstStyle>
          <a:p>
            <a:pPr>
              <a:defRPr/>
            </a:pPr>
            <a:fld id="{899A09B1-0D57-4E9F-AE4A-DCCAF648C45F}" type="slidenum">
              <a:rPr lang="en-US" altLang="en-US"/>
              <a:pPr>
                <a:defRPr/>
              </a:pPr>
              <a:t>‹#›</a:t>
            </a:fld>
            <a:endParaRPr lang="en-US" altLang="en-US"/>
          </a:p>
        </p:txBody>
      </p:sp>
    </p:spTree>
    <p:extLst>
      <p:ext uri="{BB962C8B-B14F-4D97-AF65-F5344CB8AC3E}">
        <p14:creationId xmlns:p14="http://schemas.microsoft.com/office/powerpoint/2010/main" val="586292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076327"/>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p:cNvSpPr>
            <a:spLocks noGrp="1" noChangeArrowheads="1"/>
          </p:cNvSpPr>
          <p:nvPr>
            <p:ph type="sldNum" sz="quarter" idx="10"/>
          </p:nvPr>
        </p:nvSpPr>
        <p:spPr>
          <a:ln/>
        </p:spPr>
        <p:txBody>
          <a:bodyPr/>
          <a:lstStyle>
            <a:lvl1pPr>
              <a:defRPr/>
            </a:lvl1pPr>
          </a:lstStyle>
          <a:p>
            <a:pPr>
              <a:defRPr/>
            </a:pPr>
            <a:fld id="{578D81B4-8D29-4128-B425-41B501046A5D}" type="slidenum">
              <a:rPr lang="en-US" altLang="en-US"/>
              <a:pPr>
                <a:defRPr/>
              </a:pPr>
              <a:t>‹#›</a:t>
            </a:fld>
            <a:endParaRPr lang="en-US" altLang="en-US"/>
          </a:p>
        </p:txBody>
      </p:sp>
    </p:spTree>
    <p:extLst>
      <p:ext uri="{BB962C8B-B14F-4D97-AF65-F5344CB8AC3E}">
        <p14:creationId xmlns:p14="http://schemas.microsoft.com/office/powerpoint/2010/main" val="334191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3"/>
          <p:cNvSpPr>
            <a:spLocks noGrp="1" noChangeArrowheads="1"/>
          </p:cNvSpPr>
          <p:nvPr>
            <p:ph type="sldNum" sz="quarter" idx="10"/>
          </p:nvPr>
        </p:nvSpPr>
        <p:spPr>
          <a:ln/>
        </p:spPr>
        <p:txBody>
          <a:bodyPr/>
          <a:lstStyle>
            <a:lvl1pPr>
              <a:defRPr/>
            </a:lvl1pPr>
          </a:lstStyle>
          <a:p>
            <a:pPr>
              <a:defRPr/>
            </a:pPr>
            <a:fld id="{F69B9132-4B19-4759-A7F4-7B487D321769}" type="slidenum">
              <a:rPr lang="en-US" altLang="en-US"/>
              <a:pPr>
                <a:defRPr/>
              </a:pPr>
              <a:t>‹#›</a:t>
            </a:fld>
            <a:endParaRPr lang="en-US" altLang="en-US"/>
          </a:p>
        </p:txBody>
      </p:sp>
    </p:spTree>
    <p:extLst>
      <p:ext uri="{BB962C8B-B14F-4D97-AF65-F5344CB8AC3E}">
        <p14:creationId xmlns:p14="http://schemas.microsoft.com/office/powerpoint/2010/main" val="331119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sz="quarter" idx="10"/>
          </p:nvPr>
        </p:nvSpPr>
        <p:spPr>
          <a:ln/>
        </p:spPr>
        <p:txBody>
          <a:bodyPr/>
          <a:lstStyle>
            <a:lvl1pPr>
              <a:defRPr/>
            </a:lvl1pPr>
          </a:lstStyle>
          <a:p>
            <a:pPr>
              <a:defRPr/>
            </a:pPr>
            <a:fld id="{6BDD1CEA-6EDE-4AFA-BD66-A46653C5FA69}" type="slidenum">
              <a:rPr lang="en-US" altLang="en-US"/>
              <a:pPr>
                <a:defRPr/>
              </a:pPr>
              <a:t>‹#›</a:t>
            </a:fld>
            <a:endParaRPr lang="en-US" altLang="en-US"/>
          </a:p>
        </p:txBody>
      </p:sp>
    </p:spTree>
    <p:extLst>
      <p:ext uri="{BB962C8B-B14F-4D97-AF65-F5344CB8AC3E}">
        <p14:creationId xmlns:p14="http://schemas.microsoft.com/office/powerpoint/2010/main" val="3016270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8360"/>
            <a:ext cx="2057400" cy="424934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8360"/>
            <a:ext cx="6019800" cy="42493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sldNum" sz="quarter" idx="10"/>
          </p:nvPr>
        </p:nvSpPr>
        <p:spPr>
          <a:ln/>
        </p:spPr>
        <p:txBody>
          <a:bodyPr/>
          <a:lstStyle>
            <a:lvl1pPr>
              <a:defRPr/>
            </a:lvl1pPr>
          </a:lstStyle>
          <a:p>
            <a:pPr>
              <a:defRPr/>
            </a:pPr>
            <a:fld id="{1852AADB-DC55-4CAC-ADBC-F5C99A5BB2A8}" type="slidenum">
              <a:rPr lang="en-US" altLang="en-US"/>
              <a:pPr>
                <a:defRPr/>
              </a:pPr>
              <a:t>‹#›</a:t>
            </a:fld>
            <a:endParaRPr lang="en-US" altLang="en-US"/>
          </a:p>
        </p:txBody>
      </p:sp>
    </p:spTree>
    <p:extLst>
      <p:ext uri="{BB962C8B-B14F-4D97-AF65-F5344CB8AC3E}">
        <p14:creationId xmlns:p14="http://schemas.microsoft.com/office/powerpoint/2010/main" val="1433696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457200" y="914400"/>
            <a:ext cx="8229600"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099" name="Rectangle 3"/>
          <p:cNvSpPr>
            <a:spLocks noGrp="1" noChangeArrowheads="1"/>
          </p:cNvSpPr>
          <p:nvPr>
            <p:ph type="sldNum" sz="quarter" idx="4"/>
          </p:nvPr>
        </p:nvSpPr>
        <p:spPr bwMode="auto">
          <a:xfrm>
            <a:off x="6553200" y="4400550"/>
            <a:ext cx="21336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900">
                <a:latin typeface="Arial" charset="0"/>
              </a:defRPr>
            </a:lvl1pPr>
          </a:lstStyle>
          <a:p>
            <a:pPr>
              <a:defRPr/>
            </a:pPr>
            <a:fld id="{33980CAF-3599-4B0F-A7A4-6034A52295FB}" type="slidenum">
              <a:rPr lang="en-US" altLang="en-US"/>
              <a:pPr>
                <a:defRPr/>
              </a:pPr>
              <a:t>‹#›</a:t>
            </a:fld>
            <a:endParaRPr lang="en-US" altLang="en-US"/>
          </a:p>
        </p:txBody>
      </p:sp>
      <p:sp>
        <p:nvSpPr>
          <p:cNvPr id="1028" name="Line 4"/>
          <p:cNvSpPr>
            <a:spLocks noChangeShapeType="1"/>
          </p:cNvSpPr>
          <p:nvPr/>
        </p:nvSpPr>
        <p:spPr bwMode="auto">
          <a:xfrm>
            <a:off x="457200" y="4542235"/>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 name="Line 5"/>
          <p:cNvSpPr>
            <a:spLocks noChangeShapeType="1"/>
          </p:cNvSpPr>
          <p:nvPr/>
        </p:nvSpPr>
        <p:spPr bwMode="auto">
          <a:xfrm>
            <a:off x="457200" y="85725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0" name="Rectangle 6"/>
          <p:cNvSpPr>
            <a:spLocks noGrp="1" noChangeArrowheads="1"/>
          </p:cNvSpPr>
          <p:nvPr>
            <p:ph type="title"/>
          </p:nvPr>
        </p:nvSpPr>
        <p:spPr bwMode="auto">
          <a:xfrm>
            <a:off x="457200" y="208361"/>
            <a:ext cx="8229600" cy="4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pic>
        <p:nvPicPr>
          <p:cNvPr id="1031" name="Picture 7" descr="ident-small_4_onscreen_png"/>
          <p:cNvPicPr>
            <a:picLocks noChangeAspect="1" noChangeArrowheads="1"/>
          </p:cNvPicPr>
          <p:nvPr/>
        </p:nvPicPr>
        <p:blipFill>
          <a:blip r:embed="rId13" cstate="print">
            <a:lum bright="-100000"/>
            <a:extLst>
              <a:ext uri="{28A0092B-C50C-407E-A947-70E740481C1C}">
                <a14:useLocalDpi xmlns:a14="http://schemas.microsoft.com/office/drawing/2010/main" val="0"/>
              </a:ext>
            </a:extLst>
          </a:blip>
          <a:srcRect/>
          <a:stretch>
            <a:fillRect/>
          </a:stretch>
        </p:blipFill>
        <p:spPr bwMode="auto">
          <a:xfrm>
            <a:off x="457200" y="4656536"/>
            <a:ext cx="8572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0"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hf hdr="0" ftr="0" dt="0"/>
  <p:txStyles>
    <p:titleStyle>
      <a:lvl1pPr algn="l" rtl="0" eaLnBrk="0" fontAlgn="base" hangingPunct="0">
        <a:spcBef>
          <a:spcPct val="0"/>
        </a:spcBef>
        <a:spcAft>
          <a:spcPct val="0"/>
        </a:spcAft>
        <a:defRPr sz="2700" b="1">
          <a:solidFill>
            <a:schemeClr val="tx2"/>
          </a:solidFill>
          <a:latin typeface="+mj-lt"/>
          <a:ea typeface="+mj-ea"/>
          <a:cs typeface="+mj-cs"/>
        </a:defRPr>
      </a:lvl1pPr>
      <a:lvl2pPr algn="l" rtl="0" eaLnBrk="0" fontAlgn="base" hangingPunct="0">
        <a:spcBef>
          <a:spcPct val="0"/>
        </a:spcBef>
        <a:spcAft>
          <a:spcPct val="0"/>
        </a:spcAft>
        <a:defRPr sz="2700" b="1">
          <a:solidFill>
            <a:schemeClr val="tx2"/>
          </a:solidFill>
          <a:latin typeface="Arial" charset="0"/>
        </a:defRPr>
      </a:lvl2pPr>
      <a:lvl3pPr algn="l" rtl="0" eaLnBrk="0" fontAlgn="base" hangingPunct="0">
        <a:spcBef>
          <a:spcPct val="0"/>
        </a:spcBef>
        <a:spcAft>
          <a:spcPct val="0"/>
        </a:spcAft>
        <a:defRPr sz="2700" b="1">
          <a:solidFill>
            <a:schemeClr val="tx2"/>
          </a:solidFill>
          <a:latin typeface="Arial" charset="0"/>
        </a:defRPr>
      </a:lvl3pPr>
      <a:lvl4pPr algn="l" rtl="0" eaLnBrk="0" fontAlgn="base" hangingPunct="0">
        <a:spcBef>
          <a:spcPct val="0"/>
        </a:spcBef>
        <a:spcAft>
          <a:spcPct val="0"/>
        </a:spcAft>
        <a:defRPr sz="2700" b="1">
          <a:solidFill>
            <a:schemeClr val="tx2"/>
          </a:solidFill>
          <a:latin typeface="Arial" charset="0"/>
        </a:defRPr>
      </a:lvl4pPr>
      <a:lvl5pPr algn="l" rtl="0" eaLnBrk="0" fontAlgn="base" hangingPunct="0">
        <a:spcBef>
          <a:spcPct val="0"/>
        </a:spcBef>
        <a:spcAft>
          <a:spcPct val="0"/>
        </a:spcAft>
        <a:defRPr sz="2700" b="1">
          <a:solidFill>
            <a:schemeClr val="tx2"/>
          </a:solidFill>
          <a:latin typeface="Arial" charset="0"/>
        </a:defRPr>
      </a:lvl5pPr>
      <a:lvl6pPr marL="342900" algn="l" rtl="0" fontAlgn="base">
        <a:spcBef>
          <a:spcPct val="0"/>
        </a:spcBef>
        <a:spcAft>
          <a:spcPct val="0"/>
        </a:spcAft>
        <a:defRPr sz="2700" b="1">
          <a:solidFill>
            <a:schemeClr val="tx2"/>
          </a:solidFill>
          <a:latin typeface="Arial" charset="0"/>
        </a:defRPr>
      </a:lvl6pPr>
      <a:lvl7pPr marL="685800" algn="l" rtl="0" fontAlgn="base">
        <a:spcBef>
          <a:spcPct val="0"/>
        </a:spcBef>
        <a:spcAft>
          <a:spcPct val="0"/>
        </a:spcAft>
        <a:defRPr sz="2700" b="1">
          <a:solidFill>
            <a:schemeClr val="tx2"/>
          </a:solidFill>
          <a:latin typeface="Arial" charset="0"/>
        </a:defRPr>
      </a:lvl7pPr>
      <a:lvl8pPr marL="1028700" algn="l" rtl="0" fontAlgn="base">
        <a:spcBef>
          <a:spcPct val="0"/>
        </a:spcBef>
        <a:spcAft>
          <a:spcPct val="0"/>
        </a:spcAft>
        <a:defRPr sz="2700" b="1">
          <a:solidFill>
            <a:schemeClr val="tx2"/>
          </a:solidFill>
          <a:latin typeface="Arial" charset="0"/>
        </a:defRPr>
      </a:lvl8pPr>
      <a:lvl9pPr marL="1371600" algn="l" rtl="0" fontAlgn="base">
        <a:spcBef>
          <a:spcPct val="0"/>
        </a:spcBef>
        <a:spcAft>
          <a:spcPct val="0"/>
        </a:spcAft>
        <a:defRPr sz="2700" b="1">
          <a:solidFill>
            <a:schemeClr val="tx2"/>
          </a:solidFill>
          <a:latin typeface="Arial" charset="0"/>
        </a:defRPr>
      </a:lvl9pPr>
    </p:titleStyle>
    <p:bodyStyle>
      <a:lvl1pPr marL="257175" indent="-257175" algn="l" rtl="0" eaLnBrk="0" fontAlgn="base" hangingPunct="0">
        <a:spcBef>
          <a:spcPct val="20000"/>
        </a:spcBef>
        <a:spcAft>
          <a:spcPct val="0"/>
        </a:spcAft>
        <a:buClr>
          <a:schemeClr val="accent1"/>
        </a:buClr>
        <a:buSzPct val="80000"/>
        <a:buFont typeface="Wingdings" pitchFamily="2" charset="2"/>
        <a:buChar char="n"/>
        <a:defRPr sz="2100" b="1">
          <a:solidFill>
            <a:schemeClr val="tx1"/>
          </a:solidFill>
          <a:latin typeface="+mn-lt"/>
          <a:ea typeface="+mn-ea"/>
          <a:cs typeface="+mn-cs"/>
        </a:defRPr>
      </a:lvl1pPr>
      <a:lvl2pPr marL="502444" indent="-244079" algn="l" rtl="0" eaLnBrk="0" fontAlgn="base" hangingPunct="0">
        <a:spcBef>
          <a:spcPct val="20000"/>
        </a:spcBef>
        <a:spcAft>
          <a:spcPct val="0"/>
        </a:spcAft>
        <a:buClr>
          <a:schemeClr val="accent2"/>
        </a:buClr>
        <a:buSzPct val="80000"/>
        <a:buFont typeface="Wingdings" pitchFamily="2" charset="2"/>
        <a:buChar char="q"/>
        <a:defRPr sz="1800" b="1">
          <a:solidFill>
            <a:schemeClr val="tx1"/>
          </a:solidFill>
          <a:latin typeface="+mn-lt"/>
        </a:defRPr>
      </a:lvl2pPr>
      <a:lvl3pPr marL="766763" indent="-263129" algn="l" rtl="0" eaLnBrk="0" fontAlgn="base" hangingPunct="0">
        <a:spcBef>
          <a:spcPct val="20000"/>
        </a:spcBef>
        <a:spcAft>
          <a:spcPct val="0"/>
        </a:spcAft>
        <a:buClr>
          <a:schemeClr val="accent1"/>
        </a:buClr>
        <a:buSzPct val="80000"/>
        <a:buFont typeface="Wingdings" pitchFamily="2" charset="2"/>
        <a:buChar char="n"/>
        <a:defRPr sz="1500" b="1">
          <a:solidFill>
            <a:schemeClr val="tx1"/>
          </a:solidFill>
          <a:latin typeface="+mn-lt"/>
        </a:defRPr>
      </a:lvl3pPr>
      <a:lvl4pPr marL="1004888" indent="-236935" algn="l" rtl="0" eaLnBrk="0" fontAlgn="base" hangingPunct="0">
        <a:spcBef>
          <a:spcPct val="20000"/>
        </a:spcBef>
        <a:spcAft>
          <a:spcPct val="0"/>
        </a:spcAft>
        <a:buClr>
          <a:schemeClr val="accent2"/>
        </a:buClr>
        <a:buSzPct val="80000"/>
        <a:buFont typeface="Wingdings" pitchFamily="2" charset="2"/>
        <a:buChar char="q"/>
        <a:defRPr b="1">
          <a:solidFill>
            <a:schemeClr val="tx1"/>
          </a:solidFill>
          <a:latin typeface="+mn-lt"/>
        </a:defRPr>
      </a:lvl4pPr>
      <a:lvl5pPr marL="1260872" indent="-254794" algn="l" rtl="0" eaLnBrk="0" fontAlgn="base" hangingPunct="0">
        <a:spcBef>
          <a:spcPct val="20000"/>
        </a:spcBef>
        <a:spcAft>
          <a:spcPct val="0"/>
        </a:spcAft>
        <a:buClr>
          <a:schemeClr val="accent1"/>
        </a:buClr>
        <a:buSzPct val="80000"/>
        <a:buFont typeface="Wingdings" pitchFamily="2" charset="2"/>
        <a:buChar char="§"/>
        <a:defRPr sz="1200" b="1">
          <a:solidFill>
            <a:schemeClr val="tx1"/>
          </a:solidFill>
          <a:latin typeface="+mn-lt"/>
        </a:defRPr>
      </a:lvl5pPr>
      <a:lvl6pPr marL="1603772" indent="-254794" algn="l" rtl="0" fontAlgn="base">
        <a:spcBef>
          <a:spcPct val="20000"/>
        </a:spcBef>
        <a:spcAft>
          <a:spcPct val="0"/>
        </a:spcAft>
        <a:buClr>
          <a:schemeClr val="accent1"/>
        </a:buClr>
        <a:buSzPct val="80000"/>
        <a:buFont typeface="Wingdings" pitchFamily="2" charset="2"/>
        <a:buChar char="§"/>
        <a:defRPr sz="1200" b="1">
          <a:solidFill>
            <a:schemeClr val="tx1"/>
          </a:solidFill>
          <a:latin typeface="+mn-lt"/>
        </a:defRPr>
      </a:lvl6pPr>
      <a:lvl7pPr marL="1946672" indent="-254794" algn="l" rtl="0" fontAlgn="base">
        <a:spcBef>
          <a:spcPct val="20000"/>
        </a:spcBef>
        <a:spcAft>
          <a:spcPct val="0"/>
        </a:spcAft>
        <a:buClr>
          <a:schemeClr val="accent1"/>
        </a:buClr>
        <a:buSzPct val="80000"/>
        <a:buFont typeface="Wingdings" pitchFamily="2" charset="2"/>
        <a:buChar char="§"/>
        <a:defRPr sz="1200" b="1">
          <a:solidFill>
            <a:schemeClr val="tx1"/>
          </a:solidFill>
          <a:latin typeface="+mn-lt"/>
        </a:defRPr>
      </a:lvl7pPr>
      <a:lvl8pPr marL="2289572" indent="-254794" algn="l" rtl="0" fontAlgn="base">
        <a:spcBef>
          <a:spcPct val="20000"/>
        </a:spcBef>
        <a:spcAft>
          <a:spcPct val="0"/>
        </a:spcAft>
        <a:buClr>
          <a:schemeClr val="accent1"/>
        </a:buClr>
        <a:buSzPct val="80000"/>
        <a:buFont typeface="Wingdings" pitchFamily="2" charset="2"/>
        <a:buChar char="§"/>
        <a:defRPr sz="1200" b="1">
          <a:solidFill>
            <a:schemeClr val="tx1"/>
          </a:solidFill>
          <a:latin typeface="+mn-lt"/>
        </a:defRPr>
      </a:lvl8pPr>
      <a:lvl9pPr marL="2632472" indent="-254794" algn="l" rtl="0" fontAlgn="base">
        <a:spcBef>
          <a:spcPct val="20000"/>
        </a:spcBef>
        <a:spcAft>
          <a:spcPct val="0"/>
        </a:spcAft>
        <a:buClr>
          <a:schemeClr val="accent1"/>
        </a:buClr>
        <a:buSzPct val="80000"/>
        <a:buFont typeface="Wingdings" pitchFamily="2" charset="2"/>
        <a:buChar char="§"/>
        <a:defRPr sz="1200" b="1">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ge-edge@usgs.gov"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www.usgs.gov/rge-edg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usgs.gov/rge-edg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mailto:submit_rge-edge@usgs.gov"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mailto:rge-edge@usgs.gov"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usgs.gov/rge-edge"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hyperlink" Target="mailto:ccampbell@usgs.gov" TargetMode="External"/><Relationship Id="rId7" Type="http://schemas.openxmlformats.org/officeDocument/2006/relationships/hyperlink" Target="mailto:rge-edge@usgs.gov"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mailto:aaretxabaleta@usgs.gov&#8203;" TargetMode="External"/><Relationship Id="rId5" Type="http://schemas.openxmlformats.org/officeDocument/2006/relationships/hyperlink" Target="mailto:mpmiller@usgs.gov" TargetMode="External"/><Relationship Id="rId4" Type="http://schemas.openxmlformats.org/officeDocument/2006/relationships/hyperlink" Target="mailto:shilburger@usgs.go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85900" y="1200152"/>
            <a:ext cx="6629400" cy="937471"/>
          </a:xfrm>
        </p:spPr>
        <p:txBody>
          <a:bodyPr/>
          <a:lstStyle/>
          <a:p>
            <a:pPr eaLnBrk="1" hangingPunct="1">
              <a:defRPr/>
            </a:pPr>
            <a:r>
              <a:rPr lang="en-US" altLang="en-US" sz="2700" dirty="0"/>
              <a:t>Preparing for your RGE-EDGE Review</a:t>
            </a:r>
            <a:endParaRPr lang="en-US" altLang="en-US" sz="1050" dirty="0">
              <a:solidFill>
                <a:schemeClr val="tx1"/>
              </a:solidFill>
            </a:endParaRPr>
          </a:p>
        </p:txBody>
      </p:sp>
      <p:sp>
        <p:nvSpPr>
          <p:cNvPr id="2" name="Subtitle 1"/>
          <p:cNvSpPr>
            <a:spLocks noGrp="1"/>
          </p:cNvSpPr>
          <p:nvPr>
            <p:ph type="subTitle" idx="1"/>
          </p:nvPr>
        </p:nvSpPr>
        <p:spPr>
          <a:xfrm>
            <a:off x="379142" y="1717659"/>
            <a:ext cx="7276580" cy="2787434"/>
          </a:xfrm>
        </p:spPr>
        <p:txBody>
          <a:bodyPr/>
          <a:lstStyle/>
          <a:p>
            <a:endParaRPr lang="en-US" dirty="0"/>
          </a:p>
          <a:p>
            <a:endParaRPr lang="en-US" sz="1500" dirty="0"/>
          </a:p>
          <a:p>
            <a:r>
              <a:rPr lang="en-US" sz="1500" dirty="0"/>
              <a:t>Steve Hilburger and Mark Miller</a:t>
            </a:r>
            <a:endParaRPr lang="en-US" sz="1500" dirty="0">
              <a:cs typeface="Arial"/>
            </a:endParaRPr>
          </a:p>
          <a:p>
            <a:r>
              <a:rPr lang="en-US" sz="1500" dirty="0"/>
              <a:t>RGE-EDGE Senior Scientists</a:t>
            </a:r>
            <a:endParaRPr lang="en-US" sz="1500" dirty="0">
              <a:cs typeface="Arial"/>
            </a:endParaRPr>
          </a:p>
          <a:p>
            <a:r>
              <a:rPr lang="en-US" sz="1500" dirty="0"/>
              <a:t>Office of Science Quality and Integrity (OSQI)</a:t>
            </a:r>
            <a:endParaRPr lang="en-US" sz="1500" dirty="0">
              <a:cs typeface="Arial"/>
            </a:endParaRPr>
          </a:p>
          <a:p>
            <a:r>
              <a:rPr lang="en-US" sz="1500" dirty="0"/>
              <a:t>2024 Winter Review Cycle (Nov 15 Submission)</a:t>
            </a:r>
          </a:p>
          <a:p>
            <a:endParaRPr lang="en-US" sz="1500" dirty="0"/>
          </a:p>
          <a:p>
            <a:endParaRPr lang="en-US" sz="750" dirty="0"/>
          </a:p>
          <a:p>
            <a:r>
              <a:rPr lang="en-US" sz="1500" dirty="0"/>
              <a:t>RGE mailbox </a:t>
            </a:r>
            <a:r>
              <a:rPr lang="en-US" sz="1500" b="0" dirty="0">
                <a:hlinkClick r:id="rId3"/>
              </a:rPr>
              <a:t>rge-edge@usgs.gov</a:t>
            </a:r>
            <a:endParaRPr lang="en-US" sz="1500" b="0" dirty="0"/>
          </a:p>
          <a:p>
            <a:r>
              <a:rPr lang="en-US" sz="1500" dirty="0"/>
              <a:t>RGE website </a:t>
            </a:r>
            <a:r>
              <a:rPr lang="en-US" sz="1500" b="0" dirty="0">
                <a:hlinkClick r:id="rId4"/>
              </a:rPr>
              <a:t>www.usgs.gov/rge-edge</a:t>
            </a:r>
            <a:endParaRPr lang="en-US" sz="1500" b="0" dirty="0"/>
          </a:p>
          <a:p>
            <a:endParaRPr lang="en-US" sz="1500" dirty="0"/>
          </a:p>
        </p:txBody>
      </p:sp>
      <p:pic>
        <p:nvPicPr>
          <p:cNvPr id="3" name="Picture 2" descr="QR code for http://www.usgs.gov/rge-edge">
            <a:extLst>
              <a:ext uri="{FF2B5EF4-FFF2-40B4-BE49-F238E27FC236}">
                <a16:creationId xmlns:a16="http://schemas.microsoft.com/office/drawing/2014/main" id="{BFC1DBD9-352A-F6AC-79FA-4CEAD1A59B7E}"/>
              </a:ext>
            </a:extLst>
          </p:cNvPr>
          <p:cNvPicPr>
            <a:picLocks noChangeAspect="1"/>
          </p:cNvPicPr>
          <p:nvPr/>
        </p:nvPicPr>
        <p:blipFill>
          <a:blip r:embed="rId5"/>
          <a:stretch>
            <a:fillRect/>
          </a:stretch>
        </p:blipFill>
        <p:spPr>
          <a:xfrm>
            <a:off x="7059704" y="3280150"/>
            <a:ext cx="1192036" cy="11920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222D-15C6-4888-BF38-45E56FBCECFF}"/>
              </a:ext>
            </a:extLst>
          </p:cNvPr>
          <p:cNvSpPr>
            <a:spLocks noGrp="1"/>
          </p:cNvSpPr>
          <p:nvPr>
            <p:ph type="title"/>
          </p:nvPr>
        </p:nvSpPr>
        <p:spPr/>
        <p:txBody>
          <a:bodyPr/>
          <a:lstStyle/>
          <a:p>
            <a:r>
              <a:rPr lang="en-US" dirty="0"/>
              <a:t>RGE and EDGE Definitions</a:t>
            </a:r>
          </a:p>
        </p:txBody>
      </p:sp>
      <p:sp>
        <p:nvSpPr>
          <p:cNvPr id="3" name="Content Placeholder 2">
            <a:extLst>
              <a:ext uri="{FF2B5EF4-FFF2-40B4-BE49-F238E27FC236}">
                <a16:creationId xmlns:a16="http://schemas.microsoft.com/office/drawing/2014/main" id="{A9DB875D-1ADB-4558-B0FD-A2C9A2B8D217}"/>
              </a:ext>
            </a:extLst>
          </p:cNvPr>
          <p:cNvSpPr>
            <a:spLocks noGrp="1"/>
          </p:cNvSpPr>
          <p:nvPr>
            <p:ph idx="1"/>
          </p:nvPr>
        </p:nvSpPr>
        <p:spPr>
          <a:xfrm>
            <a:off x="457200" y="914400"/>
            <a:ext cx="7200900" cy="3829050"/>
          </a:xfrm>
        </p:spPr>
        <p:txBody>
          <a:bodyPr/>
          <a:lstStyle/>
          <a:p>
            <a:r>
              <a:rPr lang="en-US" b="0" dirty="0"/>
              <a:t>RGE: Research Grade Evaluation</a:t>
            </a:r>
          </a:p>
          <a:p>
            <a:pPr lvl="1">
              <a:buClr>
                <a:srgbClr val="C0504D"/>
              </a:buClr>
            </a:pPr>
            <a:r>
              <a:rPr lang="en-US" b="0" dirty="0">
                <a:solidFill>
                  <a:prstClr val="black"/>
                </a:solidFill>
              </a:rPr>
              <a:t>Research Scientists</a:t>
            </a:r>
          </a:p>
          <a:p>
            <a:pPr lvl="1">
              <a:buClr>
                <a:srgbClr val="C0504D"/>
              </a:buClr>
            </a:pPr>
            <a:r>
              <a:rPr lang="en-US" b="0" dirty="0">
                <a:solidFill>
                  <a:prstClr val="black"/>
                </a:solidFill>
              </a:rPr>
              <a:t>~1,000 RGE scientists</a:t>
            </a:r>
          </a:p>
          <a:p>
            <a:pPr lvl="1">
              <a:buClr>
                <a:srgbClr val="C0504D"/>
              </a:buClr>
            </a:pPr>
            <a:r>
              <a:rPr lang="en-US" b="0" dirty="0">
                <a:solidFill>
                  <a:prstClr val="black"/>
                </a:solidFill>
              </a:rPr>
              <a:t>OPM RGE Guide (2006)</a:t>
            </a:r>
          </a:p>
          <a:p>
            <a:pPr lvl="0">
              <a:buClr>
                <a:srgbClr val="4F81BD"/>
              </a:buClr>
            </a:pPr>
            <a:endParaRPr lang="en-US" sz="750" b="0" dirty="0">
              <a:solidFill>
                <a:prstClr val="black"/>
              </a:solidFill>
            </a:endParaRPr>
          </a:p>
          <a:p>
            <a:pPr lvl="0">
              <a:buClr>
                <a:srgbClr val="4F81BD"/>
              </a:buClr>
            </a:pPr>
            <a:r>
              <a:rPr lang="en-US" b="0" dirty="0">
                <a:solidFill>
                  <a:prstClr val="black"/>
                </a:solidFill>
              </a:rPr>
              <a:t>EDGE: Equipment Development Grade Evaluation</a:t>
            </a:r>
          </a:p>
          <a:p>
            <a:pPr lvl="1">
              <a:buClr>
                <a:srgbClr val="C0504D"/>
              </a:buClr>
            </a:pPr>
            <a:r>
              <a:rPr lang="en-US" b="0" dirty="0">
                <a:solidFill>
                  <a:prstClr val="black"/>
                </a:solidFill>
              </a:rPr>
              <a:t>Development Scientists</a:t>
            </a:r>
          </a:p>
          <a:p>
            <a:pPr lvl="1">
              <a:buClr>
                <a:srgbClr val="C0504D"/>
              </a:buClr>
            </a:pPr>
            <a:r>
              <a:rPr lang="en-US" b="0" dirty="0">
                <a:solidFill>
                  <a:prstClr val="black"/>
                </a:solidFill>
              </a:rPr>
              <a:t>~45 EDGE scientists</a:t>
            </a:r>
          </a:p>
          <a:p>
            <a:pPr lvl="1">
              <a:buClr>
                <a:srgbClr val="C0504D"/>
              </a:buClr>
            </a:pPr>
            <a:r>
              <a:rPr lang="en-US" b="0" dirty="0">
                <a:solidFill>
                  <a:prstClr val="black"/>
                </a:solidFill>
              </a:rPr>
              <a:t>OPM EDGE Guide (1968)</a:t>
            </a:r>
          </a:p>
          <a:p>
            <a:pPr marL="0" indent="0">
              <a:buNone/>
            </a:pPr>
            <a:endParaRPr lang="en-US" b="0" dirty="0"/>
          </a:p>
        </p:txBody>
      </p:sp>
      <p:sp>
        <p:nvSpPr>
          <p:cNvPr id="4" name="Slide Number Placeholder 3">
            <a:extLst>
              <a:ext uri="{FF2B5EF4-FFF2-40B4-BE49-F238E27FC236}">
                <a16:creationId xmlns:a16="http://schemas.microsoft.com/office/drawing/2014/main" id="{F7449B2E-C20E-4A20-9CB2-1D74B820764B}"/>
              </a:ext>
            </a:extLst>
          </p:cNvPr>
          <p:cNvSpPr>
            <a:spLocks noGrp="1"/>
          </p:cNvSpPr>
          <p:nvPr>
            <p:ph type="sldNum" sz="quarter" idx="10"/>
          </p:nvPr>
        </p:nvSpPr>
        <p:spPr/>
        <p:txBody>
          <a:bodyPr/>
          <a:lstStyle/>
          <a:p>
            <a:pPr>
              <a:defRPr/>
            </a:pPr>
            <a:fld id="{7916C709-DE7C-48B2-9FF3-7E1AF6E49BCB}" type="slidenum">
              <a:rPr lang="en-US" altLang="en-US" smtClean="0"/>
              <a:pPr>
                <a:defRPr/>
              </a:pPr>
              <a:t>2</a:t>
            </a:fld>
            <a:endParaRPr lang="en-US" altLang="en-US"/>
          </a:p>
        </p:txBody>
      </p:sp>
    </p:spTree>
    <p:extLst>
      <p:ext uri="{BB962C8B-B14F-4D97-AF65-F5344CB8AC3E}">
        <p14:creationId xmlns:p14="http://schemas.microsoft.com/office/powerpoint/2010/main" val="1764861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222D-15C6-4888-BF38-45E56FBCECFF}"/>
              </a:ext>
            </a:extLst>
          </p:cNvPr>
          <p:cNvSpPr>
            <a:spLocks noGrp="1"/>
          </p:cNvSpPr>
          <p:nvPr>
            <p:ph type="title"/>
          </p:nvPr>
        </p:nvSpPr>
        <p:spPr>
          <a:xfrm>
            <a:off x="457200" y="210312"/>
            <a:ext cx="6172200" cy="425053"/>
          </a:xfrm>
        </p:spPr>
        <p:txBody>
          <a:bodyPr/>
          <a:lstStyle/>
          <a:p>
            <a:r>
              <a:rPr lang="en-US" dirty="0"/>
              <a:t>RGE-EDGE Review</a:t>
            </a:r>
          </a:p>
        </p:txBody>
      </p:sp>
      <p:sp>
        <p:nvSpPr>
          <p:cNvPr id="3" name="Content Placeholder 2">
            <a:extLst>
              <a:ext uri="{FF2B5EF4-FFF2-40B4-BE49-F238E27FC236}">
                <a16:creationId xmlns:a16="http://schemas.microsoft.com/office/drawing/2014/main" id="{A9DB875D-1ADB-4558-B0FD-A2C9A2B8D217}"/>
              </a:ext>
            </a:extLst>
          </p:cNvPr>
          <p:cNvSpPr>
            <a:spLocks noGrp="1"/>
          </p:cNvSpPr>
          <p:nvPr>
            <p:ph idx="1"/>
          </p:nvPr>
        </p:nvSpPr>
        <p:spPr>
          <a:xfrm>
            <a:off x="457200" y="914400"/>
            <a:ext cx="7200900" cy="3829050"/>
          </a:xfrm>
        </p:spPr>
        <p:txBody>
          <a:bodyPr/>
          <a:lstStyle/>
          <a:p>
            <a:r>
              <a:rPr lang="en-US" b="0" dirty="0"/>
              <a:t>Mandatory and periodic classification review of Permanent scientists</a:t>
            </a:r>
          </a:p>
          <a:p>
            <a:endParaRPr lang="en-US" sz="750" b="0" dirty="0"/>
          </a:p>
          <a:p>
            <a:r>
              <a:rPr lang="en-US" b="0" dirty="0"/>
              <a:t>Administered by OSQI in collaboration with the Office of Human Resources</a:t>
            </a:r>
          </a:p>
          <a:p>
            <a:endParaRPr lang="en-US" sz="750" b="0" dirty="0"/>
          </a:p>
          <a:p>
            <a:r>
              <a:rPr lang="en-US" b="0" dirty="0"/>
              <a:t>Reviewed by panels of scientific peers who meet, discuss, and reach consensus</a:t>
            </a:r>
          </a:p>
          <a:p>
            <a:endParaRPr lang="en-US" sz="750" dirty="0"/>
          </a:p>
          <a:p>
            <a:pPr lvl="0">
              <a:buClr>
                <a:srgbClr val="4F81BD"/>
              </a:buClr>
            </a:pPr>
            <a:r>
              <a:rPr lang="en-US" b="0" dirty="0">
                <a:solidFill>
                  <a:prstClr val="black"/>
                </a:solidFill>
              </a:rPr>
              <a:t>Sum of scores from factors 1–4 maps to a grade</a:t>
            </a:r>
            <a:endParaRPr lang="en-US" dirty="0">
              <a:cs typeface="Arial"/>
            </a:endParaRPr>
          </a:p>
          <a:p>
            <a:pPr lvl="0">
              <a:buClr>
                <a:srgbClr val="4F81BD"/>
              </a:buClr>
            </a:pPr>
            <a:endParaRPr lang="en-US" b="0" dirty="0">
              <a:solidFill>
                <a:prstClr val="black"/>
              </a:solidFill>
            </a:endParaRPr>
          </a:p>
          <a:p>
            <a:endParaRPr lang="en-US" dirty="0"/>
          </a:p>
        </p:txBody>
      </p:sp>
      <p:sp>
        <p:nvSpPr>
          <p:cNvPr id="4" name="Slide Number Placeholder 3">
            <a:extLst>
              <a:ext uri="{FF2B5EF4-FFF2-40B4-BE49-F238E27FC236}">
                <a16:creationId xmlns:a16="http://schemas.microsoft.com/office/drawing/2014/main" id="{F7449B2E-C20E-4A20-9CB2-1D74B820764B}"/>
              </a:ext>
            </a:extLst>
          </p:cNvPr>
          <p:cNvSpPr>
            <a:spLocks noGrp="1"/>
          </p:cNvSpPr>
          <p:nvPr>
            <p:ph type="sldNum" sz="quarter" idx="10"/>
          </p:nvPr>
        </p:nvSpPr>
        <p:spPr/>
        <p:txBody>
          <a:bodyPr/>
          <a:lstStyle/>
          <a:p>
            <a:pPr>
              <a:defRPr/>
            </a:pPr>
            <a:fld id="{7916C709-DE7C-48B2-9FF3-7E1AF6E49BCB}" type="slidenum">
              <a:rPr lang="en-US" altLang="en-US" smtClean="0"/>
              <a:pPr>
                <a:defRPr/>
              </a:pPr>
              <a:t>3</a:t>
            </a:fld>
            <a:endParaRPr lang="en-US" altLang="en-US"/>
          </a:p>
        </p:txBody>
      </p:sp>
    </p:spTree>
    <p:extLst>
      <p:ext uri="{BB962C8B-B14F-4D97-AF65-F5344CB8AC3E}">
        <p14:creationId xmlns:p14="http://schemas.microsoft.com/office/powerpoint/2010/main" val="125258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222D-15C6-4888-BF38-45E56FBCECFF}"/>
              </a:ext>
            </a:extLst>
          </p:cNvPr>
          <p:cNvSpPr>
            <a:spLocks noGrp="1"/>
          </p:cNvSpPr>
          <p:nvPr>
            <p:ph type="title"/>
          </p:nvPr>
        </p:nvSpPr>
        <p:spPr/>
        <p:txBody>
          <a:bodyPr/>
          <a:lstStyle/>
          <a:p>
            <a:r>
              <a:rPr lang="en-US" dirty="0"/>
              <a:t>Review Schedule and Frequency</a:t>
            </a:r>
          </a:p>
        </p:txBody>
      </p:sp>
      <p:sp>
        <p:nvSpPr>
          <p:cNvPr id="3" name="Content Placeholder 2">
            <a:extLst>
              <a:ext uri="{FF2B5EF4-FFF2-40B4-BE49-F238E27FC236}">
                <a16:creationId xmlns:a16="http://schemas.microsoft.com/office/drawing/2014/main" id="{A9DB875D-1ADB-4558-B0FD-A2C9A2B8D217}"/>
              </a:ext>
            </a:extLst>
          </p:cNvPr>
          <p:cNvSpPr>
            <a:spLocks noGrp="1"/>
          </p:cNvSpPr>
          <p:nvPr>
            <p:ph idx="1"/>
          </p:nvPr>
        </p:nvSpPr>
        <p:spPr>
          <a:xfrm>
            <a:off x="457200" y="914400"/>
            <a:ext cx="7200900" cy="3829050"/>
          </a:xfrm>
        </p:spPr>
        <p:txBody>
          <a:bodyPr/>
          <a:lstStyle/>
          <a:p>
            <a:pPr marL="25718" indent="0" eaLnBrk="1" fontAlgn="auto" hangingPunct="1">
              <a:spcAft>
                <a:spcPts val="450"/>
              </a:spcAft>
              <a:buNone/>
              <a:defRPr/>
            </a:pPr>
            <a:r>
              <a:rPr lang="en-US" altLang="en-US" sz="2000" b="0" dirty="0"/>
              <a:t>Frequency varies with grade</a:t>
            </a:r>
          </a:p>
          <a:p>
            <a:pPr marL="528161" lvl="1" indent="-257175" eaLnBrk="1" fontAlgn="auto" hangingPunct="1">
              <a:spcAft>
                <a:spcPts val="0"/>
              </a:spcAft>
              <a:defRPr/>
            </a:pPr>
            <a:r>
              <a:rPr lang="en-US" altLang="en-US" b="0" dirty="0"/>
              <a:t>GS-9 (EDGE) or GS-11 (RGE) to GS-13: every 4 years</a:t>
            </a:r>
          </a:p>
          <a:p>
            <a:pPr marL="528161" lvl="1" indent="-257175" eaLnBrk="1" fontAlgn="auto" hangingPunct="1">
              <a:spcAft>
                <a:spcPts val="0"/>
              </a:spcAft>
              <a:defRPr/>
            </a:pPr>
            <a:r>
              <a:rPr lang="en-US" altLang="en-US" b="0" dirty="0"/>
              <a:t>GS-14: 6 years</a:t>
            </a:r>
          </a:p>
          <a:p>
            <a:pPr marL="528161" lvl="1" indent="-257175" eaLnBrk="1" fontAlgn="auto" hangingPunct="1">
              <a:spcAft>
                <a:spcPts val="0"/>
              </a:spcAft>
              <a:defRPr/>
            </a:pPr>
            <a:r>
              <a:rPr lang="en-US" altLang="en-US" b="0" dirty="0"/>
              <a:t>GS-15: 7 years</a:t>
            </a:r>
          </a:p>
          <a:p>
            <a:pPr marL="25718" indent="0" eaLnBrk="1" fontAlgn="auto" hangingPunct="1">
              <a:spcAft>
                <a:spcPts val="0"/>
              </a:spcAft>
              <a:buNone/>
              <a:defRPr/>
            </a:pPr>
            <a:endParaRPr lang="en-US" altLang="en-US" sz="900" b="0" dirty="0"/>
          </a:p>
          <a:p>
            <a:pPr marL="25718" indent="0" eaLnBrk="1" fontAlgn="auto" hangingPunct="1">
              <a:spcAft>
                <a:spcPts val="0"/>
              </a:spcAft>
              <a:buNone/>
              <a:defRPr/>
            </a:pPr>
            <a:r>
              <a:rPr lang="en-US" altLang="en-US" sz="2000" b="0" dirty="0"/>
              <a:t>Early reviews scheduled with center director approval</a:t>
            </a:r>
          </a:p>
          <a:p>
            <a:pPr marL="25718" indent="0" eaLnBrk="1" fontAlgn="auto" hangingPunct="1">
              <a:spcAft>
                <a:spcPts val="0"/>
              </a:spcAft>
              <a:buNone/>
              <a:defRPr/>
            </a:pPr>
            <a:endParaRPr lang="en-US" altLang="en-US" sz="900" b="0" dirty="0"/>
          </a:p>
          <a:p>
            <a:pPr marL="25718" indent="0" eaLnBrk="1" fontAlgn="auto" hangingPunct="1">
              <a:spcAft>
                <a:spcPts val="0"/>
              </a:spcAft>
              <a:buNone/>
              <a:defRPr/>
            </a:pPr>
            <a:r>
              <a:rPr lang="en-US" altLang="en-US" sz="2000" b="0" dirty="0"/>
              <a:t>Delayed reviews possible, typically limited to:</a:t>
            </a:r>
          </a:p>
          <a:p>
            <a:pPr marL="528161" lvl="1" indent="-243840" eaLnBrk="1" fontAlgn="auto" hangingPunct="1">
              <a:spcAft>
                <a:spcPts val="0"/>
              </a:spcAft>
              <a:defRPr/>
            </a:pPr>
            <a:r>
              <a:rPr lang="en-US" altLang="en-US" b="0" dirty="0"/>
              <a:t>Personal / health issues, or </a:t>
            </a:r>
            <a:endParaRPr lang="en-US" altLang="en-US" b="0" dirty="0">
              <a:cs typeface="Arial"/>
            </a:endParaRPr>
          </a:p>
          <a:p>
            <a:pPr marL="528161" lvl="1" indent="-243840" eaLnBrk="1" fontAlgn="auto" hangingPunct="1">
              <a:spcAft>
                <a:spcPts val="0"/>
              </a:spcAft>
              <a:defRPr/>
            </a:pPr>
            <a:r>
              <a:rPr lang="en-US" altLang="en-US" b="0" dirty="0"/>
              <a:t>Temporary assignments away from research</a:t>
            </a:r>
            <a:endParaRPr lang="en-US" altLang="en-US" b="0" dirty="0">
              <a:cs typeface="Arial"/>
            </a:endParaRPr>
          </a:p>
          <a:p>
            <a:pPr marL="528161" lvl="1" indent="-243840" eaLnBrk="1" fontAlgn="auto" hangingPunct="1">
              <a:spcAft>
                <a:spcPts val="0"/>
              </a:spcAft>
              <a:defRPr/>
            </a:pPr>
            <a:r>
              <a:rPr lang="en-US" altLang="en-US" b="0" dirty="0"/>
              <a:t>Require center director approval</a:t>
            </a:r>
            <a:endParaRPr lang="en-US" altLang="en-US" b="0" dirty="0">
              <a:cs typeface="Arial"/>
            </a:endParaRPr>
          </a:p>
          <a:p>
            <a:pPr marL="0" indent="0">
              <a:buNone/>
            </a:pPr>
            <a:endParaRPr lang="en-US" b="0" dirty="0"/>
          </a:p>
        </p:txBody>
      </p:sp>
      <p:sp>
        <p:nvSpPr>
          <p:cNvPr id="4" name="Slide Number Placeholder 3">
            <a:extLst>
              <a:ext uri="{FF2B5EF4-FFF2-40B4-BE49-F238E27FC236}">
                <a16:creationId xmlns:a16="http://schemas.microsoft.com/office/drawing/2014/main" id="{F7449B2E-C20E-4A20-9CB2-1D74B820764B}"/>
              </a:ext>
            </a:extLst>
          </p:cNvPr>
          <p:cNvSpPr>
            <a:spLocks noGrp="1"/>
          </p:cNvSpPr>
          <p:nvPr>
            <p:ph type="sldNum" sz="quarter" idx="10"/>
          </p:nvPr>
        </p:nvSpPr>
        <p:spPr/>
        <p:txBody>
          <a:bodyPr/>
          <a:lstStyle/>
          <a:p>
            <a:pPr>
              <a:defRPr/>
            </a:pPr>
            <a:fld id="{7916C709-DE7C-48B2-9FF3-7E1AF6E49BCB}" type="slidenum">
              <a:rPr lang="en-US" altLang="en-US">
                <a:solidFill>
                  <a:prstClr val="black"/>
                </a:solidFill>
              </a:rPr>
              <a:pPr>
                <a:defRPr/>
              </a:pPr>
              <a:t>4</a:t>
            </a:fld>
            <a:endParaRPr lang="en-US" altLang="en-US">
              <a:solidFill>
                <a:prstClr val="black"/>
              </a:solidFill>
            </a:endParaRPr>
          </a:p>
        </p:txBody>
      </p:sp>
    </p:spTree>
    <p:extLst>
      <p:ext uri="{BB962C8B-B14F-4D97-AF65-F5344CB8AC3E}">
        <p14:creationId xmlns:p14="http://schemas.microsoft.com/office/powerpoint/2010/main" val="282654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C128-5B43-45A3-A06A-445086177493}"/>
              </a:ext>
            </a:extLst>
          </p:cNvPr>
          <p:cNvSpPr>
            <a:spLocks noGrp="1"/>
          </p:cNvSpPr>
          <p:nvPr>
            <p:ph type="title"/>
          </p:nvPr>
        </p:nvSpPr>
        <p:spPr/>
        <p:txBody>
          <a:bodyPr/>
          <a:lstStyle/>
          <a:p>
            <a:r>
              <a:rPr lang="en-US" altLang="en-US" dirty="0"/>
              <a:t>Annual Calendar (as of late 2022)</a:t>
            </a:r>
            <a:endParaRPr lang="en-US" dirty="0"/>
          </a:p>
        </p:txBody>
      </p:sp>
      <p:sp>
        <p:nvSpPr>
          <p:cNvPr id="3" name="Content Placeholder 2">
            <a:extLst>
              <a:ext uri="{FF2B5EF4-FFF2-40B4-BE49-F238E27FC236}">
                <a16:creationId xmlns:a16="http://schemas.microsoft.com/office/drawing/2014/main" id="{874B4EF9-4645-43FC-8DCF-7F2E25D1E107}"/>
              </a:ext>
            </a:extLst>
          </p:cNvPr>
          <p:cNvSpPr>
            <a:spLocks noGrp="1"/>
          </p:cNvSpPr>
          <p:nvPr>
            <p:ph idx="1"/>
          </p:nvPr>
        </p:nvSpPr>
        <p:spPr>
          <a:xfrm>
            <a:off x="457200" y="914402"/>
            <a:ext cx="8229600" cy="3658147"/>
          </a:xfrm>
        </p:spPr>
        <p:txBody>
          <a:bodyPr/>
          <a:lstStyle/>
          <a:p>
            <a:pPr marL="25718" indent="0" eaLnBrk="1" fontAlgn="auto" hangingPunct="1">
              <a:spcAft>
                <a:spcPts val="0"/>
              </a:spcAft>
              <a:buNone/>
              <a:defRPr/>
            </a:pPr>
            <a:r>
              <a:rPr lang="en-US" altLang="en-US" sz="1800" b="0" dirty="0"/>
              <a:t>Two RGE-EDGE “cycles” per year, each with</a:t>
            </a:r>
          </a:p>
          <a:p>
            <a:pPr marL="641509" lvl="1" indent="-241459" eaLnBrk="1" fontAlgn="auto" hangingPunct="1">
              <a:defRPr/>
            </a:pPr>
            <a:r>
              <a:rPr lang="en-US" altLang="en-US" sz="1650" b="0" dirty="0"/>
              <a:t>~100+ scientists reviewed; ~15+ panels held</a:t>
            </a:r>
            <a:endParaRPr lang="en-US" altLang="en-US" sz="1650" b="0" dirty="0">
              <a:cs typeface="Arial"/>
            </a:endParaRPr>
          </a:p>
          <a:p>
            <a:pPr marL="154305" lvl="1" indent="0" eaLnBrk="1" fontAlgn="auto" hangingPunct="1">
              <a:buNone/>
              <a:defRPr/>
            </a:pPr>
            <a:endParaRPr lang="en-US" altLang="en-US" sz="600" b="0" dirty="0"/>
          </a:p>
          <a:p>
            <a:pPr lvl="1" indent="-102870" eaLnBrk="1" fontAlgn="auto" hangingPunct="1">
              <a:defRPr/>
            </a:pPr>
            <a:r>
              <a:rPr lang="en-US" altLang="en-US" sz="1500" b="0" dirty="0"/>
              <a:t> </a:t>
            </a:r>
            <a:r>
              <a:rPr lang="en-US" altLang="en-US" sz="1650" b="0" dirty="0"/>
              <a:t>Summer Cycle</a:t>
            </a:r>
            <a:endParaRPr lang="en-US" altLang="en-US" sz="1650" b="0" dirty="0">
              <a:cs typeface="Arial"/>
            </a:endParaRPr>
          </a:p>
          <a:p>
            <a:pPr marL="905828" lvl="2" indent="-241459" eaLnBrk="1" fontAlgn="auto" hangingPunct="1">
              <a:defRPr/>
            </a:pPr>
            <a:r>
              <a:rPr lang="en-US" altLang="en-US" b="0" dirty="0"/>
              <a:t>April 15 Intent to Submit Deadline (for ALL additions to May schedule – including early reviews and conversions)</a:t>
            </a:r>
          </a:p>
          <a:p>
            <a:pPr marL="905828" lvl="2" indent="-241459" eaLnBrk="1" fontAlgn="auto" hangingPunct="1">
              <a:defRPr/>
            </a:pPr>
            <a:r>
              <a:rPr lang="en-US" altLang="en-US" b="0" dirty="0"/>
              <a:t>May 15 submission date</a:t>
            </a:r>
            <a:endParaRPr lang="en-US" altLang="en-US" b="0" dirty="0">
              <a:cs typeface="Arial"/>
            </a:endParaRPr>
          </a:p>
          <a:p>
            <a:pPr marL="905828" lvl="2" indent="-241459" eaLnBrk="1" fontAlgn="auto" hangingPunct="1">
              <a:defRPr/>
            </a:pPr>
            <a:r>
              <a:rPr lang="en-US" altLang="en-US" b="0" dirty="0"/>
              <a:t>Panels meet ~July through ~November</a:t>
            </a:r>
            <a:endParaRPr lang="en-US" altLang="en-US" b="0" dirty="0">
              <a:cs typeface="Arial"/>
            </a:endParaRPr>
          </a:p>
          <a:p>
            <a:pPr marL="649605" lvl="3" indent="-102870" eaLnBrk="1" fontAlgn="auto" hangingPunct="1">
              <a:defRPr/>
            </a:pPr>
            <a:endParaRPr lang="en-US" altLang="en-US" sz="450" b="0" dirty="0"/>
          </a:p>
          <a:p>
            <a:pPr lvl="1" indent="-102870" eaLnBrk="1" fontAlgn="auto" hangingPunct="1">
              <a:defRPr/>
            </a:pPr>
            <a:r>
              <a:rPr lang="en-US" altLang="en-US" sz="1500" b="0" dirty="0"/>
              <a:t> </a:t>
            </a:r>
            <a:r>
              <a:rPr lang="en-US" altLang="en-US" sz="1650" b="0" dirty="0"/>
              <a:t>Winter Cycle</a:t>
            </a:r>
            <a:endParaRPr lang="en-US" altLang="en-US" sz="1650" b="0" dirty="0">
              <a:cs typeface="Arial"/>
            </a:endParaRPr>
          </a:p>
          <a:p>
            <a:pPr marL="905828" lvl="2" indent="-241459" eaLnBrk="1" fontAlgn="auto" hangingPunct="1">
              <a:defRPr/>
            </a:pPr>
            <a:r>
              <a:rPr lang="en-US" altLang="en-US" b="0" dirty="0"/>
              <a:t>October 15 Intent to Submit Deadline (for ALL additions to Nov schedule – including early reviews and conversions)</a:t>
            </a:r>
          </a:p>
          <a:p>
            <a:pPr marL="905828" lvl="2" indent="-241459" eaLnBrk="1" fontAlgn="auto" hangingPunct="1">
              <a:defRPr/>
            </a:pPr>
            <a:r>
              <a:rPr lang="en-US" altLang="en-US" b="0" dirty="0"/>
              <a:t>November 15 submission date</a:t>
            </a:r>
            <a:endParaRPr lang="en-US" altLang="en-US" b="0" dirty="0">
              <a:cs typeface="Arial"/>
            </a:endParaRPr>
          </a:p>
          <a:p>
            <a:pPr marL="905828" lvl="2" indent="-241459" eaLnBrk="1" fontAlgn="auto" hangingPunct="1">
              <a:defRPr/>
            </a:pPr>
            <a:r>
              <a:rPr lang="en-US" altLang="en-US" b="0" dirty="0"/>
              <a:t>Panels meet ~February through ~May</a:t>
            </a:r>
            <a:endParaRPr lang="en-US" altLang="en-US" b="0" dirty="0">
              <a:cs typeface="Arial"/>
            </a:endParaRPr>
          </a:p>
          <a:p>
            <a:pPr marL="0" indent="0">
              <a:buNone/>
            </a:pPr>
            <a:r>
              <a:rPr lang="en-US" sz="825" b="0" dirty="0">
                <a:cs typeface="Arial"/>
              </a:rPr>
              <a:t>  </a:t>
            </a:r>
            <a:endParaRPr lang="en-US" sz="1650" b="0" dirty="0">
              <a:cs typeface="Arial"/>
            </a:endParaRPr>
          </a:p>
          <a:p>
            <a:endParaRPr lang="en-US" dirty="0"/>
          </a:p>
        </p:txBody>
      </p:sp>
      <p:sp>
        <p:nvSpPr>
          <p:cNvPr id="4" name="Slide Number Placeholder 3">
            <a:extLst>
              <a:ext uri="{FF2B5EF4-FFF2-40B4-BE49-F238E27FC236}">
                <a16:creationId xmlns:a16="http://schemas.microsoft.com/office/drawing/2014/main" id="{108D5E0A-A9BA-453C-AE0B-957F3B882D22}"/>
              </a:ext>
            </a:extLst>
          </p:cNvPr>
          <p:cNvSpPr>
            <a:spLocks noGrp="1"/>
          </p:cNvSpPr>
          <p:nvPr>
            <p:ph type="sldNum" sz="quarter" idx="10"/>
          </p:nvPr>
        </p:nvSpPr>
        <p:spPr/>
        <p:txBody>
          <a:bodyPr/>
          <a:lstStyle/>
          <a:p>
            <a:pPr>
              <a:defRPr/>
            </a:pPr>
            <a:fld id="{7916C709-DE7C-48B2-9FF3-7E1AF6E49BCB}" type="slidenum">
              <a:rPr lang="en-US" altLang="en-US" smtClean="0"/>
              <a:pPr>
                <a:defRPr/>
              </a:pPr>
              <a:t>5</a:t>
            </a:fld>
            <a:endParaRPr lang="en-US" altLang="en-US"/>
          </a:p>
        </p:txBody>
      </p:sp>
    </p:spTree>
    <p:extLst>
      <p:ext uri="{BB962C8B-B14F-4D97-AF65-F5344CB8AC3E}">
        <p14:creationId xmlns:p14="http://schemas.microsoft.com/office/powerpoint/2010/main" val="39152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in an RGE-EDGE package?</a:t>
            </a:r>
          </a:p>
        </p:txBody>
      </p:sp>
      <p:sp>
        <p:nvSpPr>
          <p:cNvPr id="3" name="Content Placeholder 2"/>
          <p:cNvSpPr>
            <a:spLocks noGrp="1"/>
          </p:cNvSpPr>
          <p:nvPr>
            <p:ph idx="1"/>
          </p:nvPr>
        </p:nvSpPr>
        <p:spPr>
          <a:xfrm>
            <a:off x="457200" y="914400"/>
            <a:ext cx="7200900" cy="3543300"/>
          </a:xfrm>
        </p:spPr>
        <p:txBody>
          <a:bodyPr/>
          <a:lstStyle/>
          <a:p>
            <a:pPr marL="0" indent="0">
              <a:spcBef>
                <a:spcPts val="750"/>
              </a:spcBef>
              <a:buNone/>
            </a:pPr>
            <a:r>
              <a:rPr lang="en-US" sz="1800" b="0" dirty="0"/>
              <a:t>Research or Development Scientist Record</a:t>
            </a:r>
          </a:p>
          <a:p>
            <a:pPr marL="0" indent="0">
              <a:spcBef>
                <a:spcPts val="750"/>
              </a:spcBef>
              <a:buNone/>
            </a:pPr>
            <a:r>
              <a:rPr lang="en-US" sz="1800" b="0" dirty="0"/>
              <a:t>List of references, including supervisor and center director</a:t>
            </a:r>
          </a:p>
          <a:p>
            <a:pPr marL="0" indent="0">
              <a:spcBef>
                <a:spcPts val="750"/>
              </a:spcBef>
              <a:buNone/>
            </a:pPr>
            <a:r>
              <a:rPr lang="en-US" sz="1800" b="0" dirty="0"/>
              <a:t>Three significant contributions (as attachments) </a:t>
            </a:r>
          </a:p>
          <a:p>
            <a:pPr marL="0" indent="0">
              <a:spcBef>
                <a:spcPts val="750"/>
              </a:spcBef>
              <a:buNone/>
            </a:pPr>
            <a:r>
              <a:rPr lang="en-US" sz="1800" b="0" dirty="0"/>
              <a:t>Approval Sheet signed by CD, supervisor, and scientist</a:t>
            </a:r>
          </a:p>
          <a:p>
            <a:pPr marL="0" indent="0">
              <a:spcBef>
                <a:spcPts val="750"/>
              </a:spcBef>
              <a:buNone/>
            </a:pPr>
            <a:r>
              <a:rPr lang="en-US" sz="1800" b="0" dirty="0"/>
              <a:t>Supervisory letter of support (Optional)</a:t>
            </a:r>
          </a:p>
          <a:p>
            <a:pPr marL="0" indent="0">
              <a:spcBef>
                <a:spcPts val="750"/>
              </a:spcBef>
              <a:buNone/>
            </a:pPr>
            <a:r>
              <a:rPr lang="en-US" sz="1800" b="0" dirty="0"/>
              <a:t>External Impact Statements (Optional)</a:t>
            </a:r>
          </a:p>
          <a:p>
            <a:pPr marL="0" indent="0">
              <a:spcBef>
                <a:spcPts val="750"/>
              </a:spcBef>
              <a:buNone/>
            </a:pPr>
            <a:r>
              <a:rPr lang="en-US" sz="1800" b="0" dirty="0"/>
              <a:t>CD Reclassification Letter (Required for reclassifications)</a:t>
            </a:r>
            <a:endParaRPr lang="en-US" sz="900" b="0" dirty="0"/>
          </a:p>
          <a:p>
            <a:pPr marL="0" indent="0" algn="ctr">
              <a:buNone/>
            </a:pPr>
            <a:endParaRPr lang="en-US" sz="1500" i="1" dirty="0"/>
          </a:p>
          <a:p>
            <a:pPr marL="0" indent="0" algn="ctr">
              <a:buNone/>
            </a:pPr>
            <a:r>
              <a:rPr lang="en-US" sz="1500" i="1" dirty="0"/>
              <a:t>Templates and guidance on </a:t>
            </a:r>
            <a:r>
              <a:rPr lang="en-US" sz="1500" i="1" dirty="0">
                <a:hlinkClick r:id="rId3"/>
              </a:rPr>
              <a:t>www.usgs.gov/rge-edge </a:t>
            </a:r>
            <a:endParaRPr lang="en-US" sz="1500" i="1" dirty="0"/>
          </a:p>
          <a:p>
            <a:pPr marL="0" indent="0">
              <a:buNone/>
            </a:pPr>
            <a:endParaRPr lang="en-US" dirty="0"/>
          </a:p>
          <a:p>
            <a:endParaRPr lang="en-US" dirty="0"/>
          </a:p>
        </p:txBody>
      </p:sp>
      <p:sp>
        <p:nvSpPr>
          <p:cNvPr id="5" name="Slide Number Placeholder 4">
            <a:extLst>
              <a:ext uri="{FF2B5EF4-FFF2-40B4-BE49-F238E27FC236}">
                <a16:creationId xmlns:a16="http://schemas.microsoft.com/office/drawing/2014/main" id="{1A2D77C1-A0D8-45CA-832B-E4E74C9CF555}"/>
              </a:ext>
            </a:extLst>
          </p:cNvPr>
          <p:cNvSpPr>
            <a:spLocks noGrp="1"/>
          </p:cNvSpPr>
          <p:nvPr>
            <p:ph type="sldNum" sz="quarter" idx="10"/>
          </p:nvPr>
        </p:nvSpPr>
        <p:spPr/>
        <p:txBody>
          <a:bodyPr/>
          <a:lstStyle/>
          <a:p>
            <a:pPr>
              <a:defRPr/>
            </a:pPr>
            <a:fld id="{7916C709-DE7C-48B2-9FF3-7E1AF6E49BCB}" type="slidenum">
              <a:rPr lang="en-US" altLang="en-US" smtClean="0"/>
              <a:pPr>
                <a:defRPr/>
              </a:pPr>
              <a:t>6</a:t>
            </a:fld>
            <a:endParaRPr lang="en-US" altLang="en-US"/>
          </a:p>
        </p:txBody>
      </p:sp>
    </p:spTree>
    <p:extLst>
      <p:ext uri="{BB962C8B-B14F-4D97-AF65-F5344CB8AC3E}">
        <p14:creationId xmlns:p14="http://schemas.microsoft.com/office/powerpoint/2010/main" val="1550519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8360"/>
            <a:ext cx="6286500" cy="425053"/>
          </a:xfrm>
        </p:spPr>
        <p:txBody>
          <a:bodyPr/>
          <a:lstStyle/>
          <a:p>
            <a:r>
              <a:rPr lang="en-US" dirty="0"/>
              <a:t>Planning for your RGE-EDGE review</a:t>
            </a:r>
          </a:p>
        </p:txBody>
      </p:sp>
      <p:sp>
        <p:nvSpPr>
          <p:cNvPr id="3" name="Content Placeholder 2"/>
          <p:cNvSpPr>
            <a:spLocks noGrp="1"/>
          </p:cNvSpPr>
          <p:nvPr>
            <p:ph idx="1"/>
          </p:nvPr>
        </p:nvSpPr>
        <p:spPr>
          <a:xfrm>
            <a:off x="457200" y="914400"/>
            <a:ext cx="7315200" cy="3543300"/>
          </a:xfrm>
        </p:spPr>
        <p:txBody>
          <a:bodyPr/>
          <a:lstStyle/>
          <a:p>
            <a:r>
              <a:rPr lang="en-US" sz="2000" b="0" dirty="0"/>
              <a:t>Review </a:t>
            </a:r>
            <a:r>
              <a:rPr lang="en-US" sz="2000" i="1" dirty="0"/>
              <a:t>Planning for your Submission</a:t>
            </a:r>
            <a:r>
              <a:rPr lang="en-US" sz="2000" dirty="0"/>
              <a:t> </a:t>
            </a:r>
            <a:r>
              <a:rPr lang="en-US" sz="2000" b="0" dirty="0"/>
              <a:t>document</a:t>
            </a:r>
          </a:p>
          <a:p>
            <a:pPr marL="0" indent="0">
              <a:buNone/>
            </a:pPr>
            <a:endParaRPr lang="en-US" sz="1000" b="0" dirty="0"/>
          </a:p>
          <a:p>
            <a:r>
              <a:rPr lang="en-US" sz="2000" b="0" dirty="0"/>
              <a:t>Read carefully the criteria used for scoring</a:t>
            </a:r>
          </a:p>
          <a:p>
            <a:pPr lvl="1"/>
            <a:r>
              <a:rPr lang="en-US" sz="1600" i="1" dirty="0"/>
              <a:t>OPM RGE Guide </a:t>
            </a:r>
            <a:r>
              <a:rPr lang="en-US" sz="1600" b="0" dirty="0"/>
              <a:t>(all)</a:t>
            </a:r>
          </a:p>
          <a:p>
            <a:pPr lvl="1"/>
            <a:r>
              <a:rPr lang="en-US" sz="1600" i="1" dirty="0"/>
              <a:t>OPM EDGE</a:t>
            </a:r>
            <a:r>
              <a:rPr lang="en-US" sz="1600" dirty="0"/>
              <a:t> </a:t>
            </a:r>
            <a:r>
              <a:rPr lang="en-US" sz="1600" i="1" dirty="0"/>
              <a:t>Guide </a:t>
            </a:r>
            <a:r>
              <a:rPr lang="en-US" sz="1600" b="0" dirty="0"/>
              <a:t>(pages 42–60) and </a:t>
            </a:r>
            <a:r>
              <a:rPr lang="en-US" sz="1600" i="1" dirty="0"/>
              <a:t>EDGE checklist</a:t>
            </a:r>
            <a:r>
              <a:rPr lang="en-US" sz="1600" b="0" dirty="0"/>
              <a:t> </a:t>
            </a:r>
            <a:endParaRPr lang="en-US" sz="1600" b="0" i="1" dirty="0"/>
          </a:p>
          <a:p>
            <a:pPr lvl="1"/>
            <a:r>
              <a:rPr lang="en-US" sz="1600" b="0" dirty="0"/>
              <a:t>If you’re a GS-15, the </a:t>
            </a:r>
            <a:r>
              <a:rPr lang="en-US" sz="1600" dirty="0"/>
              <a:t>Degree G Criteria</a:t>
            </a:r>
          </a:p>
          <a:p>
            <a:endParaRPr lang="en-US" sz="1000" b="0" dirty="0"/>
          </a:p>
          <a:p>
            <a:r>
              <a:rPr lang="en-US" sz="2000" b="0" dirty="0"/>
              <a:t>Give yourself time</a:t>
            </a:r>
          </a:p>
          <a:p>
            <a:pPr lvl="1"/>
            <a:r>
              <a:rPr lang="en-US" sz="1600" b="0" dirty="0"/>
              <a:t>Write clearly and concisely; use plain language</a:t>
            </a:r>
          </a:p>
          <a:p>
            <a:pPr lvl="1"/>
            <a:r>
              <a:rPr lang="en-US" sz="1600" b="0" dirty="0"/>
              <a:t>Have colleagues, supervisor, Center Director review</a:t>
            </a:r>
          </a:p>
          <a:p>
            <a:endParaRPr lang="en-US" sz="1800" b="0" dirty="0"/>
          </a:p>
          <a:p>
            <a:pPr lvl="1"/>
            <a:endParaRPr lang="en-US" b="0" dirty="0"/>
          </a:p>
          <a:p>
            <a:pPr lvl="1"/>
            <a:endParaRPr lang="en-US" dirty="0"/>
          </a:p>
          <a:p>
            <a:endParaRPr lang="en-US"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7</a:t>
            </a:fld>
            <a:endParaRPr lang="en-US" altLang="en-US"/>
          </a:p>
        </p:txBody>
      </p:sp>
    </p:spTree>
    <p:extLst>
      <p:ext uri="{BB962C8B-B14F-4D97-AF65-F5344CB8AC3E}">
        <p14:creationId xmlns:p14="http://schemas.microsoft.com/office/powerpoint/2010/main" val="206845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8360"/>
            <a:ext cx="6286500" cy="425053"/>
          </a:xfrm>
        </p:spPr>
        <p:txBody>
          <a:bodyPr/>
          <a:lstStyle/>
          <a:p>
            <a:r>
              <a:rPr lang="en-US" dirty="0"/>
              <a:t>Scientist Record – Outline</a:t>
            </a:r>
          </a:p>
        </p:txBody>
      </p:sp>
      <p:sp>
        <p:nvSpPr>
          <p:cNvPr id="3" name="Content Placeholder 2"/>
          <p:cNvSpPr>
            <a:spLocks noGrp="1"/>
          </p:cNvSpPr>
          <p:nvPr>
            <p:ph idx="1"/>
          </p:nvPr>
        </p:nvSpPr>
        <p:spPr>
          <a:xfrm>
            <a:off x="457200" y="914400"/>
            <a:ext cx="7315200" cy="3543300"/>
          </a:xfrm>
        </p:spPr>
        <p:txBody>
          <a:bodyPr/>
          <a:lstStyle/>
          <a:p>
            <a:pPr>
              <a:spcAft>
                <a:spcPts val="900"/>
              </a:spcAft>
            </a:pPr>
            <a:r>
              <a:rPr lang="en-US" sz="2000" b="0" dirty="0"/>
              <a:t>Scientist Background</a:t>
            </a:r>
          </a:p>
          <a:p>
            <a:pPr>
              <a:spcAft>
                <a:spcPts val="900"/>
              </a:spcAft>
            </a:pPr>
            <a:r>
              <a:rPr lang="en-US" sz="2000" b="0" dirty="0"/>
              <a:t>Written Narratives (length limits)</a:t>
            </a:r>
          </a:p>
          <a:p>
            <a:pPr lvl="1"/>
            <a:r>
              <a:rPr lang="en-US" sz="1600" b="0" dirty="0"/>
              <a:t>Research Environment</a:t>
            </a:r>
          </a:p>
          <a:p>
            <a:pPr lvl="1"/>
            <a:r>
              <a:rPr lang="en-US" sz="1600" b="0" dirty="0"/>
              <a:t>Four Factor Narratives</a:t>
            </a:r>
          </a:p>
          <a:p>
            <a:pPr lvl="1">
              <a:spcAft>
                <a:spcPts val="900"/>
              </a:spcAft>
            </a:pPr>
            <a:r>
              <a:rPr lang="en-US" sz="1600" b="0" dirty="0"/>
              <a:t>Three Significant Contributions</a:t>
            </a:r>
          </a:p>
          <a:p>
            <a:r>
              <a:rPr lang="en-US" sz="2000" b="0" dirty="0"/>
              <a:t>Supporting Information </a:t>
            </a:r>
          </a:p>
          <a:p>
            <a:pPr lvl="1"/>
            <a:r>
              <a:rPr lang="en-US" sz="1600" b="0" dirty="0"/>
              <a:t>Bibliography, Presentations, Service, Awards, etc.</a:t>
            </a:r>
          </a:p>
          <a:p>
            <a:pPr marL="0" indent="0">
              <a:buNone/>
            </a:pPr>
            <a:endParaRPr lang="en-US" sz="750" b="0" dirty="0"/>
          </a:p>
          <a:p>
            <a:r>
              <a:rPr lang="en-US" sz="2000" b="0" dirty="0"/>
              <a:t>Reference List</a:t>
            </a:r>
          </a:p>
          <a:p>
            <a:pPr marL="0" indent="0" algn="ctr">
              <a:buNone/>
            </a:pPr>
            <a:r>
              <a:rPr lang="en-US" sz="2000" i="1" dirty="0"/>
              <a:t>Please don’t change the headings</a:t>
            </a:r>
            <a:endParaRPr lang="en-US" sz="2000"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a:solidFill>
                  <a:prstClr val="black"/>
                </a:solidFill>
              </a:rPr>
              <a:pPr>
                <a:defRPr/>
              </a:pPr>
              <a:t>8</a:t>
            </a:fld>
            <a:endParaRPr lang="en-US" altLang="en-US">
              <a:solidFill>
                <a:prstClr val="black"/>
              </a:solidFill>
            </a:endParaRPr>
          </a:p>
        </p:txBody>
      </p:sp>
    </p:spTree>
    <p:extLst>
      <p:ext uri="{BB962C8B-B14F-4D97-AF65-F5344CB8AC3E}">
        <p14:creationId xmlns:p14="http://schemas.microsoft.com/office/powerpoint/2010/main" val="3568266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8360"/>
            <a:ext cx="6286500" cy="425053"/>
          </a:xfrm>
        </p:spPr>
        <p:txBody>
          <a:bodyPr/>
          <a:lstStyle/>
          <a:p>
            <a:r>
              <a:rPr lang="en-US" dirty="0"/>
              <a:t>Scientist Background</a:t>
            </a:r>
          </a:p>
        </p:txBody>
      </p:sp>
      <p:sp>
        <p:nvSpPr>
          <p:cNvPr id="3" name="Content Placeholder 2"/>
          <p:cNvSpPr>
            <a:spLocks noGrp="1"/>
          </p:cNvSpPr>
          <p:nvPr>
            <p:ph idx="1"/>
          </p:nvPr>
        </p:nvSpPr>
        <p:spPr>
          <a:xfrm>
            <a:off x="457200" y="914400"/>
            <a:ext cx="7315200" cy="3543300"/>
          </a:xfrm>
        </p:spPr>
        <p:txBody>
          <a:bodyPr/>
          <a:lstStyle/>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Name (pronouns, optional)</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Classification Title, Series, and Grade</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Center Name</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Duty Station</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Date of Entrance to Federal Service</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Date of Last Promotion </a:t>
            </a:r>
            <a:endParaRPr lang="en-US" sz="1600" dirty="0">
              <a:ea typeface="Calibri" panose="020F0502020204030204" pitchFamily="34" charset="0"/>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Review Cycle Submitted</a:t>
            </a:r>
            <a:endParaRPr lang="en-US" sz="1600" dirty="0">
              <a:solidFill>
                <a:srgbClr val="000000"/>
              </a:solidFill>
              <a:ea typeface="Times New Roman" panose="02020603050405020304" pitchFamily="18" charset="0"/>
              <a:cs typeface="Arial"/>
            </a:endParaRPr>
          </a:p>
          <a:p>
            <a:pPr marL="0" indent="0">
              <a:lnSpc>
                <a:spcPct val="107000"/>
              </a:lnSpc>
              <a:spcBef>
                <a:spcPts val="0"/>
              </a:spcBef>
              <a:spcAft>
                <a:spcPts val="0"/>
              </a:spcAft>
              <a:buNone/>
            </a:pPr>
            <a:r>
              <a:rPr lang="en-US" sz="1600" dirty="0">
                <a:solidFill>
                  <a:srgbClr val="000000"/>
                </a:solidFill>
                <a:ea typeface="Times New Roman" panose="02020603050405020304" pitchFamily="18" charset="0"/>
              </a:rPr>
              <a:t>Up to 5 descriptive phrases that characterize your research and specialties</a:t>
            </a:r>
            <a:endParaRPr lang="en-US" sz="1600" dirty="0">
              <a:solidFill>
                <a:srgbClr val="000000"/>
              </a:solidFill>
              <a:ea typeface="Times New Roman" panose="02020603050405020304" pitchFamily="18" charset="0"/>
              <a:cs typeface="Arial"/>
            </a:endParaRPr>
          </a:p>
          <a:p>
            <a:pPr marL="0" indent="0">
              <a:lnSpc>
                <a:spcPct val="107000"/>
              </a:lnSpc>
              <a:spcBef>
                <a:spcPts val="0"/>
              </a:spcBef>
              <a:spcAft>
                <a:spcPts val="0"/>
              </a:spcAft>
              <a:buNone/>
            </a:pPr>
            <a:endParaRPr lang="en-US" sz="1600" i="1" dirty="0">
              <a:solidFill>
                <a:srgbClr val="000000"/>
              </a:solidFill>
              <a:ea typeface="Times New Roman" panose="02020603050405020304" pitchFamily="18" charset="0"/>
            </a:endParaRPr>
          </a:p>
          <a:p>
            <a:pPr marL="0" indent="0">
              <a:lnSpc>
                <a:spcPct val="107000"/>
              </a:lnSpc>
              <a:spcBef>
                <a:spcPts val="0"/>
              </a:spcBef>
              <a:spcAft>
                <a:spcPts val="0"/>
              </a:spcAft>
              <a:buNone/>
            </a:pPr>
            <a:r>
              <a:rPr lang="en-US" sz="1600" i="1" dirty="0">
                <a:solidFill>
                  <a:srgbClr val="4F81BD"/>
                </a:solidFill>
                <a:ea typeface="Times New Roman" panose="02020603050405020304" pitchFamily="18" charset="0"/>
              </a:rPr>
              <a:t>(e.g., aquatic trophic interactions, heavy metal isotopes, earthquake wave propagation…Avoid general terms such as hydrology, ecology, and geology.)</a:t>
            </a:r>
            <a:endParaRPr lang="en-US" sz="1600" dirty="0">
              <a:ea typeface="Calibri" panose="020F0502020204030204" pitchFamily="34" charset="0"/>
            </a:endParaRPr>
          </a:p>
          <a:p>
            <a:pPr marL="0" indent="0">
              <a:buNone/>
            </a:pPr>
            <a:endParaRPr lang="en-US"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9</a:t>
            </a:fld>
            <a:endParaRPr lang="en-US" altLang="en-US"/>
          </a:p>
        </p:txBody>
      </p:sp>
    </p:spTree>
    <p:extLst>
      <p:ext uri="{BB962C8B-B14F-4D97-AF65-F5344CB8AC3E}">
        <p14:creationId xmlns:p14="http://schemas.microsoft.com/office/powerpoint/2010/main" val="2769053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or Development Environment</a:t>
            </a:r>
          </a:p>
        </p:txBody>
      </p:sp>
      <p:sp>
        <p:nvSpPr>
          <p:cNvPr id="3" name="Content Placeholder 2"/>
          <p:cNvSpPr>
            <a:spLocks noGrp="1"/>
          </p:cNvSpPr>
          <p:nvPr>
            <p:ph sz="half" idx="1"/>
          </p:nvPr>
        </p:nvSpPr>
        <p:spPr>
          <a:xfrm>
            <a:off x="457200" y="914400"/>
            <a:ext cx="4023360" cy="3543300"/>
          </a:xfrm>
        </p:spPr>
        <p:txBody>
          <a:bodyPr/>
          <a:lstStyle/>
          <a:p>
            <a:pPr marL="0" indent="0">
              <a:lnSpc>
                <a:spcPct val="107000"/>
              </a:lnSpc>
              <a:spcBef>
                <a:spcPts val="0"/>
              </a:spcBef>
              <a:spcAft>
                <a:spcPts val="0"/>
              </a:spcAft>
              <a:buNone/>
            </a:pPr>
            <a:r>
              <a:rPr lang="en-US" sz="1800" dirty="0">
                <a:ea typeface="Calibri" panose="020F0502020204030204" pitchFamily="34" charset="0"/>
              </a:rPr>
              <a:t>An abstract to your position</a:t>
            </a:r>
          </a:p>
          <a:p>
            <a:pPr marL="0" indent="0">
              <a:lnSpc>
                <a:spcPct val="107000"/>
              </a:lnSpc>
              <a:spcBef>
                <a:spcPts val="0"/>
              </a:spcBef>
              <a:spcAft>
                <a:spcPts val="0"/>
              </a:spcAft>
              <a:buNone/>
            </a:pPr>
            <a:endParaRPr lang="en-US" sz="1800" dirty="0">
              <a:ea typeface="Calibri" panose="020F0502020204030204" pitchFamily="34" charset="0"/>
            </a:endParaRPr>
          </a:p>
          <a:p>
            <a:pPr marL="0" indent="0">
              <a:lnSpc>
                <a:spcPct val="107000"/>
              </a:lnSpc>
              <a:spcBef>
                <a:spcPts val="0"/>
              </a:spcBef>
              <a:spcAft>
                <a:spcPts val="0"/>
              </a:spcAft>
              <a:buNone/>
            </a:pPr>
            <a:r>
              <a:rPr lang="en-US" sz="1800" b="0" dirty="0">
                <a:ea typeface="Calibri" panose="020F0502020204030204" pitchFamily="34" charset="0"/>
              </a:rPr>
              <a:t>Very high-level summary</a:t>
            </a:r>
          </a:p>
          <a:p>
            <a:pPr marL="0" indent="0">
              <a:lnSpc>
                <a:spcPct val="107000"/>
              </a:lnSpc>
              <a:spcBef>
                <a:spcPts val="0"/>
              </a:spcBef>
              <a:spcAft>
                <a:spcPts val="0"/>
              </a:spcAft>
              <a:buNone/>
            </a:pPr>
            <a:endParaRPr lang="en-US" sz="1800" b="0" dirty="0">
              <a:ea typeface="Calibri" panose="020F0502020204030204" pitchFamily="34" charset="0"/>
            </a:endParaRPr>
          </a:p>
          <a:p>
            <a:pPr>
              <a:lnSpc>
                <a:spcPct val="107000"/>
              </a:lnSpc>
              <a:spcBef>
                <a:spcPts val="0"/>
              </a:spcBef>
              <a:spcAft>
                <a:spcPts val="0"/>
              </a:spcAft>
            </a:pPr>
            <a:r>
              <a:rPr lang="en-US" sz="1800" b="0" dirty="0">
                <a:ea typeface="Calibri" panose="020F0502020204030204" pitchFamily="34" charset="0"/>
              </a:rPr>
              <a:t>Scope of research/development</a:t>
            </a:r>
          </a:p>
          <a:p>
            <a:pPr marL="0" indent="0">
              <a:lnSpc>
                <a:spcPct val="107000"/>
              </a:lnSpc>
              <a:spcBef>
                <a:spcPts val="0"/>
              </a:spcBef>
              <a:spcAft>
                <a:spcPts val="0"/>
              </a:spcAft>
              <a:buNone/>
            </a:pPr>
            <a:endParaRPr lang="en-US" sz="1800" b="0" dirty="0">
              <a:ea typeface="Calibri" panose="020F0502020204030204" pitchFamily="34" charset="0"/>
            </a:endParaRPr>
          </a:p>
          <a:p>
            <a:pPr>
              <a:lnSpc>
                <a:spcPct val="107000"/>
              </a:lnSpc>
              <a:spcBef>
                <a:spcPts val="0"/>
              </a:spcBef>
              <a:spcAft>
                <a:spcPts val="0"/>
              </a:spcAft>
            </a:pPr>
            <a:r>
              <a:rPr lang="en-US" sz="1800" b="0" dirty="0">
                <a:ea typeface="Calibri" panose="020F0502020204030204" pitchFamily="34" charset="0"/>
              </a:rPr>
              <a:t>Primary collaborators</a:t>
            </a:r>
          </a:p>
          <a:p>
            <a:pPr>
              <a:lnSpc>
                <a:spcPct val="107000"/>
              </a:lnSpc>
              <a:spcBef>
                <a:spcPts val="0"/>
              </a:spcBef>
              <a:spcAft>
                <a:spcPts val="0"/>
              </a:spcAft>
            </a:pPr>
            <a:endParaRPr lang="en-US" sz="1800" b="0" dirty="0">
              <a:ea typeface="Calibri" panose="020F0502020204030204" pitchFamily="34" charset="0"/>
            </a:endParaRPr>
          </a:p>
          <a:p>
            <a:pPr>
              <a:lnSpc>
                <a:spcPct val="107000"/>
              </a:lnSpc>
              <a:spcBef>
                <a:spcPts val="0"/>
              </a:spcBef>
              <a:spcAft>
                <a:spcPts val="0"/>
              </a:spcAft>
            </a:pPr>
            <a:r>
              <a:rPr lang="en-US" sz="1800" b="0" dirty="0">
                <a:ea typeface="Calibri" panose="020F0502020204030204" pitchFamily="34" charset="0"/>
              </a:rPr>
              <a:t>Major sources of funding</a:t>
            </a:r>
          </a:p>
          <a:p>
            <a:pPr marL="0" indent="0">
              <a:buNone/>
            </a:pPr>
            <a:endParaRPr lang="en-US" dirty="0"/>
          </a:p>
        </p:txBody>
      </p:sp>
      <p:sp>
        <p:nvSpPr>
          <p:cNvPr id="4" name="Content Placeholder 3">
            <a:extLst>
              <a:ext uri="{FF2B5EF4-FFF2-40B4-BE49-F238E27FC236}">
                <a16:creationId xmlns:a16="http://schemas.microsoft.com/office/drawing/2014/main" id="{71B29C58-46AA-416B-A36A-0A486D75BF03}"/>
              </a:ext>
            </a:extLst>
          </p:cNvPr>
          <p:cNvSpPr>
            <a:spLocks noGrp="1"/>
          </p:cNvSpPr>
          <p:nvPr>
            <p:ph sz="half" idx="2"/>
          </p:nvPr>
        </p:nvSpPr>
        <p:spPr>
          <a:xfrm>
            <a:off x="4648200" y="914400"/>
            <a:ext cx="4023360" cy="3543300"/>
          </a:xfrm>
          <a:solidFill>
            <a:schemeClr val="accent1">
              <a:lumMod val="20000"/>
              <a:lumOff val="80000"/>
            </a:schemeClr>
          </a:solidFill>
        </p:spPr>
        <p:txBody>
          <a:bodyPr/>
          <a:lstStyle/>
          <a:p>
            <a:pPr marL="0" indent="0" eaLnBrk="1" fontAlgn="auto" hangingPunct="1">
              <a:spcBef>
                <a:spcPts val="0"/>
              </a:spcBef>
              <a:spcAft>
                <a:spcPts val="0"/>
              </a:spcAft>
              <a:buClrTx/>
              <a:buSzPct val="125000"/>
              <a:buNone/>
            </a:pPr>
            <a:r>
              <a:rPr lang="en-US" sz="1800" kern="1200" dirty="0">
                <a:solidFill>
                  <a:prstClr val="black"/>
                </a:solidFill>
                <a:latin typeface="Calibri"/>
                <a:cs typeface="Arial"/>
              </a:rPr>
              <a:t>Do not include:</a:t>
            </a:r>
          </a:p>
          <a:p>
            <a:pPr marL="214313" indent="-214313" eaLnBrk="1" fontAlgn="auto" hangingPunct="1">
              <a:spcBef>
                <a:spcPts val="0"/>
              </a:spcBef>
              <a:spcAft>
                <a:spcPts val="0"/>
              </a:spcAft>
              <a:buClrTx/>
              <a:buSzPct val="125000"/>
              <a:buFont typeface="Calibri" panose="020F0502020204030204" pitchFamily="34" charset="0"/>
              <a:buChar char="•"/>
            </a:pPr>
            <a:endParaRPr lang="en-US" sz="1800" b="0" kern="12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800" b="0" kern="1200" dirty="0">
                <a:solidFill>
                  <a:prstClr val="black"/>
                </a:solidFill>
                <a:latin typeface="Calibri"/>
                <a:cs typeface="Arial"/>
              </a:rPr>
              <a:t>A lot of detail</a:t>
            </a:r>
          </a:p>
          <a:p>
            <a:pPr marL="214313" indent="-214313" eaLnBrk="1" fontAlgn="auto" hangingPunct="1">
              <a:spcBef>
                <a:spcPts val="0"/>
              </a:spcBef>
              <a:spcAft>
                <a:spcPts val="0"/>
              </a:spcAft>
              <a:buClrTx/>
              <a:buSzPct val="125000"/>
              <a:buFont typeface="Calibri" panose="020F0502020204030204" pitchFamily="34" charset="0"/>
              <a:buChar char="•"/>
            </a:pPr>
            <a:endParaRPr lang="en-US" sz="1800" b="0" kern="12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800" b="0" kern="1200" dirty="0">
                <a:solidFill>
                  <a:prstClr val="black"/>
                </a:solidFill>
                <a:latin typeface="Calibri"/>
                <a:cs typeface="Arial"/>
              </a:rPr>
              <a:t>Lengthy lists of:</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a:rPr>
              <a:t>Projects</a:t>
            </a:r>
          </a:p>
          <a:p>
            <a:pPr marL="459581" lvl="1" indent="-214313">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a:rPr>
              <a:t>Accomplishments or impacts</a:t>
            </a:r>
            <a:endParaRPr lang="en-US" sz="1600" dirty="0">
              <a:solidFill>
                <a:prstClr val="black"/>
              </a:solidFill>
              <a:cs typeface="Arial"/>
            </a:endParaRP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a:rPr>
              <a:t>Awards or recognition</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a:rPr>
              <a:t>Amounts of funding</a:t>
            </a:r>
            <a:endParaRPr lang="en-US" sz="2800" dirty="0">
              <a:solidFill>
                <a:prstClr val="black"/>
              </a:solidFill>
              <a:latin typeface="Arial"/>
              <a:cs typeface="Arial"/>
            </a:endParaRPr>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10</a:t>
            </a:fld>
            <a:endParaRPr lang="en-US" altLang="en-US"/>
          </a:p>
        </p:txBody>
      </p:sp>
    </p:spTree>
    <p:extLst>
      <p:ext uri="{BB962C8B-B14F-4D97-AF65-F5344CB8AC3E}">
        <p14:creationId xmlns:p14="http://schemas.microsoft.com/office/powerpoint/2010/main" val="3924928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 Narratives - Overview</a:t>
            </a:r>
          </a:p>
        </p:txBody>
      </p:sp>
      <p:sp>
        <p:nvSpPr>
          <p:cNvPr id="3" name="Content Placeholder 2"/>
          <p:cNvSpPr>
            <a:spLocks noGrp="1"/>
          </p:cNvSpPr>
          <p:nvPr>
            <p:ph sz="half" idx="1"/>
          </p:nvPr>
        </p:nvSpPr>
        <p:spPr>
          <a:xfrm>
            <a:off x="457200" y="914400"/>
            <a:ext cx="4023360" cy="3543300"/>
          </a:xfrm>
        </p:spPr>
        <p:txBody>
          <a:bodyPr/>
          <a:lstStyle/>
          <a:p>
            <a:pPr>
              <a:lnSpc>
                <a:spcPct val="107000"/>
              </a:lnSpc>
              <a:spcBef>
                <a:spcPts val="0"/>
              </a:spcBef>
              <a:spcAft>
                <a:spcPts val="900"/>
              </a:spcAft>
            </a:pPr>
            <a:r>
              <a:rPr lang="en-US" sz="1600" b="0" dirty="0">
                <a:ea typeface="Calibri" panose="020F0502020204030204" pitchFamily="34" charset="0"/>
              </a:rPr>
              <a:t>Allows you to directly </a:t>
            </a:r>
            <a:r>
              <a:rPr lang="en-US" sz="1600" b="0" dirty="0"/>
              <a:t>address</a:t>
            </a:r>
            <a:r>
              <a:rPr lang="en-US" sz="1600" b="0" dirty="0">
                <a:ea typeface="Calibri" panose="020F0502020204030204" pitchFamily="34" charset="0"/>
              </a:rPr>
              <a:t> each of the four factors.</a:t>
            </a:r>
          </a:p>
          <a:p>
            <a:pPr>
              <a:lnSpc>
                <a:spcPct val="107000"/>
              </a:lnSpc>
              <a:spcBef>
                <a:spcPts val="0"/>
              </a:spcBef>
              <a:spcAft>
                <a:spcPts val="900"/>
              </a:spcAft>
            </a:pPr>
            <a:r>
              <a:rPr lang="en-US" sz="1600" b="0" dirty="0"/>
              <a:t>Focus factors 1, 2, and 3 on current and recent work (</a:t>
            </a:r>
            <a:r>
              <a:rPr lang="en-US" sz="1600" dirty="0"/>
              <a:t>see guidance document</a:t>
            </a:r>
            <a:r>
              <a:rPr lang="en-US" sz="1600" b="0" dirty="0"/>
              <a:t>).</a:t>
            </a:r>
            <a:endParaRPr lang="en-US" sz="1600" b="0" dirty="0">
              <a:cs typeface="Arial"/>
            </a:endParaRPr>
          </a:p>
          <a:p>
            <a:pPr>
              <a:lnSpc>
                <a:spcPct val="107000"/>
              </a:lnSpc>
              <a:spcBef>
                <a:spcPts val="0"/>
              </a:spcBef>
              <a:spcAft>
                <a:spcPts val="900"/>
              </a:spcAft>
            </a:pPr>
            <a:r>
              <a:rPr lang="en-US" sz="1600" b="0" dirty="0"/>
              <a:t>Factor 4 can cover full career, but focus on recent.</a:t>
            </a:r>
            <a:endParaRPr lang="en-US" sz="1600" b="0" dirty="0">
              <a:cs typeface="Arial"/>
            </a:endParaRPr>
          </a:p>
          <a:p>
            <a:pPr>
              <a:lnSpc>
                <a:spcPct val="107000"/>
              </a:lnSpc>
              <a:spcBef>
                <a:spcPts val="0"/>
              </a:spcBef>
              <a:spcAft>
                <a:spcPts val="900"/>
              </a:spcAft>
            </a:pPr>
            <a:r>
              <a:rPr lang="en-US" sz="1600" b="0" dirty="0"/>
              <a:t>Focus on clear descriptions of your work and your role.</a:t>
            </a:r>
            <a:endParaRPr lang="en-US" sz="1600" b="0" dirty="0">
              <a:cs typeface="Arial"/>
            </a:endParaRPr>
          </a:p>
          <a:p>
            <a:pPr>
              <a:lnSpc>
                <a:spcPct val="107000"/>
              </a:lnSpc>
              <a:spcBef>
                <a:spcPts val="0"/>
              </a:spcBef>
              <a:spcAft>
                <a:spcPts val="900"/>
              </a:spcAft>
            </a:pPr>
            <a:r>
              <a:rPr lang="en-US" sz="1600" b="0" dirty="0"/>
              <a:t>Claims made in the narrative must be substantiated in the record. </a:t>
            </a:r>
            <a:endParaRPr lang="en-US" sz="2400" dirty="0"/>
          </a:p>
        </p:txBody>
      </p:sp>
      <p:sp>
        <p:nvSpPr>
          <p:cNvPr id="4" name="Content Placeholder 3">
            <a:extLst>
              <a:ext uri="{FF2B5EF4-FFF2-40B4-BE49-F238E27FC236}">
                <a16:creationId xmlns:a16="http://schemas.microsoft.com/office/drawing/2014/main" id="{71B29C58-46AA-416B-A36A-0A486D75BF03}"/>
              </a:ext>
            </a:extLst>
          </p:cNvPr>
          <p:cNvSpPr>
            <a:spLocks noGrp="1"/>
          </p:cNvSpPr>
          <p:nvPr>
            <p:ph sz="half" idx="2"/>
          </p:nvPr>
        </p:nvSpPr>
        <p:spPr>
          <a:xfrm>
            <a:off x="4645152" y="914400"/>
            <a:ext cx="4023360" cy="3543300"/>
          </a:xfrm>
          <a:solidFill>
            <a:schemeClr val="accent1">
              <a:lumMod val="20000"/>
              <a:lumOff val="80000"/>
            </a:schemeClr>
          </a:solidFill>
        </p:spPr>
        <p:txBody>
          <a:bodyPr/>
          <a:lstStyle/>
          <a:p>
            <a:pPr marL="0" indent="0" eaLnBrk="1" fontAlgn="auto" hangingPunct="1">
              <a:spcBef>
                <a:spcPts val="0"/>
              </a:spcBef>
              <a:spcAft>
                <a:spcPts val="0"/>
              </a:spcAft>
              <a:buClrTx/>
              <a:buSzPct val="125000"/>
              <a:buNone/>
            </a:pPr>
            <a:r>
              <a:rPr lang="en-US" sz="1800" kern="1200" dirty="0">
                <a:solidFill>
                  <a:prstClr val="black"/>
                </a:solidFill>
                <a:latin typeface="Calibri"/>
                <a:cs typeface="Arial" panose="020B0604020202020204" pitchFamily="34" charset="0"/>
              </a:rPr>
              <a:t>Tips:</a:t>
            </a:r>
          </a:p>
          <a:p>
            <a:pPr marL="0" indent="0" eaLnBrk="1" fontAlgn="auto" hangingPunct="1">
              <a:spcBef>
                <a:spcPts val="0"/>
              </a:spcBef>
              <a:spcAft>
                <a:spcPts val="0"/>
              </a:spcAft>
              <a:buClrTx/>
              <a:buSzPct val="125000"/>
              <a:buNone/>
            </a:pPr>
            <a:endParaRPr lang="en-US" sz="1600" kern="12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defRPr/>
            </a:pPr>
            <a:r>
              <a:rPr lang="en-US" sz="1600" b="0" kern="1200" dirty="0">
                <a:solidFill>
                  <a:prstClr val="black"/>
                </a:solidFill>
                <a:latin typeface="Calibri"/>
                <a:cs typeface="Arial" panose="020B0604020202020204" pitchFamily="34" charset="0"/>
              </a:rPr>
              <a:t>Become familiar with OPM Guide criteria </a:t>
            </a:r>
            <a:r>
              <a:rPr lang="en-US" sz="1600" kern="1200" dirty="0">
                <a:solidFill>
                  <a:prstClr val="black"/>
                </a:solidFill>
                <a:latin typeface="Calibri"/>
                <a:cs typeface="Arial" panose="020B0604020202020204" pitchFamily="34" charset="0"/>
              </a:rPr>
              <a:t>but avoid focusing on aspirational phrases from the Guide</a:t>
            </a:r>
            <a:r>
              <a:rPr lang="en-US" sz="1600" b="0" kern="1200" dirty="0">
                <a:solidFill>
                  <a:prstClr val="black"/>
                </a:solidFill>
                <a:latin typeface="Calibri"/>
                <a:cs typeface="Arial" panose="020B0604020202020204" pitchFamily="34" charset="0"/>
              </a:rPr>
              <a:t>.</a:t>
            </a:r>
          </a:p>
          <a:p>
            <a:pPr marL="0" indent="0" eaLnBrk="1" fontAlgn="auto" hangingPunct="1">
              <a:lnSpc>
                <a:spcPct val="107000"/>
              </a:lnSpc>
              <a:spcBef>
                <a:spcPts val="0"/>
              </a:spcBef>
              <a:spcAft>
                <a:spcPts val="0"/>
              </a:spcAft>
              <a:buClrTx/>
              <a:buSzPct val="125000"/>
              <a:buNone/>
              <a:defRPr/>
            </a:pPr>
            <a:endParaRPr lang="en-US" sz="1600" b="0" kern="1200" dirty="0">
              <a:solidFill>
                <a:prstClr val="black"/>
              </a:solidFill>
              <a:latin typeface="Calibri"/>
              <a:cs typeface="Arial" panose="020B0604020202020204" pitchFamily="34" charset="0"/>
            </a:endParaRPr>
          </a:p>
          <a:p>
            <a:pPr marL="214313" indent="-214313" eaLnBrk="1" fontAlgn="auto" hangingPunct="1">
              <a:lnSpc>
                <a:spcPct val="107000"/>
              </a:lnSpc>
              <a:spcBef>
                <a:spcPts val="0"/>
              </a:spcBef>
              <a:spcAft>
                <a:spcPts val="0"/>
              </a:spcAft>
              <a:buClrTx/>
              <a:buSzPct val="125000"/>
              <a:buFont typeface="Calibri" panose="020F0502020204030204" pitchFamily="34" charset="0"/>
              <a:buChar char="•"/>
              <a:defRPr/>
            </a:pPr>
            <a:r>
              <a:rPr lang="en-US" sz="1600" b="0" kern="1200" dirty="0">
                <a:solidFill>
                  <a:prstClr val="black"/>
                </a:solidFill>
                <a:latin typeface="Calibri"/>
                <a:cs typeface="Arial" panose="020B0604020202020204" pitchFamily="34" charset="0"/>
              </a:rPr>
              <a:t>Describe specific evidence; avoid making a general statement followed by numerous citations.</a:t>
            </a:r>
          </a:p>
          <a:p>
            <a:pPr marL="214313" indent="-214313" eaLnBrk="1" fontAlgn="auto" hangingPunct="1">
              <a:lnSpc>
                <a:spcPct val="107000"/>
              </a:lnSpc>
              <a:spcBef>
                <a:spcPts val="0"/>
              </a:spcBef>
              <a:spcAft>
                <a:spcPts val="0"/>
              </a:spcAft>
              <a:buClrTx/>
              <a:buSzPct val="125000"/>
              <a:buFont typeface="Calibri" panose="020F0502020204030204" pitchFamily="34" charset="0"/>
              <a:buChar char="•"/>
              <a:defRPr/>
            </a:pPr>
            <a:endParaRPr lang="en-US" sz="1600" b="0" kern="1200" dirty="0">
              <a:solidFill>
                <a:prstClr val="black"/>
              </a:solidFill>
              <a:latin typeface="Calibri"/>
              <a:cs typeface="Arial" panose="020B0604020202020204" pitchFamily="34" charset="0"/>
            </a:endParaRPr>
          </a:p>
          <a:p>
            <a:pPr marL="214313" indent="-214313" eaLnBrk="1" fontAlgn="auto" hangingPunct="1">
              <a:lnSpc>
                <a:spcPct val="107000"/>
              </a:lnSpc>
              <a:spcBef>
                <a:spcPts val="0"/>
              </a:spcBef>
              <a:spcAft>
                <a:spcPts val="0"/>
              </a:spcAft>
              <a:buClrTx/>
              <a:buSzPct val="125000"/>
              <a:buFont typeface="Calibri" panose="020F0502020204030204" pitchFamily="34" charset="0"/>
              <a:buChar char="•"/>
              <a:defRPr/>
            </a:pPr>
            <a:r>
              <a:rPr lang="en-US" sz="1600" b="0" kern="1200" dirty="0">
                <a:solidFill>
                  <a:prstClr val="black"/>
                </a:solidFill>
                <a:latin typeface="Calibri"/>
                <a:cs typeface="Arial" panose="020B0604020202020204" pitchFamily="34" charset="0"/>
              </a:rPr>
              <a:t>Do not include images, diagrams, pictures, or illustrations.</a:t>
            </a:r>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11</a:t>
            </a:fld>
            <a:endParaRPr lang="en-US" altLang="en-US"/>
          </a:p>
        </p:txBody>
      </p:sp>
    </p:spTree>
    <p:extLst>
      <p:ext uri="{BB962C8B-B14F-4D97-AF65-F5344CB8AC3E}">
        <p14:creationId xmlns:p14="http://schemas.microsoft.com/office/powerpoint/2010/main" val="97083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 I: Research Assignment</a:t>
            </a:r>
          </a:p>
        </p:txBody>
      </p:sp>
      <p:sp>
        <p:nvSpPr>
          <p:cNvPr id="6" name="Content Placeholder 2">
            <a:extLst>
              <a:ext uri="{FF2B5EF4-FFF2-40B4-BE49-F238E27FC236}">
                <a16:creationId xmlns:a16="http://schemas.microsoft.com/office/drawing/2014/main" id="{992F183A-526B-4168-9331-FD7EE00A81DF}"/>
              </a:ext>
            </a:extLst>
          </p:cNvPr>
          <p:cNvSpPr>
            <a:spLocks noGrp="1"/>
          </p:cNvSpPr>
          <p:nvPr>
            <p:ph sz="half" idx="1"/>
          </p:nvPr>
        </p:nvSpPr>
        <p:spPr>
          <a:xfrm>
            <a:off x="457197" y="914400"/>
            <a:ext cx="4023360" cy="3543300"/>
          </a:xfrm>
        </p:spPr>
        <p:txBody>
          <a:bodyPr/>
          <a:lstStyle/>
          <a:p>
            <a:pPr marL="0" indent="0">
              <a:lnSpc>
                <a:spcPct val="107000"/>
              </a:lnSpc>
              <a:spcBef>
                <a:spcPts val="0"/>
              </a:spcBef>
              <a:spcAft>
                <a:spcPts val="1200"/>
              </a:spcAft>
              <a:buNone/>
            </a:pPr>
            <a:r>
              <a:rPr lang="en-US" sz="1800" dirty="0">
                <a:ea typeface="Calibri" panose="020F0502020204030204" pitchFamily="34" charset="0"/>
              </a:rPr>
              <a:t>Focus on:</a:t>
            </a:r>
          </a:p>
          <a:p>
            <a:pPr>
              <a:lnSpc>
                <a:spcPct val="107000"/>
              </a:lnSpc>
              <a:spcBef>
                <a:spcPts val="0"/>
              </a:spcBef>
              <a:spcAft>
                <a:spcPts val="1200"/>
              </a:spcAft>
            </a:pPr>
            <a:r>
              <a:rPr lang="en-US" sz="1800" b="0" dirty="0">
                <a:ea typeface="Calibri" panose="020F0502020204030204" pitchFamily="34" charset="0"/>
              </a:rPr>
              <a:t>Scope and complexity</a:t>
            </a:r>
          </a:p>
          <a:p>
            <a:pPr>
              <a:lnSpc>
                <a:spcPct val="107000"/>
              </a:lnSpc>
              <a:spcBef>
                <a:spcPts val="0"/>
              </a:spcBef>
              <a:spcAft>
                <a:spcPts val="1200"/>
              </a:spcAft>
            </a:pPr>
            <a:r>
              <a:rPr lang="en-US" sz="1800" b="0" dirty="0">
                <a:ea typeface="Calibri" panose="020F0502020204030204" pitchFamily="34" charset="0"/>
              </a:rPr>
              <a:t>General types of methods used</a:t>
            </a:r>
          </a:p>
          <a:p>
            <a:pPr>
              <a:lnSpc>
                <a:spcPct val="107000"/>
              </a:lnSpc>
              <a:spcBef>
                <a:spcPts val="0"/>
              </a:spcBef>
              <a:spcAft>
                <a:spcPts val="1200"/>
              </a:spcAft>
            </a:pPr>
            <a:r>
              <a:rPr lang="en-US" sz="1800" b="0" dirty="0">
                <a:ea typeface="Calibri" panose="020F0502020204030204" pitchFamily="34" charset="0"/>
              </a:rPr>
              <a:t>Importance of expected results</a:t>
            </a:r>
          </a:p>
          <a:p>
            <a:pPr>
              <a:lnSpc>
                <a:spcPct val="107000"/>
              </a:lnSpc>
              <a:spcBef>
                <a:spcPts val="0"/>
              </a:spcBef>
              <a:spcAft>
                <a:spcPts val="1200"/>
              </a:spcAft>
            </a:pPr>
            <a:r>
              <a:rPr lang="en-US" sz="1800" b="0" dirty="0">
                <a:ea typeface="Calibri" panose="020F0502020204030204" pitchFamily="34" charset="0"/>
              </a:rPr>
              <a:t>Scientific leadership – team, supervisory, and administrative responsibilities</a:t>
            </a:r>
          </a:p>
          <a:p>
            <a:pPr>
              <a:lnSpc>
                <a:spcPct val="107000"/>
              </a:lnSpc>
              <a:spcBef>
                <a:spcPts val="0"/>
              </a:spcBef>
              <a:spcAft>
                <a:spcPts val="1200"/>
              </a:spcAft>
            </a:pPr>
            <a:r>
              <a:rPr lang="en-US" sz="1800" b="0" dirty="0">
                <a:ea typeface="Calibri" panose="020F0502020204030204" pitchFamily="34" charset="0"/>
              </a:rPr>
              <a:t>Discuss your specific role</a:t>
            </a:r>
            <a:endParaRPr lang="en-US" sz="1800" dirty="0"/>
          </a:p>
        </p:txBody>
      </p:sp>
      <p:sp>
        <p:nvSpPr>
          <p:cNvPr id="7" name="Content Placeholder 3">
            <a:extLst>
              <a:ext uri="{FF2B5EF4-FFF2-40B4-BE49-F238E27FC236}">
                <a16:creationId xmlns:a16="http://schemas.microsoft.com/office/drawing/2014/main" id="{127CC782-2320-43BB-9C35-F2C349B53F99}"/>
              </a:ext>
            </a:extLst>
          </p:cNvPr>
          <p:cNvSpPr txBox="1">
            <a:spLocks/>
          </p:cNvSpPr>
          <p:nvPr/>
        </p:nvSpPr>
        <p:spPr>
          <a:xfrm>
            <a:off x="4645152" y="914400"/>
            <a:ext cx="4023360" cy="3543300"/>
          </a:xfrm>
          <a:prstGeom prst="rect">
            <a:avLst/>
          </a:prstGeom>
          <a:solidFill>
            <a:schemeClr val="accent1">
              <a:lumMod val="20000"/>
              <a:lumOff val="80000"/>
            </a:schemeClr>
          </a:solidFill>
        </p:spPr>
        <p:txBody>
          <a:bodyPr lIns="91440" tIns="45720" rIns="91440" bIns="45720" anchor="t"/>
          <a:lstStyle>
            <a:lvl1pPr marL="342900" indent="-342900" algn="l" rtl="0" eaLnBrk="0" fontAlgn="base" hangingPunct="0">
              <a:spcBef>
                <a:spcPct val="20000"/>
              </a:spcBef>
              <a:spcAft>
                <a:spcPct val="0"/>
              </a:spcAft>
              <a:buClr>
                <a:schemeClr val="accent1"/>
              </a:buClr>
              <a:buSzPct val="80000"/>
              <a:buFont typeface="Wingdings"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80000"/>
              <a:buFont typeface="Wingdings" pitchFamily="2" charset="2"/>
              <a:buChar char="q"/>
              <a:defRPr sz="2400" b="1">
                <a:solidFill>
                  <a:schemeClr val="tx1"/>
                </a:solidFill>
                <a:latin typeface="+mn-lt"/>
              </a:defRPr>
            </a:lvl2pPr>
            <a:lvl3pPr marL="1022350" indent="-350838" algn="l" rtl="0" eaLnBrk="0" fontAlgn="base" hangingPunct="0">
              <a:spcBef>
                <a:spcPct val="20000"/>
              </a:spcBef>
              <a:spcAft>
                <a:spcPct val="0"/>
              </a:spcAft>
              <a:buClr>
                <a:schemeClr val="accent1"/>
              </a:buClr>
              <a:buSzPct val="80000"/>
              <a:buFont typeface="Wingdings" pitchFamily="2" charset="2"/>
              <a:buChar char="n"/>
              <a:defRPr sz="2000" b="1">
                <a:solidFill>
                  <a:schemeClr val="tx1"/>
                </a:solidFill>
                <a:latin typeface="+mn-lt"/>
              </a:defRPr>
            </a:lvl3pPr>
            <a:lvl4pPr marL="1339850" indent="-315913" algn="l" rtl="0" eaLnBrk="0" fontAlgn="base" hangingPunct="0">
              <a:spcBef>
                <a:spcPct val="20000"/>
              </a:spcBef>
              <a:spcAft>
                <a:spcPct val="0"/>
              </a:spcAft>
              <a:buClr>
                <a:schemeClr val="accent2"/>
              </a:buClr>
              <a:buSzPct val="80000"/>
              <a:buFont typeface="Wingdings" pitchFamily="2" charset="2"/>
              <a:buChar char="q"/>
              <a:defRPr b="1">
                <a:solidFill>
                  <a:schemeClr val="tx1"/>
                </a:solidFill>
                <a:latin typeface="+mn-lt"/>
              </a:defRPr>
            </a:lvl4pPr>
            <a:lvl5pPr marL="1681163" indent="-339725" algn="l" rtl="0" eaLnBrk="0" fontAlgn="base" hangingPunct="0">
              <a:spcBef>
                <a:spcPct val="20000"/>
              </a:spcBef>
              <a:spcAft>
                <a:spcPct val="0"/>
              </a:spcAft>
              <a:buClr>
                <a:schemeClr val="accent1"/>
              </a:buClr>
              <a:buSzPct val="80000"/>
              <a:buFont typeface="Wingdings" pitchFamily="2" charset="2"/>
              <a:buChar char="§"/>
              <a:defRPr sz="1600" b="1">
                <a:solidFill>
                  <a:schemeClr val="tx1"/>
                </a:solidFill>
                <a:latin typeface="+mn-lt"/>
              </a:defRPr>
            </a:lvl5pPr>
            <a:lvl6pPr marL="21383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6pPr>
            <a:lvl7pPr marL="25955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7pPr>
            <a:lvl8pPr marL="30527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8pPr>
            <a:lvl9pPr marL="35099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9pPr>
          </a:lstStyle>
          <a:p>
            <a:pPr marL="0" indent="0" eaLnBrk="1" fontAlgn="auto" hangingPunct="1">
              <a:spcBef>
                <a:spcPts val="0"/>
              </a:spcBef>
              <a:spcAft>
                <a:spcPts val="0"/>
              </a:spcAft>
              <a:buClrTx/>
              <a:buSzPct val="125000"/>
              <a:buNone/>
            </a:pPr>
            <a:r>
              <a:rPr lang="en-US" sz="1800" dirty="0">
                <a:solidFill>
                  <a:prstClr val="black"/>
                </a:solidFill>
                <a:latin typeface="Calibri"/>
                <a:cs typeface="Arial"/>
              </a:rPr>
              <a:t>Tips:</a:t>
            </a:r>
          </a:p>
          <a:p>
            <a:pPr marL="213995" indent="-213995"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pPr marL="213995" indent="-213995" eaLnBrk="1" fontAlgn="auto" hangingPunct="1">
              <a:spcBef>
                <a:spcPts val="0"/>
              </a:spcBef>
              <a:spcAft>
                <a:spcPts val="0"/>
              </a:spcAft>
              <a:buClrTx/>
              <a:buSzPct val="125000"/>
              <a:buFont typeface="Calibri" panose="020F0502020204030204" pitchFamily="34" charset="0"/>
              <a:buChar char="•"/>
            </a:pPr>
            <a:r>
              <a:rPr lang="en-US" sz="1800" dirty="0">
                <a:solidFill>
                  <a:prstClr val="black"/>
                </a:solidFill>
                <a:latin typeface="Calibri"/>
                <a:cs typeface="Arial"/>
              </a:rPr>
              <a:t>Keep to current assignment: last ~4, ~6, or ~7 years; or since last promotion if shorter</a:t>
            </a:r>
          </a:p>
          <a:p>
            <a:pPr marL="213995" indent="-213995"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pPr marL="213995" indent="-213995" eaLnBrk="1" fontAlgn="auto" hangingPunct="1">
              <a:spcBef>
                <a:spcPts val="0"/>
              </a:spcBef>
              <a:spcAft>
                <a:spcPts val="0"/>
              </a:spcAft>
              <a:buClrTx/>
              <a:buSzPct val="125000"/>
              <a:buFont typeface="Calibri" panose="020F0502020204030204" pitchFamily="34" charset="0"/>
              <a:buChar char="•"/>
            </a:pPr>
            <a:r>
              <a:rPr lang="en-US" sz="1800" b="0" dirty="0">
                <a:solidFill>
                  <a:prstClr val="black"/>
                </a:solidFill>
                <a:latin typeface="Calibri"/>
                <a:cs typeface="Arial"/>
              </a:rPr>
              <a:t>Discuss the norm of the assignments rather than atypical projects</a:t>
            </a:r>
          </a:p>
          <a:p>
            <a:pPr marL="213995" indent="-213995"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pPr marL="213995" indent="-213995" eaLnBrk="1" fontAlgn="auto" hangingPunct="1">
              <a:spcBef>
                <a:spcPts val="0"/>
              </a:spcBef>
              <a:spcAft>
                <a:spcPts val="0"/>
              </a:spcAft>
              <a:buClrTx/>
              <a:buSzPct val="125000"/>
              <a:buFont typeface="Calibri" panose="020F0502020204030204" pitchFamily="34" charset="0"/>
              <a:buChar char="•"/>
            </a:pPr>
            <a:r>
              <a:rPr lang="en-US" sz="1800" b="0" dirty="0">
                <a:solidFill>
                  <a:prstClr val="black"/>
                </a:solidFill>
                <a:latin typeface="Calibri"/>
                <a:cs typeface="Arial"/>
              </a:rPr>
              <a:t>Don’t include specific accomplishments</a:t>
            </a:r>
          </a:p>
          <a:p>
            <a:pPr marL="213995" indent="-213995"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endParaRPr lang="en-US" kern="0" dirty="0">
              <a:cs typeface="Arial"/>
            </a:endParaRPr>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12</a:t>
            </a:fld>
            <a:endParaRPr lang="en-US" altLang="en-US"/>
          </a:p>
        </p:txBody>
      </p:sp>
    </p:spTree>
    <p:extLst>
      <p:ext uri="{BB962C8B-B14F-4D97-AF65-F5344CB8AC3E}">
        <p14:creationId xmlns:p14="http://schemas.microsoft.com/office/powerpoint/2010/main" val="583545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 II: Supervisory Controls</a:t>
            </a:r>
          </a:p>
        </p:txBody>
      </p:sp>
      <p:sp>
        <p:nvSpPr>
          <p:cNvPr id="6" name="Content Placeholder 2">
            <a:extLst>
              <a:ext uri="{FF2B5EF4-FFF2-40B4-BE49-F238E27FC236}">
                <a16:creationId xmlns:a16="http://schemas.microsoft.com/office/drawing/2014/main" id="{992F183A-526B-4168-9331-FD7EE00A81DF}"/>
              </a:ext>
            </a:extLst>
          </p:cNvPr>
          <p:cNvSpPr>
            <a:spLocks noGrp="1"/>
          </p:cNvSpPr>
          <p:nvPr>
            <p:ph sz="half" idx="1"/>
          </p:nvPr>
        </p:nvSpPr>
        <p:spPr>
          <a:xfrm>
            <a:off x="457198" y="914400"/>
            <a:ext cx="4023360" cy="3543300"/>
          </a:xfrm>
        </p:spPr>
        <p:txBody>
          <a:bodyPr/>
          <a:lstStyle/>
          <a:p>
            <a:pPr marL="0" indent="0">
              <a:lnSpc>
                <a:spcPct val="107000"/>
              </a:lnSpc>
              <a:spcBef>
                <a:spcPts val="0"/>
              </a:spcBef>
              <a:spcAft>
                <a:spcPts val="1200"/>
              </a:spcAft>
              <a:buNone/>
            </a:pPr>
            <a:r>
              <a:rPr lang="en-US" sz="1800" dirty="0">
                <a:ea typeface="Calibri" panose="020F0502020204030204" pitchFamily="34" charset="0"/>
              </a:rPr>
              <a:t>Focus on:</a:t>
            </a:r>
          </a:p>
          <a:p>
            <a:pPr>
              <a:lnSpc>
                <a:spcPct val="107000"/>
              </a:lnSpc>
              <a:spcBef>
                <a:spcPts val="0"/>
              </a:spcBef>
              <a:spcAft>
                <a:spcPts val="1200"/>
              </a:spcAft>
            </a:pPr>
            <a:r>
              <a:rPr lang="en-US" sz="1800" b="0" dirty="0">
                <a:ea typeface="Calibri" panose="020F0502020204030204" pitchFamily="34" charset="0"/>
              </a:rPr>
              <a:t>Degree of personal responsibility</a:t>
            </a:r>
          </a:p>
          <a:p>
            <a:pPr>
              <a:lnSpc>
                <a:spcPct val="107000"/>
              </a:lnSpc>
              <a:spcBef>
                <a:spcPts val="0"/>
              </a:spcBef>
              <a:spcAft>
                <a:spcPts val="1200"/>
              </a:spcAft>
            </a:pPr>
            <a:r>
              <a:rPr lang="en-US" sz="1800" b="0" dirty="0">
                <a:ea typeface="Calibri" panose="020F0502020204030204" pitchFamily="34" charset="0"/>
              </a:rPr>
              <a:t>Authority to act independently</a:t>
            </a:r>
          </a:p>
          <a:p>
            <a:pPr>
              <a:lnSpc>
                <a:spcPct val="107000"/>
              </a:lnSpc>
              <a:spcBef>
                <a:spcPts val="0"/>
              </a:spcBef>
              <a:spcAft>
                <a:spcPts val="1200"/>
              </a:spcAft>
            </a:pPr>
            <a:r>
              <a:rPr lang="en-US" sz="1800" b="0" dirty="0">
                <a:ea typeface="Calibri" panose="020F0502020204030204" pitchFamily="34" charset="0"/>
              </a:rPr>
              <a:t>Level of approval required</a:t>
            </a:r>
          </a:p>
          <a:p>
            <a:pPr>
              <a:lnSpc>
                <a:spcPct val="107000"/>
              </a:lnSpc>
              <a:spcBef>
                <a:spcPts val="0"/>
              </a:spcBef>
              <a:spcAft>
                <a:spcPts val="1200"/>
              </a:spcAft>
            </a:pPr>
            <a:r>
              <a:rPr lang="en-US" sz="1800" b="0" dirty="0">
                <a:ea typeface="Calibri" panose="020F0502020204030204" pitchFamily="34" charset="0"/>
              </a:rPr>
              <a:t>Technical supervision required</a:t>
            </a:r>
          </a:p>
          <a:p>
            <a:pPr marL="0" indent="0">
              <a:buNone/>
            </a:pPr>
            <a:endParaRPr lang="en-US" sz="2800" dirty="0"/>
          </a:p>
        </p:txBody>
      </p:sp>
      <p:sp>
        <p:nvSpPr>
          <p:cNvPr id="7" name="Content Placeholder 3">
            <a:extLst>
              <a:ext uri="{FF2B5EF4-FFF2-40B4-BE49-F238E27FC236}">
                <a16:creationId xmlns:a16="http://schemas.microsoft.com/office/drawing/2014/main" id="{127CC782-2320-43BB-9C35-F2C349B53F99}"/>
              </a:ext>
            </a:extLst>
          </p:cNvPr>
          <p:cNvSpPr txBox="1">
            <a:spLocks/>
          </p:cNvSpPr>
          <p:nvPr/>
        </p:nvSpPr>
        <p:spPr>
          <a:xfrm>
            <a:off x="4645152" y="914400"/>
            <a:ext cx="4023360" cy="3543300"/>
          </a:xfrm>
          <a:prstGeom prst="rect">
            <a:avLst/>
          </a:prstGeom>
          <a:solidFill>
            <a:schemeClr val="accent1">
              <a:lumMod val="20000"/>
              <a:lumOff val="80000"/>
            </a:schemeClr>
          </a:solidFill>
        </p:spPr>
        <p:txBody>
          <a:bodyPr/>
          <a:lstStyle>
            <a:lvl1pPr marL="342900" indent="-342900" algn="l" rtl="0" eaLnBrk="0" fontAlgn="base" hangingPunct="0">
              <a:spcBef>
                <a:spcPct val="20000"/>
              </a:spcBef>
              <a:spcAft>
                <a:spcPct val="0"/>
              </a:spcAft>
              <a:buClr>
                <a:schemeClr val="accent1"/>
              </a:buClr>
              <a:buSzPct val="80000"/>
              <a:buFont typeface="Wingdings"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80000"/>
              <a:buFont typeface="Wingdings" pitchFamily="2" charset="2"/>
              <a:buChar char="q"/>
              <a:defRPr sz="2400" b="1">
                <a:solidFill>
                  <a:schemeClr val="tx1"/>
                </a:solidFill>
                <a:latin typeface="+mn-lt"/>
              </a:defRPr>
            </a:lvl2pPr>
            <a:lvl3pPr marL="1022350" indent="-350838" algn="l" rtl="0" eaLnBrk="0" fontAlgn="base" hangingPunct="0">
              <a:spcBef>
                <a:spcPct val="20000"/>
              </a:spcBef>
              <a:spcAft>
                <a:spcPct val="0"/>
              </a:spcAft>
              <a:buClr>
                <a:schemeClr val="accent1"/>
              </a:buClr>
              <a:buSzPct val="80000"/>
              <a:buFont typeface="Wingdings" pitchFamily="2" charset="2"/>
              <a:buChar char="n"/>
              <a:defRPr sz="2000" b="1">
                <a:solidFill>
                  <a:schemeClr val="tx1"/>
                </a:solidFill>
                <a:latin typeface="+mn-lt"/>
              </a:defRPr>
            </a:lvl3pPr>
            <a:lvl4pPr marL="1339850" indent="-315913" algn="l" rtl="0" eaLnBrk="0" fontAlgn="base" hangingPunct="0">
              <a:spcBef>
                <a:spcPct val="20000"/>
              </a:spcBef>
              <a:spcAft>
                <a:spcPct val="0"/>
              </a:spcAft>
              <a:buClr>
                <a:schemeClr val="accent2"/>
              </a:buClr>
              <a:buSzPct val="80000"/>
              <a:buFont typeface="Wingdings" pitchFamily="2" charset="2"/>
              <a:buChar char="q"/>
              <a:defRPr b="1">
                <a:solidFill>
                  <a:schemeClr val="tx1"/>
                </a:solidFill>
                <a:latin typeface="+mn-lt"/>
              </a:defRPr>
            </a:lvl4pPr>
            <a:lvl5pPr marL="1681163" indent="-339725" algn="l" rtl="0" eaLnBrk="0" fontAlgn="base" hangingPunct="0">
              <a:spcBef>
                <a:spcPct val="20000"/>
              </a:spcBef>
              <a:spcAft>
                <a:spcPct val="0"/>
              </a:spcAft>
              <a:buClr>
                <a:schemeClr val="accent1"/>
              </a:buClr>
              <a:buSzPct val="80000"/>
              <a:buFont typeface="Wingdings" pitchFamily="2" charset="2"/>
              <a:buChar char="§"/>
              <a:defRPr sz="1600" b="1">
                <a:solidFill>
                  <a:schemeClr val="tx1"/>
                </a:solidFill>
                <a:latin typeface="+mn-lt"/>
              </a:defRPr>
            </a:lvl5pPr>
            <a:lvl6pPr marL="21383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6pPr>
            <a:lvl7pPr marL="25955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7pPr>
            <a:lvl8pPr marL="30527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8pPr>
            <a:lvl9pPr marL="35099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9pPr>
          </a:lstStyle>
          <a:p>
            <a:pPr marL="0" indent="0" eaLnBrk="1" fontAlgn="auto" hangingPunct="1">
              <a:spcBef>
                <a:spcPts val="0"/>
              </a:spcBef>
              <a:spcAft>
                <a:spcPts val="0"/>
              </a:spcAft>
              <a:buClrTx/>
              <a:buSzPct val="125000"/>
              <a:buNone/>
            </a:pPr>
            <a:r>
              <a:rPr lang="en-US" sz="1500" dirty="0">
                <a:solidFill>
                  <a:prstClr val="black"/>
                </a:solidFill>
                <a:latin typeface="Calibri"/>
                <a:cs typeface="Arial" panose="020B0604020202020204" pitchFamily="34" charset="0"/>
              </a:rPr>
              <a:t>Tips:</a:t>
            </a:r>
          </a:p>
          <a:p>
            <a:pPr marL="0" indent="0" eaLnBrk="1" fontAlgn="auto" hangingPunct="1">
              <a:spcBef>
                <a:spcPts val="0"/>
              </a:spcBef>
              <a:spcAft>
                <a:spcPts val="0"/>
              </a:spcAft>
              <a:buClrTx/>
              <a:buSzPct val="125000"/>
              <a:buNone/>
            </a:pPr>
            <a:endParaRPr lang="en-US" sz="600" dirty="0">
              <a:solidFill>
                <a:prstClr val="black"/>
              </a:solidFill>
              <a:latin typeface="Calibri"/>
              <a:cs typeface="Arial" panose="020B0604020202020204" pitchFamily="34" charset="0"/>
            </a:endParaRP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r>
              <a:rPr kumimoji="0" lang="en-US" sz="150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Keep to current assignment: last ~4, ~6, or ~7 years; or since last promotion if shorter</a:t>
            </a: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endParaRPr kumimoji="0" lang="en-US" sz="105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Don’t include supervision that you provide</a:t>
            </a: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endParaRPr kumimoji="0" lang="en-US" sz="105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Supervision can come from sources other than direct supervisor</a:t>
            </a: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endParaRPr kumimoji="0" lang="en-US" sz="105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214313" marR="0" lvl="0" indent="-214313" algn="l" defTabSz="914400" rtl="0" eaLnBrk="1" fontAlgn="auto" latinLnBrk="0" hangingPunct="1">
              <a:lnSpc>
                <a:spcPct val="100000"/>
              </a:lnSpc>
              <a:spcBef>
                <a:spcPts val="0"/>
              </a:spcBef>
              <a:spcAft>
                <a:spcPts val="0"/>
              </a:spcAft>
              <a:buClrTx/>
              <a:buSzPct val="125000"/>
              <a:buFont typeface="Calibri" panose="020F0502020204030204" pitchFamily="34" charset="0"/>
              <a:buChar char="•"/>
              <a:tabLst/>
              <a:defRPr/>
            </a:pPr>
            <a:r>
              <a:rPr kumimoji="0" lang="en-US" sz="15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higher levels, the scientist has the autonomy to influence high-level (DOI) scientific directions</a:t>
            </a:r>
          </a:p>
          <a:p>
            <a:pPr marL="214313" indent="-214313" eaLnBrk="1" fontAlgn="auto" hangingPunct="1">
              <a:spcBef>
                <a:spcPts val="0"/>
              </a:spcBef>
              <a:spcAft>
                <a:spcPts val="0"/>
              </a:spcAft>
              <a:buClrTx/>
              <a:buSzPct val="125000"/>
              <a:buFont typeface="Calibri" panose="020F0502020204030204" pitchFamily="34" charset="0"/>
              <a:buChar char="•"/>
            </a:pPr>
            <a:endParaRPr lang="en-US" sz="1500" b="0" dirty="0">
              <a:solidFill>
                <a:prstClr val="black"/>
              </a:solidFill>
              <a:latin typeface="Calibri"/>
              <a:cs typeface="Arial" panose="020B0604020202020204" pitchFamily="34" charset="0"/>
            </a:endParaRPr>
          </a:p>
          <a:p>
            <a:pPr marL="0" indent="0" eaLnBrk="1" fontAlgn="auto" hangingPunct="1">
              <a:spcBef>
                <a:spcPts val="0"/>
              </a:spcBef>
              <a:spcAft>
                <a:spcPts val="0"/>
              </a:spcAft>
              <a:buClrTx/>
              <a:buSzPct val="125000"/>
              <a:buNone/>
            </a:pPr>
            <a:endParaRPr lang="en-US" sz="1500" b="0" dirty="0">
              <a:solidFill>
                <a:prstClr val="black"/>
              </a:solidFill>
              <a:latin typeface="Calibri"/>
              <a:cs typeface="Arial" panose="020B0604020202020204" pitchFamily="34" charset="0"/>
            </a:endParaRPr>
          </a:p>
          <a:p>
            <a:endParaRPr lang="en-US" sz="2100" kern="0"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13</a:t>
            </a:fld>
            <a:endParaRPr lang="en-US" altLang="en-US"/>
          </a:p>
        </p:txBody>
      </p:sp>
    </p:spTree>
    <p:extLst>
      <p:ext uri="{BB962C8B-B14F-4D97-AF65-F5344CB8AC3E}">
        <p14:creationId xmlns:p14="http://schemas.microsoft.com/office/powerpoint/2010/main" val="2241599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 III: Guidelines and Originality</a:t>
            </a:r>
          </a:p>
        </p:txBody>
      </p:sp>
      <p:sp>
        <p:nvSpPr>
          <p:cNvPr id="6" name="Content Placeholder 2">
            <a:extLst>
              <a:ext uri="{FF2B5EF4-FFF2-40B4-BE49-F238E27FC236}">
                <a16:creationId xmlns:a16="http://schemas.microsoft.com/office/drawing/2014/main" id="{992F183A-526B-4168-9331-FD7EE00A81DF}"/>
              </a:ext>
            </a:extLst>
          </p:cNvPr>
          <p:cNvSpPr>
            <a:spLocks noGrp="1"/>
          </p:cNvSpPr>
          <p:nvPr>
            <p:ph sz="half" idx="1"/>
          </p:nvPr>
        </p:nvSpPr>
        <p:spPr>
          <a:xfrm>
            <a:off x="457198" y="914400"/>
            <a:ext cx="4023360" cy="3543300"/>
          </a:xfrm>
        </p:spPr>
        <p:txBody>
          <a:bodyPr/>
          <a:lstStyle/>
          <a:p>
            <a:pPr marL="0" indent="0">
              <a:lnSpc>
                <a:spcPct val="107000"/>
              </a:lnSpc>
              <a:spcBef>
                <a:spcPts val="0"/>
              </a:spcBef>
              <a:spcAft>
                <a:spcPts val="1200"/>
              </a:spcAft>
              <a:buNone/>
            </a:pPr>
            <a:r>
              <a:rPr lang="en-US" sz="1800" dirty="0">
                <a:ea typeface="Calibri" panose="020F0502020204030204" pitchFamily="34" charset="0"/>
              </a:rPr>
              <a:t>Focus on:</a:t>
            </a:r>
          </a:p>
          <a:p>
            <a:pPr>
              <a:lnSpc>
                <a:spcPct val="107000"/>
              </a:lnSpc>
              <a:spcBef>
                <a:spcPts val="0"/>
              </a:spcBef>
              <a:spcAft>
                <a:spcPts val="1200"/>
              </a:spcAft>
            </a:pPr>
            <a:r>
              <a:rPr lang="en-US" sz="1800" b="0" dirty="0">
                <a:ea typeface="Calibri" panose="020F0502020204030204" pitchFamily="34" charset="0"/>
              </a:rPr>
              <a:t>Preexisting knowledge available</a:t>
            </a:r>
          </a:p>
          <a:p>
            <a:pPr>
              <a:lnSpc>
                <a:spcPct val="107000"/>
              </a:lnSpc>
              <a:spcBef>
                <a:spcPts val="0"/>
              </a:spcBef>
              <a:spcAft>
                <a:spcPts val="1200"/>
              </a:spcAft>
            </a:pPr>
            <a:r>
              <a:rPr lang="en-US" sz="1800" b="0" dirty="0">
                <a:ea typeface="Calibri" panose="020F0502020204030204" pitchFamily="34" charset="0"/>
              </a:rPr>
              <a:t>How you demonstrated originality</a:t>
            </a:r>
          </a:p>
          <a:p>
            <a:pPr>
              <a:lnSpc>
                <a:spcPct val="107000"/>
              </a:lnSpc>
              <a:spcBef>
                <a:spcPts val="0"/>
              </a:spcBef>
              <a:spcAft>
                <a:spcPts val="1200"/>
              </a:spcAft>
            </a:pPr>
            <a:r>
              <a:rPr lang="en-US" sz="1800" b="0" dirty="0">
                <a:latin typeface="Segoe UI" panose="020B0502040204020203" pitchFamily="34" charset="0"/>
              </a:rPr>
              <a:t>Methods and approaches rather than products and impacts</a:t>
            </a:r>
            <a:endParaRPr lang="en-US" sz="2400" b="0" dirty="0">
              <a:solidFill>
                <a:prstClr val="black"/>
              </a:solidFill>
              <a:latin typeface="Calibri"/>
              <a:cs typeface="Arial" panose="020B0604020202020204" pitchFamily="34" charset="0"/>
            </a:endParaRPr>
          </a:p>
          <a:p>
            <a:pPr>
              <a:lnSpc>
                <a:spcPct val="107000"/>
              </a:lnSpc>
              <a:spcBef>
                <a:spcPts val="0"/>
              </a:spcBef>
              <a:spcAft>
                <a:spcPts val="0"/>
              </a:spcAft>
            </a:pPr>
            <a:endParaRPr lang="en-US" sz="1800" b="0" dirty="0">
              <a:ea typeface="Calibri" panose="020F0502020204030204" pitchFamily="34" charset="0"/>
            </a:endParaRPr>
          </a:p>
          <a:p>
            <a:pPr marL="0" indent="0">
              <a:buNone/>
            </a:pPr>
            <a:endParaRPr lang="en-US" sz="2800" dirty="0"/>
          </a:p>
        </p:txBody>
      </p:sp>
      <p:sp>
        <p:nvSpPr>
          <p:cNvPr id="7" name="Content Placeholder 3">
            <a:extLst>
              <a:ext uri="{FF2B5EF4-FFF2-40B4-BE49-F238E27FC236}">
                <a16:creationId xmlns:a16="http://schemas.microsoft.com/office/drawing/2014/main" id="{127CC782-2320-43BB-9C35-F2C349B53F99}"/>
              </a:ext>
            </a:extLst>
          </p:cNvPr>
          <p:cNvSpPr txBox="1">
            <a:spLocks/>
          </p:cNvSpPr>
          <p:nvPr/>
        </p:nvSpPr>
        <p:spPr>
          <a:xfrm>
            <a:off x="4645152" y="914400"/>
            <a:ext cx="4023360" cy="3543300"/>
          </a:xfrm>
          <a:prstGeom prst="rect">
            <a:avLst/>
          </a:prstGeom>
          <a:solidFill>
            <a:schemeClr val="accent1">
              <a:lumMod val="20000"/>
              <a:lumOff val="80000"/>
            </a:schemeClr>
          </a:solidFill>
        </p:spPr>
        <p:txBody>
          <a:bodyPr/>
          <a:lstStyle>
            <a:lvl1pPr marL="342900" indent="-342900" algn="l" rtl="0" eaLnBrk="0" fontAlgn="base" hangingPunct="0">
              <a:spcBef>
                <a:spcPct val="20000"/>
              </a:spcBef>
              <a:spcAft>
                <a:spcPct val="0"/>
              </a:spcAft>
              <a:buClr>
                <a:schemeClr val="accent1"/>
              </a:buClr>
              <a:buSzPct val="80000"/>
              <a:buFont typeface="Wingdings"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80000"/>
              <a:buFont typeface="Wingdings" pitchFamily="2" charset="2"/>
              <a:buChar char="q"/>
              <a:defRPr sz="2400" b="1">
                <a:solidFill>
                  <a:schemeClr val="tx1"/>
                </a:solidFill>
                <a:latin typeface="+mn-lt"/>
              </a:defRPr>
            </a:lvl2pPr>
            <a:lvl3pPr marL="1022350" indent="-350838" algn="l" rtl="0" eaLnBrk="0" fontAlgn="base" hangingPunct="0">
              <a:spcBef>
                <a:spcPct val="20000"/>
              </a:spcBef>
              <a:spcAft>
                <a:spcPct val="0"/>
              </a:spcAft>
              <a:buClr>
                <a:schemeClr val="accent1"/>
              </a:buClr>
              <a:buSzPct val="80000"/>
              <a:buFont typeface="Wingdings" pitchFamily="2" charset="2"/>
              <a:buChar char="n"/>
              <a:defRPr sz="2000" b="1">
                <a:solidFill>
                  <a:schemeClr val="tx1"/>
                </a:solidFill>
                <a:latin typeface="+mn-lt"/>
              </a:defRPr>
            </a:lvl3pPr>
            <a:lvl4pPr marL="1339850" indent="-315913" algn="l" rtl="0" eaLnBrk="0" fontAlgn="base" hangingPunct="0">
              <a:spcBef>
                <a:spcPct val="20000"/>
              </a:spcBef>
              <a:spcAft>
                <a:spcPct val="0"/>
              </a:spcAft>
              <a:buClr>
                <a:schemeClr val="accent2"/>
              </a:buClr>
              <a:buSzPct val="80000"/>
              <a:buFont typeface="Wingdings" pitchFamily="2" charset="2"/>
              <a:buChar char="q"/>
              <a:defRPr b="1">
                <a:solidFill>
                  <a:schemeClr val="tx1"/>
                </a:solidFill>
                <a:latin typeface="+mn-lt"/>
              </a:defRPr>
            </a:lvl4pPr>
            <a:lvl5pPr marL="1681163" indent="-339725" algn="l" rtl="0" eaLnBrk="0" fontAlgn="base" hangingPunct="0">
              <a:spcBef>
                <a:spcPct val="20000"/>
              </a:spcBef>
              <a:spcAft>
                <a:spcPct val="0"/>
              </a:spcAft>
              <a:buClr>
                <a:schemeClr val="accent1"/>
              </a:buClr>
              <a:buSzPct val="80000"/>
              <a:buFont typeface="Wingdings" pitchFamily="2" charset="2"/>
              <a:buChar char="§"/>
              <a:defRPr sz="1600" b="1">
                <a:solidFill>
                  <a:schemeClr val="tx1"/>
                </a:solidFill>
                <a:latin typeface="+mn-lt"/>
              </a:defRPr>
            </a:lvl5pPr>
            <a:lvl6pPr marL="21383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6pPr>
            <a:lvl7pPr marL="25955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7pPr>
            <a:lvl8pPr marL="30527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8pPr>
            <a:lvl9pPr marL="35099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9pPr>
          </a:lstStyle>
          <a:p>
            <a:pPr marL="0" indent="0" eaLnBrk="1" fontAlgn="auto" hangingPunct="1">
              <a:spcBef>
                <a:spcPts val="0"/>
              </a:spcBef>
              <a:spcAft>
                <a:spcPts val="0"/>
              </a:spcAft>
              <a:buClrTx/>
              <a:buSzPct val="125000"/>
              <a:buNone/>
            </a:pPr>
            <a:r>
              <a:rPr lang="en-US" sz="1800" dirty="0">
                <a:solidFill>
                  <a:prstClr val="black"/>
                </a:solidFill>
                <a:latin typeface="Calibri"/>
                <a:cs typeface="Arial" panose="020B0604020202020204" pitchFamily="34" charset="0"/>
              </a:rPr>
              <a:t>Tips:</a:t>
            </a:r>
          </a:p>
          <a:p>
            <a:pPr marL="214313" indent="-214313"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pPr marL="214313" indent="-214313" eaLnBrk="1" fontAlgn="auto" hangingPunct="1">
              <a:spcBef>
                <a:spcPts val="0"/>
              </a:spcBef>
              <a:spcAft>
                <a:spcPts val="600"/>
              </a:spcAft>
              <a:buClrTx/>
              <a:buSzPct val="125000"/>
              <a:buFont typeface="Calibri" panose="020F0502020204030204" pitchFamily="34" charset="0"/>
              <a:buChar char="•"/>
            </a:pPr>
            <a:r>
              <a:rPr lang="en-US" sz="1800" dirty="0">
                <a:solidFill>
                  <a:prstClr val="black"/>
                </a:solidFill>
                <a:latin typeface="Calibri"/>
                <a:cs typeface="Arial" panose="020B0604020202020204" pitchFamily="34" charset="0"/>
              </a:rPr>
              <a:t>Keep to current assignment: last ~4, ~6, or ~7 years; or since last promotion if shorter</a:t>
            </a:r>
          </a:p>
          <a:p>
            <a:pPr marL="214313" indent="-214313" eaLnBrk="1" fontAlgn="auto" hangingPunct="1">
              <a:spcBef>
                <a:spcPts val="0"/>
              </a:spcBef>
              <a:spcAft>
                <a:spcPts val="600"/>
              </a:spcAft>
              <a:buClrTx/>
              <a:buSzPct val="125000"/>
              <a:buFont typeface="Calibri" panose="020F0502020204030204" pitchFamily="34" charset="0"/>
              <a:buChar char="•"/>
            </a:pPr>
            <a:r>
              <a:rPr lang="en-US" sz="1800" b="0" dirty="0">
                <a:solidFill>
                  <a:prstClr val="black"/>
                </a:solidFill>
                <a:latin typeface="Calibri"/>
                <a:cs typeface="Arial" panose="020B0604020202020204" pitchFamily="34" charset="0"/>
              </a:rPr>
              <a:t>Explain </a:t>
            </a:r>
            <a:r>
              <a:rPr lang="en-US" sz="1800" b="0" u="sng" dirty="0">
                <a:solidFill>
                  <a:prstClr val="black"/>
                </a:solidFill>
                <a:latin typeface="Calibri"/>
                <a:cs typeface="Arial" panose="020B0604020202020204" pitchFamily="34" charset="0"/>
              </a:rPr>
              <a:t>how</a:t>
            </a:r>
            <a:r>
              <a:rPr lang="en-US" sz="1800" b="0" dirty="0">
                <a:solidFill>
                  <a:prstClr val="black"/>
                </a:solidFill>
                <a:latin typeface="Calibri"/>
                <a:cs typeface="Arial" panose="020B0604020202020204" pitchFamily="34" charset="0"/>
              </a:rPr>
              <a:t> your work is original</a:t>
            </a:r>
          </a:p>
          <a:p>
            <a:pPr marL="214313" indent="-214313" eaLnBrk="1" fontAlgn="auto" hangingPunct="1">
              <a:spcBef>
                <a:spcPts val="0"/>
              </a:spcBef>
              <a:spcAft>
                <a:spcPts val="600"/>
              </a:spcAft>
              <a:buClrTx/>
              <a:buSzPct val="125000"/>
              <a:buFont typeface="Calibri" panose="020F0502020204030204" pitchFamily="34" charset="0"/>
              <a:buChar char="•"/>
            </a:pPr>
            <a:r>
              <a:rPr lang="en-US" sz="1800" b="0" dirty="0">
                <a:solidFill>
                  <a:prstClr val="black"/>
                </a:solidFill>
                <a:latin typeface="Calibri"/>
                <a:cs typeface="Arial" panose="020B0604020202020204" pitchFamily="34" charset="0"/>
              </a:rPr>
              <a:t>Specific examples are highly useful to panels</a:t>
            </a:r>
          </a:p>
          <a:p>
            <a:pPr marL="214313" indent="-214313" eaLnBrk="1" fontAlgn="auto" hangingPunct="1">
              <a:spcBef>
                <a:spcPts val="0"/>
              </a:spcBef>
              <a:spcAft>
                <a:spcPts val="0"/>
              </a:spcAft>
              <a:buClrTx/>
              <a:buSzPct val="125000"/>
              <a:buFont typeface="Calibri" panose="020F0502020204030204" pitchFamily="34" charset="0"/>
              <a:buChar char="•"/>
            </a:pPr>
            <a:endParaRPr lang="en-US" sz="1800" b="0" dirty="0">
              <a:solidFill>
                <a:prstClr val="black"/>
              </a:solidFill>
              <a:latin typeface="Calibri"/>
              <a:cs typeface="Arial" panose="020B0604020202020204" pitchFamily="34" charset="0"/>
            </a:endParaRPr>
          </a:p>
          <a:p>
            <a:pPr marL="0" indent="0">
              <a:buNone/>
            </a:pPr>
            <a:endParaRPr lang="en-US" kern="0"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14</a:t>
            </a:fld>
            <a:endParaRPr lang="en-US" altLang="en-US"/>
          </a:p>
        </p:txBody>
      </p:sp>
    </p:spTree>
    <p:extLst>
      <p:ext uri="{BB962C8B-B14F-4D97-AF65-F5344CB8AC3E}">
        <p14:creationId xmlns:p14="http://schemas.microsoft.com/office/powerpoint/2010/main" val="1039014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 IV: Contributions, Impact, Stature</a:t>
            </a:r>
          </a:p>
        </p:txBody>
      </p:sp>
      <p:sp>
        <p:nvSpPr>
          <p:cNvPr id="6" name="Content Placeholder 2">
            <a:extLst>
              <a:ext uri="{FF2B5EF4-FFF2-40B4-BE49-F238E27FC236}">
                <a16:creationId xmlns:a16="http://schemas.microsoft.com/office/drawing/2014/main" id="{992F183A-526B-4168-9331-FD7EE00A81DF}"/>
              </a:ext>
            </a:extLst>
          </p:cNvPr>
          <p:cNvSpPr>
            <a:spLocks noGrp="1"/>
          </p:cNvSpPr>
          <p:nvPr>
            <p:ph sz="half" idx="1"/>
          </p:nvPr>
        </p:nvSpPr>
        <p:spPr>
          <a:xfrm>
            <a:off x="457198" y="914400"/>
            <a:ext cx="4023360" cy="3543300"/>
          </a:xfrm>
        </p:spPr>
        <p:txBody>
          <a:bodyPr/>
          <a:lstStyle/>
          <a:p>
            <a:pPr marL="0" indent="0">
              <a:lnSpc>
                <a:spcPct val="107000"/>
              </a:lnSpc>
              <a:spcBef>
                <a:spcPts val="0"/>
              </a:spcBef>
              <a:spcAft>
                <a:spcPts val="1200"/>
              </a:spcAft>
              <a:buNone/>
            </a:pPr>
            <a:r>
              <a:rPr lang="en-US" sz="1800" dirty="0">
                <a:ea typeface="Calibri" panose="020F0502020204030204" pitchFamily="34" charset="0"/>
              </a:rPr>
              <a:t>Focus on:</a:t>
            </a:r>
          </a:p>
          <a:p>
            <a:pPr>
              <a:lnSpc>
                <a:spcPct val="107000"/>
              </a:lnSpc>
              <a:spcBef>
                <a:spcPts val="0"/>
              </a:spcBef>
              <a:spcAft>
                <a:spcPts val="1200"/>
              </a:spcAft>
            </a:pPr>
            <a:r>
              <a:rPr lang="en-US" sz="1800" b="0" dirty="0">
                <a:ea typeface="Calibri" panose="020F0502020204030204" pitchFamily="34" charset="0"/>
              </a:rPr>
              <a:t>Scientific contributions </a:t>
            </a:r>
            <a:r>
              <a:rPr lang="en-US" sz="1600" b="0" dirty="0">
                <a:ea typeface="Calibri" panose="020F0502020204030204" pitchFamily="34" charset="0"/>
              </a:rPr>
              <a:t>– publications, datasets, tools, code, presentations, testimony, strategic planning, special assignments…</a:t>
            </a:r>
          </a:p>
          <a:p>
            <a:pPr>
              <a:lnSpc>
                <a:spcPct val="107000"/>
              </a:lnSpc>
              <a:spcBef>
                <a:spcPts val="0"/>
              </a:spcBef>
              <a:spcAft>
                <a:spcPts val="1200"/>
              </a:spcAft>
            </a:pPr>
            <a:r>
              <a:rPr lang="en-US" sz="1800" b="0" dirty="0">
                <a:ea typeface="Calibri" panose="020F0502020204030204" pitchFamily="34" charset="0"/>
              </a:rPr>
              <a:t>Impact</a:t>
            </a:r>
            <a:r>
              <a:rPr lang="en-US" sz="1600" b="0" dirty="0">
                <a:ea typeface="Calibri" panose="020F0502020204030204" pitchFamily="34" charset="0"/>
              </a:rPr>
              <a:t> to society, agency, or science</a:t>
            </a:r>
          </a:p>
          <a:p>
            <a:pPr>
              <a:lnSpc>
                <a:spcPct val="107000"/>
              </a:lnSpc>
              <a:spcBef>
                <a:spcPts val="0"/>
              </a:spcBef>
              <a:spcAft>
                <a:spcPts val="1200"/>
              </a:spcAft>
              <a:buClr>
                <a:srgbClr val="4F81BD"/>
              </a:buClr>
            </a:pPr>
            <a:r>
              <a:rPr lang="en-US" sz="1800" b="0" dirty="0">
                <a:solidFill>
                  <a:prstClr val="black"/>
                </a:solidFill>
                <a:ea typeface="Calibri" panose="020F0502020204030204" pitchFamily="34" charset="0"/>
              </a:rPr>
              <a:t>Stature and standing</a:t>
            </a:r>
            <a:r>
              <a:rPr lang="en-US" sz="1600" b="0" dirty="0">
                <a:solidFill>
                  <a:prstClr val="black"/>
                </a:solidFill>
                <a:ea typeface="Calibri" panose="020F0502020204030204" pitchFamily="34" charset="0"/>
              </a:rPr>
              <a:t> – invitations, elected positions, awards, recognitions, selection to lead teams…</a:t>
            </a:r>
          </a:p>
        </p:txBody>
      </p:sp>
      <p:sp>
        <p:nvSpPr>
          <p:cNvPr id="7" name="Content Placeholder 3">
            <a:extLst>
              <a:ext uri="{FF2B5EF4-FFF2-40B4-BE49-F238E27FC236}">
                <a16:creationId xmlns:a16="http://schemas.microsoft.com/office/drawing/2014/main" id="{127CC782-2320-43BB-9C35-F2C349B53F99}"/>
              </a:ext>
            </a:extLst>
          </p:cNvPr>
          <p:cNvSpPr txBox="1">
            <a:spLocks/>
          </p:cNvSpPr>
          <p:nvPr/>
        </p:nvSpPr>
        <p:spPr>
          <a:xfrm>
            <a:off x="4645152" y="914400"/>
            <a:ext cx="4023360" cy="3543300"/>
          </a:xfrm>
          <a:prstGeom prst="rect">
            <a:avLst/>
          </a:prstGeom>
          <a:solidFill>
            <a:schemeClr val="accent1">
              <a:lumMod val="20000"/>
              <a:lumOff val="80000"/>
            </a:schemeClr>
          </a:solidFill>
        </p:spPr>
        <p:txBody>
          <a:bodyPr/>
          <a:lstStyle>
            <a:lvl1pPr marL="342900" indent="-342900" algn="l" rtl="0" eaLnBrk="0" fontAlgn="base" hangingPunct="0">
              <a:spcBef>
                <a:spcPct val="20000"/>
              </a:spcBef>
              <a:spcAft>
                <a:spcPct val="0"/>
              </a:spcAft>
              <a:buClr>
                <a:schemeClr val="accent1"/>
              </a:buClr>
              <a:buSzPct val="80000"/>
              <a:buFont typeface="Wingdings" pitchFamily="2" charset="2"/>
              <a:buChar char="n"/>
              <a:defRPr sz="28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80000"/>
              <a:buFont typeface="Wingdings" pitchFamily="2" charset="2"/>
              <a:buChar char="q"/>
              <a:defRPr sz="2400" b="1">
                <a:solidFill>
                  <a:schemeClr val="tx1"/>
                </a:solidFill>
                <a:latin typeface="+mn-lt"/>
              </a:defRPr>
            </a:lvl2pPr>
            <a:lvl3pPr marL="1022350" indent="-350838" algn="l" rtl="0" eaLnBrk="0" fontAlgn="base" hangingPunct="0">
              <a:spcBef>
                <a:spcPct val="20000"/>
              </a:spcBef>
              <a:spcAft>
                <a:spcPct val="0"/>
              </a:spcAft>
              <a:buClr>
                <a:schemeClr val="accent1"/>
              </a:buClr>
              <a:buSzPct val="80000"/>
              <a:buFont typeface="Wingdings" pitchFamily="2" charset="2"/>
              <a:buChar char="n"/>
              <a:defRPr sz="2000" b="1">
                <a:solidFill>
                  <a:schemeClr val="tx1"/>
                </a:solidFill>
                <a:latin typeface="+mn-lt"/>
              </a:defRPr>
            </a:lvl3pPr>
            <a:lvl4pPr marL="1339850" indent="-315913" algn="l" rtl="0" eaLnBrk="0" fontAlgn="base" hangingPunct="0">
              <a:spcBef>
                <a:spcPct val="20000"/>
              </a:spcBef>
              <a:spcAft>
                <a:spcPct val="0"/>
              </a:spcAft>
              <a:buClr>
                <a:schemeClr val="accent2"/>
              </a:buClr>
              <a:buSzPct val="80000"/>
              <a:buFont typeface="Wingdings" pitchFamily="2" charset="2"/>
              <a:buChar char="q"/>
              <a:defRPr b="1">
                <a:solidFill>
                  <a:schemeClr val="tx1"/>
                </a:solidFill>
                <a:latin typeface="+mn-lt"/>
              </a:defRPr>
            </a:lvl4pPr>
            <a:lvl5pPr marL="1681163" indent="-339725" algn="l" rtl="0" eaLnBrk="0" fontAlgn="base" hangingPunct="0">
              <a:spcBef>
                <a:spcPct val="20000"/>
              </a:spcBef>
              <a:spcAft>
                <a:spcPct val="0"/>
              </a:spcAft>
              <a:buClr>
                <a:schemeClr val="accent1"/>
              </a:buClr>
              <a:buSzPct val="80000"/>
              <a:buFont typeface="Wingdings" pitchFamily="2" charset="2"/>
              <a:buChar char="§"/>
              <a:defRPr sz="1600" b="1">
                <a:solidFill>
                  <a:schemeClr val="tx1"/>
                </a:solidFill>
                <a:latin typeface="+mn-lt"/>
              </a:defRPr>
            </a:lvl5pPr>
            <a:lvl6pPr marL="21383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6pPr>
            <a:lvl7pPr marL="25955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7pPr>
            <a:lvl8pPr marL="30527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8pPr>
            <a:lvl9pPr marL="3509963" indent="-339725" algn="l" rtl="0" fontAlgn="base">
              <a:spcBef>
                <a:spcPct val="20000"/>
              </a:spcBef>
              <a:spcAft>
                <a:spcPct val="0"/>
              </a:spcAft>
              <a:buClr>
                <a:schemeClr val="accent1"/>
              </a:buClr>
              <a:buSzPct val="80000"/>
              <a:buFont typeface="Wingdings" pitchFamily="2" charset="2"/>
              <a:buChar char="§"/>
              <a:defRPr sz="1600" b="1">
                <a:solidFill>
                  <a:schemeClr val="tx1"/>
                </a:solidFill>
                <a:latin typeface="+mn-lt"/>
              </a:defRPr>
            </a:lvl9pPr>
          </a:lstStyle>
          <a:p>
            <a:pPr marL="0" indent="0" eaLnBrk="1" fontAlgn="auto" hangingPunct="1">
              <a:spcBef>
                <a:spcPts val="0"/>
              </a:spcBef>
              <a:spcAft>
                <a:spcPts val="0"/>
              </a:spcAft>
              <a:buClrTx/>
              <a:buSzPct val="125000"/>
              <a:buNone/>
            </a:pPr>
            <a:r>
              <a:rPr lang="en-US" sz="1800" dirty="0">
                <a:solidFill>
                  <a:prstClr val="black"/>
                </a:solidFill>
                <a:latin typeface="Calibri"/>
                <a:cs typeface="Arial" panose="020B0604020202020204" pitchFamily="34" charset="0"/>
              </a:rPr>
              <a:t>Tips:</a:t>
            </a:r>
          </a:p>
          <a:p>
            <a:pPr marL="214313" indent="-214313" eaLnBrk="1" fontAlgn="auto" hangingPunct="1">
              <a:spcBef>
                <a:spcPts val="0"/>
              </a:spcBef>
              <a:spcAft>
                <a:spcPts val="0"/>
              </a:spcAft>
              <a:buClrTx/>
              <a:buSzPct val="125000"/>
              <a:buFont typeface="Calibri" panose="020F0502020204030204" pitchFamily="34" charset="0"/>
              <a:buChar char="•"/>
            </a:pPr>
            <a:endParaRPr lang="en-US" sz="900" b="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800" b="0" dirty="0">
                <a:solidFill>
                  <a:prstClr val="black"/>
                </a:solidFill>
                <a:latin typeface="Calibri"/>
                <a:cs typeface="Arial" panose="020B0604020202020204" pitchFamily="34" charset="0"/>
              </a:rPr>
              <a:t>Includes your entire career; recency is important to receive full credit</a:t>
            </a:r>
          </a:p>
          <a:p>
            <a:pPr marL="214313" indent="-214313" eaLnBrk="1" fontAlgn="auto" hangingPunct="1">
              <a:spcBef>
                <a:spcPts val="0"/>
              </a:spcBef>
              <a:spcAft>
                <a:spcPts val="0"/>
              </a:spcAft>
              <a:buClrTx/>
              <a:buSzPct val="125000"/>
              <a:buFont typeface="Calibri" panose="020F0502020204030204" pitchFamily="34" charset="0"/>
              <a:buChar char="•"/>
            </a:pPr>
            <a:endParaRPr lang="en-US" sz="18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800" dirty="0">
                <a:solidFill>
                  <a:prstClr val="black"/>
                </a:solidFill>
                <a:latin typeface="Calibri"/>
                <a:cs typeface="Arial" panose="020B0604020202020204" pitchFamily="34" charset="0"/>
              </a:rPr>
              <a:t>Discuss how your work is:</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dirty="0">
                <a:solidFill>
                  <a:prstClr val="black"/>
                </a:solidFill>
                <a:latin typeface="Calibri"/>
                <a:cs typeface="Arial" panose="020B0604020202020204" pitchFamily="34" charset="0"/>
              </a:rPr>
              <a:t>Changing the way people think or act</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dirty="0">
                <a:solidFill>
                  <a:prstClr val="black"/>
                </a:solidFill>
                <a:latin typeface="Calibri"/>
                <a:cs typeface="Arial" panose="020B0604020202020204" pitchFamily="34" charset="0"/>
              </a:rPr>
              <a:t>Advancing scientific understanding</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dirty="0">
                <a:solidFill>
                  <a:prstClr val="black"/>
                </a:solidFill>
                <a:latin typeface="Calibri"/>
                <a:cs typeface="Arial" panose="020B0604020202020204" pitchFamily="34" charset="0"/>
              </a:rPr>
              <a:t>Advancing the USGS and DOI Mission</a:t>
            </a:r>
          </a:p>
          <a:p>
            <a:pPr marL="459581" lvl="1" indent="-214313" eaLnBrk="1" fontAlgn="auto" hangingPunct="1">
              <a:spcBef>
                <a:spcPts val="0"/>
              </a:spcBef>
              <a:spcAft>
                <a:spcPts val="0"/>
              </a:spcAft>
              <a:buClrTx/>
              <a:buSzPct val="125000"/>
              <a:buFont typeface="Calibri" panose="020F0502020204030204" pitchFamily="34" charset="0"/>
              <a:buChar char="•"/>
            </a:pPr>
            <a:r>
              <a:rPr lang="en-US" sz="1600" dirty="0">
                <a:solidFill>
                  <a:prstClr val="black"/>
                </a:solidFill>
                <a:latin typeface="Calibri"/>
                <a:cs typeface="Arial" panose="020B0604020202020204" pitchFamily="34" charset="0"/>
              </a:rPr>
              <a:t>Protecting and advancing the health, safety, economic vitality, or ecological integrity of society</a:t>
            </a:r>
          </a:p>
          <a:p>
            <a:pPr marL="0" indent="0" eaLnBrk="1" fontAlgn="auto" hangingPunct="1">
              <a:spcBef>
                <a:spcPts val="0"/>
              </a:spcBef>
              <a:spcAft>
                <a:spcPts val="0"/>
              </a:spcAft>
              <a:buClrTx/>
              <a:buSzPct val="125000"/>
              <a:buNone/>
            </a:pPr>
            <a:endParaRPr lang="en-US" sz="1800" b="0" dirty="0">
              <a:solidFill>
                <a:prstClr val="black"/>
              </a:solidFill>
              <a:latin typeface="Calibri"/>
              <a:cs typeface="Arial" panose="020B0604020202020204" pitchFamily="34" charset="0"/>
            </a:endParaRPr>
          </a:p>
          <a:p>
            <a:pPr marL="0" indent="0" eaLnBrk="1" fontAlgn="auto" hangingPunct="1">
              <a:spcBef>
                <a:spcPts val="0"/>
              </a:spcBef>
              <a:spcAft>
                <a:spcPts val="0"/>
              </a:spcAft>
              <a:buClrTx/>
              <a:buSzPct val="125000"/>
              <a:buNone/>
            </a:pPr>
            <a:endParaRPr lang="en-US" sz="1800" b="0" dirty="0">
              <a:solidFill>
                <a:prstClr val="black"/>
              </a:solidFill>
              <a:latin typeface="Calibri"/>
              <a:cs typeface="Arial" panose="020B0604020202020204" pitchFamily="34" charset="0"/>
            </a:endParaRPr>
          </a:p>
          <a:p>
            <a:endParaRPr lang="en-US" kern="0"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15</a:t>
            </a:fld>
            <a:endParaRPr lang="en-US" altLang="en-US"/>
          </a:p>
        </p:txBody>
      </p:sp>
    </p:spTree>
    <p:extLst>
      <p:ext uri="{BB962C8B-B14F-4D97-AF65-F5344CB8AC3E}">
        <p14:creationId xmlns:p14="http://schemas.microsoft.com/office/powerpoint/2010/main" val="2438278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defRPr/>
            </a:pPr>
            <a:r>
              <a:rPr lang="en-US" dirty="0"/>
              <a:t>Focus on Impacts</a:t>
            </a:r>
          </a:p>
        </p:txBody>
      </p:sp>
      <p:sp>
        <p:nvSpPr>
          <p:cNvPr id="6" name="Content Placeholder 5">
            <a:extLst>
              <a:ext uri="{FF2B5EF4-FFF2-40B4-BE49-F238E27FC236}">
                <a16:creationId xmlns:a16="http://schemas.microsoft.com/office/drawing/2014/main" id="{33623A4C-ED90-40C3-A409-3806D274C40B}"/>
              </a:ext>
            </a:extLst>
          </p:cNvPr>
          <p:cNvSpPr>
            <a:spLocks noGrp="1"/>
          </p:cNvSpPr>
          <p:nvPr>
            <p:ph idx="1"/>
          </p:nvPr>
        </p:nvSpPr>
        <p:spPr/>
        <p:txBody>
          <a:bodyPr/>
          <a:lstStyle/>
          <a:p>
            <a:pPr>
              <a:spcAft>
                <a:spcPts val="1200"/>
              </a:spcAft>
              <a:defRPr/>
            </a:pPr>
            <a:r>
              <a:rPr lang="en-US" sz="2000" b="0" dirty="0"/>
              <a:t>Former tendency for panels to over-rely on numbers of publications and reputation of outlets</a:t>
            </a:r>
          </a:p>
          <a:p>
            <a:pPr>
              <a:spcAft>
                <a:spcPts val="1200"/>
              </a:spcAft>
              <a:defRPr/>
            </a:pPr>
            <a:r>
              <a:rPr lang="en-US" sz="2000" b="0" dirty="0"/>
              <a:t>Panels consider all scoring criteria, not just publications</a:t>
            </a:r>
          </a:p>
          <a:p>
            <a:pPr>
              <a:spcAft>
                <a:spcPts val="1200"/>
              </a:spcAft>
              <a:defRPr/>
            </a:pPr>
            <a:r>
              <a:rPr lang="en-US" sz="2000" b="0" dirty="0"/>
              <a:t>Panels consider both impact and outputs</a:t>
            </a:r>
          </a:p>
          <a:p>
            <a:pPr marL="0" indent="0">
              <a:buNone/>
              <a:defRPr/>
            </a:pPr>
            <a:endParaRPr lang="en-US" b="0" dirty="0"/>
          </a:p>
        </p:txBody>
      </p:sp>
      <p:sp>
        <p:nvSpPr>
          <p:cNvPr id="5" name="Slide Number Placeholder 4">
            <a:extLst>
              <a:ext uri="{FF2B5EF4-FFF2-40B4-BE49-F238E27FC236}">
                <a16:creationId xmlns:a16="http://schemas.microsoft.com/office/drawing/2014/main" id="{32C190A0-8798-419F-8B0E-BE29A234482B}"/>
              </a:ext>
            </a:extLst>
          </p:cNvPr>
          <p:cNvSpPr>
            <a:spLocks noGrp="1"/>
          </p:cNvSpPr>
          <p:nvPr>
            <p:ph type="sldNum" sz="quarter" idx="10"/>
          </p:nvPr>
        </p:nvSpPr>
        <p:spPr/>
        <p:txBody>
          <a:bodyPr/>
          <a:lstStyle/>
          <a:p>
            <a:pPr>
              <a:defRPr/>
            </a:pPr>
            <a:fld id="{7916C709-DE7C-48B2-9FF3-7E1AF6E49BCB}" type="slidenum">
              <a:rPr lang="en-US" altLang="en-US" smtClean="0"/>
              <a:pPr>
                <a:defRPr/>
              </a:pPr>
              <a:t>16</a:t>
            </a:fld>
            <a:endParaRPr lang="en-US" altLang="en-US"/>
          </a:p>
        </p:txBody>
      </p:sp>
    </p:spTree>
    <p:extLst>
      <p:ext uri="{BB962C8B-B14F-4D97-AF65-F5344CB8AC3E}">
        <p14:creationId xmlns:p14="http://schemas.microsoft.com/office/powerpoint/2010/main" val="3869048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Significant Contributions</a:t>
            </a:r>
          </a:p>
        </p:txBody>
      </p:sp>
      <p:sp>
        <p:nvSpPr>
          <p:cNvPr id="3" name="Content Placeholder 2"/>
          <p:cNvSpPr>
            <a:spLocks noGrp="1"/>
          </p:cNvSpPr>
          <p:nvPr>
            <p:ph idx="1"/>
          </p:nvPr>
        </p:nvSpPr>
        <p:spPr>
          <a:xfrm>
            <a:off x="457199" y="914400"/>
            <a:ext cx="8229600" cy="3543300"/>
          </a:xfrm>
        </p:spPr>
        <p:txBody>
          <a:bodyPr/>
          <a:lstStyle/>
          <a:p>
            <a:pPr marL="0" indent="0">
              <a:lnSpc>
                <a:spcPct val="107000"/>
              </a:lnSpc>
              <a:spcBef>
                <a:spcPts val="0"/>
              </a:spcBef>
              <a:spcAft>
                <a:spcPts val="0"/>
              </a:spcAft>
              <a:buNone/>
            </a:pPr>
            <a:r>
              <a:rPr lang="en-US" b="0" dirty="0"/>
              <a:t>Should help panel assess your </a:t>
            </a:r>
            <a:r>
              <a:rPr lang="en-US" dirty="0"/>
              <a:t>recent impact </a:t>
            </a:r>
            <a:r>
              <a:rPr lang="en-US" b="0" dirty="0"/>
              <a:t>and </a:t>
            </a:r>
            <a:r>
              <a:rPr lang="en-US" dirty="0"/>
              <a:t>major career achievements</a:t>
            </a:r>
          </a:p>
          <a:p>
            <a:pPr lvl="1" indent="-243840"/>
            <a:r>
              <a:rPr lang="en-US" b="0" dirty="0"/>
              <a:t>May be publications, datasets, scientific tools, patent, code, presentations, testimony, strategic planning, and special assignments.</a:t>
            </a:r>
            <a:endParaRPr lang="en-US" b="0" dirty="0">
              <a:cs typeface="Arial"/>
            </a:endParaRPr>
          </a:p>
          <a:p>
            <a:r>
              <a:rPr lang="en-US" b="0" dirty="0"/>
              <a:t>Avoid in-press publications (impact is uncertain)</a:t>
            </a:r>
            <a:endParaRPr lang="en-US" b="0" dirty="0">
              <a:cs typeface="Arial"/>
            </a:endParaRPr>
          </a:p>
          <a:p>
            <a:r>
              <a:rPr lang="en-US" b="0" dirty="0"/>
              <a:t>Background, Role, Results, Impact</a:t>
            </a:r>
            <a:endParaRPr lang="en-US" b="0" dirty="0">
              <a:cs typeface="Arial"/>
            </a:endParaRPr>
          </a:p>
          <a:p>
            <a:r>
              <a:rPr lang="en-US" b="0" dirty="0"/>
              <a:t>Use concise, plain language</a:t>
            </a:r>
            <a:endParaRPr lang="en-US" b="0" dirty="0">
              <a:cs typeface="Arial"/>
            </a:endParaRPr>
          </a:p>
          <a:p>
            <a:r>
              <a:rPr lang="en-US" b="0" dirty="0"/>
              <a:t>Pre-USGS publications OK</a:t>
            </a:r>
            <a:endParaRPr lang="en-US" b="0" dirty="0">
              <a:cs typeface="Arial"/>
            </a:endParaRPr>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17</a:t>
            </a:fld>
            <a:endParaRPr lang="en-US" altLang="en-US"/>
          </a:p>
        </p:txBody>
      </p:sp>
    </p:spTree>
    <p:extLst>
      <p:ext uri="{BB962C8B-B14F-4D97-AF65-F5344CB8AC3E}">
        <p14:creationId xmlns:p14="http://schemas.microsoft.com/office/powerpoint/2010/main" val="2007377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Length Limits for Narratives</a:t>
            </a:r>
          </a:p>
        </p:txBody>
      </p:sp>
      <p:sp>
        <p:nvSpPr>
          <p:cNvPr id="3" name="Content Placeholder 2"/>
          <p:cNvSpPr>
            <a:spLocks noGrp="1"/>
          </p:cNvSpPr>
          <p:nvPr>
            <p:ph idx="1"/>
          </p:nvPr>
        </p:nvSpPr>
        <p:spPr/>
        <p:txBody>
          <a:bodyPr/>
          <a:lstStyle/>
          <a:p>
            <a:pPr marL="0" indent="0">
              <a:buNone/>
              <a:tabLst>
                <a:tab pos="1887141" algn="l"/>
                <a:tab pos="3429000" algn="l"/>
              </a:tabLst>
            </a:pPr>
            <a:endParaRPr lang="en-US" sz="1800"/>
          </a:p>
          <a:p>
            <a:pPr marL="257810" lvl="1" indent="0">
              <a:buNone/>
            </a:pPr>
            <a:endParaRPr lang="en-US">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endParaRPr lang="en-US" sz="1500">
              <a:cs typeface="Arial"/>
            </a:endParaRPr>
          </a:p>
          <a:p>
            <a:pPr marL="257810" lvl="1" indent="0">
              <a:buNone/>
            </a:pPr>
            <a:r>
              <a:rPr lang="en-US" sz="1500"/>
              <a:t> 	</a:t>
            </a:r>
            <a:endParaRPr lang="en-US" sz="1500">
              <a:cs typeface="Arial"/>
            </a:endParaRPr>
          </a:p>
          <a:p>
            <a:r>
              <a:rPr lang="en-US" sz="1800" b="0"/>
              <a:t>Including spaces</a:t>
            </a:r>
            <a:endParaRPr lang="en-US" sz="1800" b="0">
              <a:cs typeface="Arial"/>
            </a:endParaRPr>
          </a:p>
          <a:p>
            <a:r>
              <a:rPr lang="en-US" sz="1800" b="0"/>
              <a:t>These are </a:t>
            </a:r>
            <a:r>
              <a:rPr lang="en-US" sz="1800"/>
              <a:t>LIMITS</a:t>
            </a:r>
            <a:r>
              <a:rPr lang="en-US" sz="1800" b="0"/>
              <a:t>, not targets</a:t>
            </a:r>
            <a:endParaRPr lang="en-US" sz="1800" b="0">
              <a:cs typeface="Arial"/>
            </a:endParaRPr>
          </a:p>
          <a:p>
            <a:endParaRPr lang="en-US" sz="1500"/>
          </a:p>
          <a:p>
            <a:pPr marL="0" indent="0">
              <a:buNone/>
            </a:pPr>
            <a:endParaRPr lang="en-US"/>
          </a:p>
        </p:txBody>
      </p:sp>
      <p:graphicFrame>
        <p:nvGraphicFramePr>
          <p:cNvPr id="8" name="Table 7">
            <a:extLst>
              <a:ext uri="{FF2B5EF4-FFF2-40B4-BE49-F238E27FC236}">
                <a16:creationId xmlns:a16="http://schemas.microsoft.com/office/drawing/2014/main" id="{198BF923-B5EA-4C34-A5CA-4FB35121B7FD}"/>
              </a:ext>
            </a:extLst>
          </p:cNvPr>
          <p:cNvGraphicFramePr>
            <a:graphicFrameLocks noGrp="1"/>
          </p:cNvGraphicFramePr>
          <p:nvPr>
            <p:extLst>
              <p:ext uri="{D42A27DB-BD31-4B8C-83A1-F6EECF244321}">
                <p14:modId xmlns:p14="http://schemas.microsoft.com/office/powerpoint/2010/main" val="1099265621"/>
              </p:ext>
            </p:extLst>
          </p:nvPr>
        </p:nvGraphicFramePr>
        <p:xfrm>
          <a:off x="1485900" y="971550"/>
          <a:ext cx="6172200" cy="2737096"/>
        </p:xfrm>
        <a:graphic>
          <a:graphicData uri="http://schemas.openxmlformats.org/drawingml/2006/table">
            <a:tbl>
              <a:tblPr firstRow="1">
                <a:tableStyleId>{5C22544A-7EE6-4342-B048-85BDC9FD1C3A}</a:tableStyleId>
              </a:tblPr>
              <a:tblGrid>
                <a:gridCol w="1714500">
                  <a:extLst>
                    <a:ext uri="{9D8B030D-6E8A-4147-A177-3AD203B41FA5}">
                      <a16:colId xmlns:a16="http://schemas.microsoft.com/office/drawing/2014/main" val="3159968227"/>
                    </a:ext>
                  </a:extLst>
                </a:gridCol>
                <a:gridCol w="2062976">
                  <a:extLst>
                    <a:ext uri="{9D8B030D-6E8A-4147-A177-3AD203B41FA5}">
                      <a16:colId xmlns:a16="http://schemas.microsoft.com/office/drawing/2014/main" val="1838495457"/>
                    </a:ext>
                  </a:extLst>
                </a:gridCol>
                <a:gridCol w="2394724">
                  <a:extLst>
                    <a:ext uri="{9D8B030D-6E8A-4147-A177-3AD203B41FA5}">
                      <a16:colId xmlns:a16="http://schemas.microsoft.com/office/drawing/2014/main" val="2083447156"/>
                    </a:ext>
                  </a:extLst>
                </a:gridCol>
              </a:tblGrid>
              <a:tr h="342137">
                <a:tc>
                  <a:txBody>
                    <a:bodyPr/>
                    <a:lstStyle/>
                    <a:p>
                      <a:pPr algn="l" rtl="0" fontAlgn="ctr"/>
                      <a:r>
                        <a:rPr lang="en-US" sz="1500" b="1" i="0" u="none" strike="noStrike">
                          <a:solidFill>
                            <a:srgbClr val="000000"/>
                          </a:solidFill>
                          <a:effectLst/>
                          <a:latin typeface="Arial"/>
                        </a:rPr>
                        <a:t>RSR/DSR Section</a:t>
                      </a:r>
                    </a:p>
                  </a:txBody>
                  <a:tcPr marL="7144" marR="7144" marT="7144" marB="0" anchor="ctr"/>
                </a:tc>
                <a:tc>
                  <a:txBody>
                    <a:bodyPr/>
                    <a:lstStyle/>
                    <a:p>
                      <a:pPr algn="l" rtl="0" fontAlgn="ctr"/>
                      <a:r>
                        <a:rPr lang="en-US" sz="1500" b="1" i="0" u="none" strike="noStrike">
                          <a:solidFill>
                            <a:srgbClr val="000000"/>
                          </a:solidFill>
                          <a:effectLst/>
                          <a:latin typeface="Arial" panose="020B0604020202020204" pitchFamily="34" charset="0"/>
                        </a:rPr>
                        <a:t>Characters Allowed</a:t>
                      </a:r>
                    </a:p>
                  </a:txBody>
                  <a:tcPr marL="7144" marR="7144" marT="7144" marB="0" anchor="ctr"/>
                </a:tc>
                <a:tc>
                  <a:txBody>
                    <a:bodyPr/>
                    <a:lstStyle/>
                    <a:p>
                      <a:pPr algn="l" rtl="0" fontAlgn="ctr"/>
                      <a:r>
                        <a:rPr lang="en-US" sz="1500" b="1" i="0" u="none" strike="noStrike">
                          <a:solidFill>
                            <a:srgbClr val="000000"/>
                          </a:solidFill>
                          <a:effectLst/>
                          <a:latin typeface="Arial" panose="020B0604020202020204" pitchFamily="34" charset="0"/>
                        </a:rPr>
                        <a:t>Page Length</a:t>
                      </a:r>
                    </a:p>
                  </a:txBody>
                  <a:tcPr marL="7144" marR="7144" marT="7144" marB="0" anchor="ctr"/>
                </a:tc>
                <a:extLst>
                  <a:ext uri="{0D108BD9-81ED-4DB2-BD59-A6C34878D82A}">
                    <a16:rowId xmlns:a16="http://schemas.microsoft.com/office/drawing/2014/main" val="2730491859"/>
                  </a:ext>
                </a:extLst>
              </a:tr>
              <a:tr h="342137">
                <a:tc>
                  <a:txBody>
                    <a:bodyPr/>
                    <a:lstStyle/>
                    <a:p>
                      <a:pPr algn="l" rtl="0" fontAlgn="ctr"/>
                      <a:r>
                        <a:rPr lang="en-US" sz="1500" u="none" strike="noStrike">
                          <a:effectLst/>
                        </a:rPr>
                        <a:t>Res./Dev. Env.:</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2,500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(~3/4 page)</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891881094"/>
                  </a:ext>
                </a:extLst>
              </a:tr>
              <a:tr h="342137">
                <a:tc>
                  <a:txBody>
                    <a:bodyPr/>
                    <a:lstStyle/>
                    <a:p>
                      <a:pPr algn="l" rtl="0" fontAlgn="ctr"/>
                      <a:r>
                        <a:rPr lang="en-US" sz="1500" u="none" strike="noStrike">
                          <a:effectLst/>
                        </a:rPr>
                        <a:t>Factor 1:</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7,000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(~2 pages)</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795232718"/>
                  </a:ext>
                </a:extLst>
              </a:tr>
              <a:tr h="342137">
                <a:tc>
                  <a:txBody>
                    <a:bodyPr/>
                    <a:lstStyle/>
                    <a:p>
                      <a:pPr algn="l" rtl="0" fontAlgn="ctr"/>
                      <a:r>
                        <a:rPr lang="en-US" sz="1500" u="none" strike="noStrike">
                          <a:effectLst/>
                        </a:rPr>
                        <a:t>Factor 2:</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3,500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(~1 page)</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3498754935"/>
                  </a:ext>
                </a:extLst>
              </a:tr>
              <a:tr h="342137">
                <a:tc>
                  <a:txBody>
                    <a:bodyPr/>
                    <a:lstStyle/>
                    <a:p>
                      <a:pPr algn="l" rtl="0" fontAlgn="ctr"/>
                      <a:r>
                        <a:rPr lang="en-US" sz="1500" u="none" strike="noStrike">
                          <a:effectLst/>
                        </a:rPr>
                        <a:t>Factor 3:</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7,000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(~2 pages)</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738881707"/>
                  </a:ext>
                </a:extLst>
              </a:tr>
              <a:tr h="342137">
                <a:tc>
                  <a:txBody>
                    <a:bodyPr/>
                    <a:lstStyle/>
                    <a:p>
                      <a:pPr algn="l" rtl="0" fontAlgn="ctr"/>
                      <a:r>
                        <a:rPr lang="en-US" sz="1500" u="none" strike="noStrike">
                          <a:effectLst/>
                        </a:rPr>
                        <a:t>Factor 4:</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14,000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(~4 pages)</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2852046201"/>
                  </a:ext>
                </a:extLst>
              </a:tr>
              <a:tr h="342137">
                <a:tc>
                  <a:txBody>
                    <a:bodyPr/>
                    <a:lstStyle/>
                    <a:p>
                      <a:pPr algn="l" rtl="0" fontAlgn="ctr"/>
                      <a:r>
                        <a:rPr lang="en-US" sz="1500" u="none" strike="noStrike">
                          <a:effectLst/>
                        </a:rPr>
                        <a:t>Contributions:</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10,500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(~3 pages)</a:t>
                      </a:r>
                      <a:endParaRPr lang="en-US" sz="1500" b="1" i="0" u="none" strike="noStrike">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3307291921"/>
                  </a:ext>
                </a:extLst>
              </a:tr>
              <a:tr h="342137">
                <a:tc>
                  <a:txBody>
                    <a:bodyPr/>
                    <a:lstStyle/>
                    <a:p>
                      <a:pPr algn="l" rtl="0" fontAlgn="ctr"/>
                      <a:r>
                        <a:rPr lang="en-US" sz="1500" u="none" strike="noStrike">
                          <a:effectLst/>
                        </a:rPr>
                        <a:t>Total:</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a:effectLst/>
                        </a:rPr>
                        <a:t>44,500</a:t>
                      </a:r>
                      <a:endParaRPr lang="en-US" sz="1500" b="1" i="0" u="none" strike="noStrike">
                        <a:solidFill>
                          <a:srgbClr val="000000"/>
                        </a:solidFill>
                        <a:effectLst/>
                        <a:latin typeface="Arial" panose="020B0604020202020204" pitchFamily="34" charset="0"/>
                      </a:endParaRPr>
                    </a:p>
                  </a:txBody>
                  <a:tcPr marL="7144" marR="7144" marT="7144" marB="0" anchor="ctr"/>
                </a:tc>
                <a:tc>
                  <a:txBody>
                    <a:bodyPr/>
                    <a:lstStyle/>
                    <a:p>
                      <a:pPr algn="l" rtl="0" fontAlgn="ctr"/>
                      <a:r>
                        <a:rPr lang="en-US" sz="1500" u="none" strike="noStrike" dirty="0">
                          <a:effectLst/>
                        </a:rPr>
                        <a:t>(~12–13 pages)</a:t>
                      </a:r>
                      <a:endParaRPr lang="en-US" sz="1500" b="1" i="0" u="none" strike="noStrike" dirty="0">
                        <a:solidFill>
                          <a:srgbClr val="000000"/>
                        </a:solidFill>
                        <a:effectLst/>
                        <a:latin typeface="Arial" panose="020B0604020202020204" pitchFamily="34" charset="0"/>
                      </a:endParaRPr>
                    </a:p>
                  </a:txBody>
                  <a:tcPr marL="7144" marR="7144" marT="7144" marB="0" anchor="ctr"/>
                </a:tc>
                <a:extLst>
                  <a:ext uri="{0D108BD9-81ED-4DB2-BD59-A6C34878D82A}">
                    <a16:rowId xmlns:a16="http://schemas.microsoft.com/office/drawing/2014/main" val="1855594834"/>
                  </a:ext>
                </a:extLst>
              </a:tr>
            </a:tbl>
          </a:graphicData>
        </a:graphic>
      </p:graphicFrame>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18</a:t>
            </a:fld>
            <a:endParaRPr lang="en-US" altLang="en-US"/>
          </a:p>
        </p:txBody>
      </p:sp>
    </p:spTree>
    <p:extLst>
      <p:ext uri="{BB962C8B-B14F-4D97-AF65-F5344CB8AC3E}">
        <p14:creationId xmlns:p14="http://schemas.microsoft.com/office/powerpoint/2010/main" val="3951795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Supporting Information (slide 1)</a:t>
            </a:r>
          </a:p>
        </p:txBody>
      </p:sp>
      <p:sp>
        <p:nvSpPr>
          <p:cNvPr id="3" name="Content Placeholder 2"/>
          <p:cNvSpPr>
            <a:spLocks noGrp="1"/>
          </p:cNvSpPr>
          <p:nvPr>
            <p:ph idx="1"/>
          </p:nvPr>
        </p:nvSpPr>
        <p:spPr>
          <a:xfrm>
            <a:off x="457200" y="836023"/>
            <a:ext cx="8229599" cy="3701143"/>
          </a:xfrm>
        </p:spPr>
        <p:txBody>
          <a:bodyPr/>
          <a:lstStyle/>
          <a:p>
            <a:pPr marL="0" indent="0">
              <a:spcAft>
                <a:spcPts val="450"/>
              </a:spcAft>
              <a:buNone/>
            </a:pPr>
            <a:r>
              <a:rPr lang="en-US" sz="1800" b="0" dirty="0"/>
              <a:t>A. Current and Recent Projects </a:t>
            </a:r>
            <a:r>
              <a:rPr lang="en-US" sz="1600" b="0" dirty="0"/>
              <a:t>(brief descriptions)</a:t>
            </a:r>
          </a:p>
          <a:p>
            <a:pPr marL="0" indent="0">
              <a:spcAft>
                <a:spcPts val="0"/>
              </a:spcAft>
              <a:buNone/>
            </a:pPr>
            <a:r>
              <a:rPr lang="en-US" sz="1800" b="0" dirty="0"/>
              <a:t>B. Bibliography</a:t>
            </a:r>
            <a:endParaRPr lang="en-US" sz="1800" b="0" dirty="0">
              <a:cs typeface="Arial"/>
            </a:endParaRPr>
          </a:p>
          <a:p>
            <a:pPr marL="461963" lvl="1" indent="0">
              <a:spcBef>
                <a:spcPts val="0"/>
              </a:spcBef>
              <a:spcAft>
                <a:spcPts val="0"/>
              </a:spcAft>
              <a:buNone/>
            </a:pPr>
            <a:r>
              <a:rPr lang="en-US" sz="1350" b="0" i="1" dirty="0"/>
              <a:t>Published products</a:t>
            </a:r>
            <a:endParaRPr lang="en-US" sz="1350" b="0" i="1" dirty="0">
              <a:cs typeface="Arial"/>
            </a:endParaRPr>
          </a:p>
          <a:p>
            <a:pPr marL="461963" lvl="1" indent="0">
              <a:spcBef>
                <a:spcPts val="0"/>
              </a:spcBef>
              <a:spcAft>
                <a:spcPts val="0"/>
              </a:spcAft>
              <a:buNone/>
            </a:pPr>
            <a:r>
              <a:rPr lang="en-US" sz="1350" b="0" i="1" dirty="0"/>
              <a:t>Products approved for publication (have BAO approval)</a:t>
            </a:r>
            <a:endParaRPr lang="en-US" sz="1350" b="0" i="1" dirty="0">
              <a:cs typeface="Arial"/>
            </a:endParaRPr>
          </a:p>
          <a:p>
            <a:pPr marL="461963" lvl="1" indent="0">
              <a:spcBef>
                <a:spcPts val="0"/>
              </a:spcBef>
              <a:spcAft>
                <a:spcPts val="0"/>
              </a:spcAft>
              <a:buNone/>
            </a:pPr>
            <a:r>
              <a:rPr lang="en-US" sz="1350" b="0" i="1" dirty="0"/>
              <a:t>Unpublished technical reports</a:t>
            </a:r>
            <a:endParaRPr lang="en-US" sz="1350" b="0" i="1" dirty="0">
              <a:cs typeface="Arial"/>
            </a:endParaRPr>
          </a:p>
          <a:p>
            <a:pPr marL="461963" lvl="1" indent="0">
              <a:spcBef>
                <a:spcPts val="0"/>
              </a:spcBef>
              <a:spcAft>
                <a:spcPts val="400"/>
              </a:spcAft>
              <a:buNone/>
            </a:pPr>
            <a:r>
              <a:rPr lang="en-US" sz="1350" b="0" i="1" dirty="0"/>
              <a:t>Submitted manuscripts</a:t>
            </a:r>
            <a:endParaRPr lang="en-US" sz="1350" b="0" i="1" dirty="0">
              <a:cs typeface="Arial"/>
            </a:endParaRPr>
          </a:p>
          <a:p>
            <a:pPr marL="216694" indent="0">
              <a:spcBef>
                <a:spcPts val="0"/>
              </a:spcBef>
              <a:spcAft>
                <a:spcPts val="0"/>
              </a:spcAft>
              <a:buNone/>
            </a:pPr>
            <a:r>
              <a:rPr lang="en-US" sz="1350" b="0" dirty="0"/>
              <a:t>include data releases; see Guidance</a:t>
            </a:r>
            <a:endParaRPr lang="en-US" sz="1350" b="0" dirty="0">
              <a:cs typeface="Arial"/>
            </a:endParaRPr>
          </a:p>
          <a:p>
            <a:pPr marL="216694" indent="0">
              <a:spcBef>
                <a:spcPts val="0"/>
              </a:spcBef>
              <a:spcAft>
                <a:spcPts val="0"/>
              </a:spcAft>
              <a:buNone/>
            </a:pPr>
            <a:r>
              <a:rPr lang="en-US" sz="1350" b="0" dirty="0"/>
              <a:t>include relative % contributions for Concept, Data, Interpretation, Writing; see Guidance</a:t>
            </a:r>
            <a:endParaRPr lang="en-US" sz="1350" b="0" dirty="0">
              <a:cs typeface="Arial"/>
            </a:endParaRPr>
          </a:p>
          <a:p>
            <a:pPr marL="0" indent="0">
              <a:spcAft>
                <a:spcPts val="0"/>
              </a:spcAft>
              <a:buNone/>
            </a:pPr>
            <a:r>
              <a:rPr lang="en-US" sz="1800" b="0" dirty="0"/>
              <a:t>C. Presentations </a:t>
            </a:r>
          </a:p>
          <a:p>
            <a:pPr marL="461963" lvl="1" indent="0">
              <a:spcBef>
                <a:spcPts val="0"/>
              </a:spcBef>
              <a:spcAft>
                <a:spcPts val="0"/>
              </a:spcAft>
              <a:buNone/>
            </a:pPr>
            <a:r>
              <a:rPr lang="en-US" sz="1350" b="0" i="1" dirty="0"/>
              <a:t> Invited or noteworthy (entire career)</a:t>
            </a:r>
          </a:p>
          <a:p>
            <a:pPr marL="457200" lvl="3" indent="0">
              <a:spcBef>
                <a:spcPts val="0"/>
              </a:spcBef>
              <a:spcAft>
                <a:spcPts val="0"/>
              </a:spcAft>
              <a:buNone/>
            </a:pPr>
            <a:r>
              <a:rPr lang="en-US" sz="1350" b="0" i="1" dirty="0"/>
              <a:t> Contributed presentations (last 10 years)</a:t>
            </a:r>
          </a:p>
          <a:p>
            <a:pPr marL="0" indent="0">
              <a:spcAft>
                <a:spcPts val="450"/>
              </a:spcAft>
              <a:buNone/>
            </a:pPr>
            <a:r>
              <a:rPr lang="en-US" sz="1800" b="0" dirty="0"/>
              <a:t>D. Professional and Scientific Service</a:t>
            </a:r>
            <a:endParaRPr lang="en-US" sz="1800" b="0" dirty="0">
              <a:cs typeface="Arial"/>
            </a:endParaRPr>
          </a:p>
          <a:p>
            <a:pPr marL="0" indent="0">
              <a:spcAft>
                <a:spcPts val="450"/>
              </a:spcAft>
              <a:buNone/>
            </a:pPr>
            <a:r>
              <a:rPr lang="en-US" sz="1800" b="0" dirty="0"/>
              <a:t>E. Academic Service</a:t>
            </a:r>
            <a:endParaRPr lang="en-US" sz="1800" b="0" dirty="0">
              <a:cs typeface="Arial"/>
            </a:endParaRPr>
          </a:p>
          <a:p>
            <a:pPr marL="0" indent="0">
              <a:buNone/>
            </a:pPr>
            <a:endParaRPr lang="en-US"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19</a:t>
            </a:fld>
            <a:endParaRPr lang="en-US" altLang="en-US"/>
          </a:p>
        </p:txBody>
      </p:sp>
    </p:spTree>
    <p:extLst>
      <p:ext uri="{BB962C8B-B14F-4D97-AF65-F5344CB8AC3E}">
        <p14:creationId xmlns:p14="http://schemas.microsoft.com/office/powerpoint/2010/main" val="3084318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Supporting Information (slide 2)</a:t>
            </a:r>
          </a:p>
        </p:txBody>
      </p:sp>
      <p:sp>
        <p:nvSpPr>
          <p:cNvPr id="3" name="Content Placeholder 2"/>
          <p:cNvSpPr>
            <a:spLocks noGrp="1"/>
          </p:cNvSpPr>
          <p:nvPr>
            <p:ph idx="1"/>
          </p:nvPr>
        </p:nvSpPr>
        <p:spPr>
          <a:xfrm>
            <a:off x="457199" y="862149"/>
            <a:ext cx="7541941" cy="3679773"/>
          </a:xfrm>
        </p:spPr>
        <p:txBody>
          <a:bodyPr/>
          <a:lstStyle/>
          <a:p>
            <a:pPr marL="0" indent="0">
              <a:spcAft>
                <a:spcPts val="450"/>
              </a:spcAft>
              <a:buNone/>
            </a:pPr>
            <a:r>
              <a:rPr lang="en-US" sz="1800" b="0" dirty="0"/>
              <a:t>F. Technical Training Provided</a:t>
            </a:r>
          </a:p>
          <a:p>
            <a:pPr marL="0" indent="0">
              <a:spcAft>
                <a:spcPts val="450"/>
              </a:spcAft>
              <a:buNone/>
            </a:pPr>
            <a:r>
              <a:rPr lang="en-US" sz="1800" b="0" dirty="0"/>
              <a:t>G. Awards and Recognition </a:t>
            </a:r>
            <a:r>
              <a:rPr lang="en-US" sz="1600" b="0" dirty="0"/>
              <a:t>(research- or development-related awards)</a:t>
            </a:r>
          </a:p>
          <a:p>
            <a:pPr marL="0" indent="0">
              <a:spcAft>
                <a:spcPts val="450"/>
              </a:spcAft>
              <a:buNone/>
            </a:pPr>
            <a:r>
              <a:rPr lang="en-US" sz="1800" b="0" dirty="0"/>
              <a:t>H. Special Assignments</a:t>
            </a:r>
          </a:p>
          <a:p>
            <a:pPr marL="0" indent="0">
              <a:spcAft>
                <a:spcPts val="450"/>
              </a:spcAft>
              <a:buNone/>
            </a:pPr>
            <a:r>
              <a:rPr lang="en-US" sz="1800" b="0" dirty="0"/>
              <a:t>I. Inventions and Patents**</a:t>
            </a:r>
          </a:p>
          <a:p>
            <a:pPr marL="0" indent="0">
              <a:spcAft>
                <a:spcPts val="450"/>
              </a:spcAft>
              <a:buNone/>
            </a:pPr>
            <a:r>
              <a:rPr lang="en-US" sz="1800" b="0" dirty="0"/>
              <a:t>J. Outreach and Media Coverage</a:t>
            </a:r>
          </a:p>
          <a:p>
            <a:pPr marL="0" indent="0">
              <a:spcAft>
                <a:spcPts val="450"/>
              </a:spcAft>
              <a:buNone/>
            </a:pPr>
            <a:r>
              <a:rPr lang="en-US" sz="1800" b="0" dirty="0"/>
              <a:t>K. Previous Professional Positions</a:t>
            </a:r>
          </a:p>
          <a:p>
            <a:pPr marL="0" indent="0">
              <a:spcAft>
                <a:spcPts val="450"/>
              </a:spcAft>
              <a:buNone/>
            </a:pPr>
            <a:r>
              <a:rPr lang="en-US" sz="1800" b="0" dirty="0"/>
              <a:t>L. Education**</a:t>
            </a:r>
          </a:p>
          <a:p>
            <a:pPr marL="0" indent="0">
              <a:spcBef>
                <a:spcPts val="1200"/>
              </a:spcBef>
              <a:spcAft>
                <a:spcPts val="450"/>
              </a:spcAft>
              <a:buNone/>
            </a:pPr>
            <a:r>
              <a:rPr lang="en-US" sz="1800" b="0" dirty="0"/>
              <a:t>External Impact Statements </a:t>
            </a:r>
            <a:r>
              <a:rPr lang="en-US" sz="1600" b="0" dirty="0"/>
              <a:t>(optional; see specific guidance)</a:t>
            </a:r>
          </a:p>
          <a:p>
            <a:pPr marL="0" indent="0">
              <a:spcAft>
                <a:spcPts val="450"/>
              </a:spcAft>
              <a:buNone/>
            </a:pPr>
            <a:r>
              <a:rPr lang="en-US" sz="1350" b="0" dirty="0"/>
              <a:t>** these sections differ between RGE and EDGE</a:t>
            </a:r>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20</a:t>
            </a:fld>
            <a:endParaRPr lang="en-US" altLang="en-US"/>
          </a:p>
        </p:txBody>
      </p:sp>
    </p:spTree>
    <p:extLst>
      <p:ext uri="{BB962C8B-B14F-4D97-AF65-F5344CB8AC3E}">
        <p14:creationId xmlns:p14="http://schemas.microsoft.com/office/powerpoint/2010/main" val="2366183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sz="half" idx="1"/>
          </p:nvPr>
        </p:nvSpPr>
        <p:spPr/>
        <p:txBody>
          <a:bodyPr/>
          <a:lstStyle/>
          <a:p>
            <a:pPr>
              <a:lnSpc>
                <a:spcPct val="107000"/>
              </a:lnSpc>
              <a:spcBef>
                <a:spcPts val="0"/>
              </a:spcBef>
              <a:spcAft>
                <a:spcPts val="0"/>
              </a:spcAft>
            </a:pPr>
            <a:r>
              <a:rPr lang="en-US" sz="1600" b="0" dirty="0">
                <a:solidFill>
                  <a:srgbClr val="000000"/>
                </a:solidFill>
                <a:ea typeface="Times New Roman" panose="02020603050405020304" pitchFamily="18" charset="0"/>
              </a:rPr>
              <a:t>Supervisor &amp; </a:t>
            </a:r>
            <a:r>
              <a:rPr lang="en-US" sz="1600" b="0" dirty="0">
                <a:solidFill>
                  <a:srgbClr val="000000"/>
                </a:solidFill>
                <a:ea typeface="Calibri" panose="020F0502020204030204" pitchFamily="34" charset="0"/>
              </a:rPr>
              <a:t>Center Director (required)</a:t>
            </a:r>
          </a:p>
          <a:p>
            <a:pPr>
              <a:lnSpc>
                <a:spcPct val="107000"/>
              </a:lnSpc>
              <a:spcBef>
                <a:spcPts val="0"/>
              </a:spcBef>
              <a:spcAft>
                <a:spcPts val="0"/>
              </a:spcAft>
            </a:pPr>
            <a:endParaRPr lang="en-US" sz="1600" b="0" dirty="0">
              <a:solidFill>
                <a:srgbClr val="000000"/>
              </a:solidFill>
              <a:ea typeface="Calibri" panose="020F0502020204030204" pitchFamily="34" charset="0"/>
            </a:endParaRPr>
          </a:p>
          <a:p>
            <a:pPr>
              <a:lnSpc>
                <a:spcPct val="107000"/>
              </a:lnSpc>
              <a:spcBef>
                <a:spcPts val="0"/>
              </a:spcBef>
              <a:spcAft>
                <a:spcPts val="0"/>
              </a:spcAft>
            </a:pPr>
            <a:r>
              <a:rPr lang="en-US" sz="1600" b="0" dirty="0">
                <a:solidFill>
                  <a:srgbClr val="000000"/>
                </a:solidFill>
                <a:ea typeface="Calibri" panose="020F0502020204030204" pitchFamily="34" charset="0"/>
              </a:rPr>
              <a:t>Panelists will contact at least 4</a:t>
            </a:r>
          </a:p>
          <a:p>
            <a:pPr lvl="1">
              <a:lnSpc>
                <a:spcPct val="107000"/>
              </a:lnSpc>
              <a:spcBef>
                <a:spcPts val="0"/>
              </a:spcBef>
              <a:spcAft>
                <a:spcPts val="0"/>
              </a:spcAft>
            </a:pPr>
            <a:r>
              <a:rPr lang="en-US" sz="1400" b="0" dirty="0">
                <a:solidFill>
                  <a:srgbClr val="000000"/>
                </a:solidFill>
                <a:ea typeface="Calibri" panose="020F0502020204030204" pitchFamily="34" charset="0"/>
              </a:rPr>
              <a:t>CD, Supervisor, and 2+</a:t>
            </a:r>
            <a:endParaRPr lang="en-US" sz="1400" b="0" dirty="0">
              <a:ea typeface="Calibri" panose="020F0502020204030204" pitchFamily="34" charset="0"/>
            </a:endParaRPr>
          </a:p>
          <a:p>
            <a:pPr>
              <a:lnSpc>
                <a:spcPct val="107000"/>
              </a:lnSpc>
              <a:spcBef>
                <a:spcPts val="0"/>
              </a:spcBef>
              <a:spcAft>
                <a:spcPts val="0"/>
              </a:spcAft>
            </a:pPr>
            <a:endParaRPr lang="en-US" sz="1500" b="0" dirty="0">
              <a:solidFill>
                <a:srgbClr val="000000"/>
              </a:solidFill>
              <a:ea typeface="Calibri" panose="020F0502020204030204" pitchFamily="34" charset="0"/>
            </a:endParaRPr>
          </a:p>
          <a:p>
            <a:pPr>
              <a:lnSpc>
                <a:spcPct val="107000"/>
              </a:lnSpc>
              <a:spcBef>
                <a:spcPts val="0"/>
              </a:spcBef>
              <a:spcAft>
                <a:spcPts val="0"/>
              </a:spcAft>
            </a:pPr>
            <a:r>
              <a:rPr lang="en-US" sz="1600" b="0" dirty="0">
                <a:solidFill>
                  <a:srgbClr val="000000"/>
                </a:solidFill>
                <a:ea typeface="Calibri" panose="020F0502020204030204" pitchFamily="34" charset="0"/>
              </a:rPr>
              <a:t>List </a:t>
            </a:r>
            <a:r>
              <a:rPr lang="en-US" sz="1600" dirty="0">
                <a:solidFill>
                  <a:srgbClr val="000000"/>
                </a:solidFill>
                <a:ea typeface="Calibri" panose="020F0502020204030204" pitchFamily="34" charset="0"/>
              </a:rPr>
              <a:t>at least 6 references </a:t>
            </a:r>
            <a:r>
              <a:rPr lang="en-US" sz="1600" b="0" dirty="0">
                <a:solidFill>
                  <a:srgbClr val="000000"/>
                </a:solidFill>
                <a:ea typeface="Calibri" panose="020F0502020204030204" pitchFamily="34" charset="0"/>
              </a:rPr>
              <a:t>and their specific professional relationship to you.</a:t>
            </a:r>
          </a:p>
          <a:p>
            <a:pPr lvl="1">
              <a:lnSpc>
                <a:spcPct val="107000"/>
              </a:lnSpc>
              <a:spcBef>
                <a:spcPts val="0"/>
              </a:spcBef>
              <a:spcAft>
                <a:spcPts val="0"/>
              </a:spcAft>
            </a:pPr>
            <a:r>
              <a:rPr lang="en-US" sz="1400" b="0" dirty="0">
                <a:solidFill>
                  <a:srgbClr val="000000"/>
                </a:solidFill>
                <a:ea typeface="Calibri" panose="020F0502020204030204" pitchFamily="34" charset="0"/>
              </a:rPr>
              <a:t>“Collaborator on wormhole project”</a:t>
            </a:r>
          </a:p>
          <a:p>
            <a:pPr lvl="1">
              <a:lnSpc>
                <a:spcPct val="107000"/>
              </a:lnSpc>
              <a:spcBef>
                <a:spcPts val="0"/>
              </a:spcBef>
              <a:spcAft>
                <a:spcPts val="0"/>
              </a:spcAft>
            </a:pPr>
            <a:r>
              <a:rPr lang="en-US" sz="1400" b="0" dirty="0">
                <a:solidFill>
                  <a:srgbClr val="000000"/>
                </a:solidFill>
                <a:ea typeface="Calibri" panose="020F0502020204030204" pitchFamily="34" charset="0"/>
              </a:rPr>
              <a:t>“End user of SPYDER model”</a:t>
            </a:r>
          </a:p>
          <a:p>
            <a:pPr lvl="1">
              <a:lnSpc>
                <a:spcPct val="107000"/>
              </a:lnSpc>
              <a:spcBef>
                <a:spcPts val="0"/>
              </a:spcBef>
              <a:spcAft>
                <a:spcPts val="0"/>
              </a:spcAft>
            </a:pPr>
            <a:endParaRPr lang="en-US" sz="1200" b="0" dirty="0">
              <a:solidFill>
                <a:srgbClr val="000000"/>
              </a:solidFill>
              <a:ea typeface="Calibri" panose="020F0502020204030204" pitchFamily="34" charset="0"/>
            </a:endParaRPr>
          </a:p>
          <a:p>
            <a:r>
              <a:rPr lang="en-US" sz="1600" b="0" dirty="0">
                <a:solidFill>
                  <a:srgbClr val="000000"/>
                </a:solidFill>
              </a:rPr>
              <a:t>Supervisor / CD turnover? </a:t>
            </a:r>
          </a:p>
          <a:p>
            <a:pPr lvl="1"/>
            <a:r>
              <a:rPr lang="en-US" sz="1400" b="0" dirty="0">
                <a:solidFill>
                  <a:srgbClr val="000000"/>
                </a:solidFill>
              </a:rPr>
              <a:t>Feel free to list both current and former with notes</a:t>
            </a:r>
          </a:p>
          <a:p>
            <a:pPr marL="0" indent="0">
              <a:buNone/>
            </a:pPr>
            <a:endParaRPr lang="en-US" b="0" dirty="0"/>
          </a:p>
          <a:p>
            <a:pPr marL="0" indent="0">
              <a:buNone/>
            </a:pPr>
            <a:endParaRPr lang="en-US" dirty="0"/>
          </a:p>
        </p:txBody>
      </p:sp>
      <p:sp>
        <p:nvSpPr>
          <p:cNvPr id="4" name="Content Placeholder 3">
            <a:extLst>
              <a:ext uri="{FF2B5EF4-FFF2-40B4-BE49-F238E27FC236}">
                <a16:creationId xmlns:a16="http://schemas.microsoft.com/office/drawing/2014/main" id="{71B29C58-46AA-416B-A36A-0A486D75BF03}"/>
              </a:ext>
            </a:extLst>
          </p:cNvPr>
          <p:cNvSpPr>
            <a:spLocks noGrp="1"/>
          </p:cNvSpPr>
          <p:nvPr>
            <p:ph sz="half" idx="2"/>
          </p:nvPr>
        </p:nvSpPr>
        <p:spPr>
          <a:solidFill>
            <a:schemeClr val="accent1">
              <a:lumMod val="20000"/>
              <a:lumOff val="80000"/>
            </a:schemeClr>
          </a:solidFill>
        </p:spPr>
        <p:txBody>
          <a:bodyPr/>
          <a:lstStyle/>
          <a:p>
            <a:pPr marL="214313"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panose="020B0604020202020204" pitchFamily="34" charset="0"/>
              </a:rPr>
              <a:t>Consider including a range of collaborators, cooperators, partners and people who have been impacted by your science.</a:t>
            </a:r>
          </a:p>
          <a:p>
            <a:pPr marL="214313" indent="-214313" eaLnBrk="1" fontAlgn="auto" hangingPunct="1">
              <a:spcBef>
                <a:spcPts val="0"/>
              </a:spcBef>
              <a:spcAft>
                <a:spcPts val="0"/>
              </a:spcAft>
              <a:buClrTx/>
              <a:buSzPct val="125000"/>
              <a:buFont typeface="Calibri" panose="020F0502020204030204" pitchFamily="34" charset="0"/>
              <a:buChar char="•"/>
            </a:pPr>
            <a:endParaRPr lang="en-US" sz="1600" b="0" kern="12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panose="020B0604020202020204" pitchFamily="34" charset="0"/>
              </a:rPr>
              <a:t>Recommend that you contact references prior to listing them. Consider sharing your documentation with them.</a:t>
            </a:r>
          </a:p>
          <a:p>
            <a:pPr marL="214313" indent="-214313" eaLnBrk="1" fontAlgn="auto" hangingPunct="1">
              <a:spcBef>
                <a:spcPts val="0"/>
              </a:spcBef>
              <a:spcAft>
                <a:spcPts val="0"/>
              </a:spcAft>
              <a:buClrTx/>
              <a:buSzPct val="125000"/>
              <a:buFont typeface="Calibri" panose="020F0502020204030204" pitchFamily="34" charset="0"/>
              <a:buChar char="•"/>
            </a:pPr>
            <a:endParaRPr lang="en-US" sz="1600" b="0" kern="1200" dirty="0">
              <a:solidFill>
                <a:prstClr val="black"/>
              </a:solidFill>
              <a:latin typeface="Calibri"/>
              <a:cs typeface="Arial" panose="020B0604020202020204" pitchFamily="34" charset="0"/>
            </a:endParaRPr>
          </a:p>
          <a:p>
            <a:pPr marL="214313" indent="-214313" eaLnBrk="1" fontAlgn="auto" hangingPunct="1">
              <a:spcBef>
                <a:spcPts val="0"/>
              </a:spcBef>
              <a:spcAft>
                <a:spcPts val="0"/>
              </a:spcAft>
              <a:buClrTx/>
              <a:buSzPct val="125000"/>
              <a:buFont typeface="Calibri" panose="020F0502020204030204" pitchFamily="34" charset="0"/>
              <a:buChar char="•"/>
            </a:pPr>
            <a:r>
              <a:rPr lang="en-US" sz="1600" b="0" kern="1200" dirty="0">
                <a:solidFill>
                  <a:prstClr val="black"/>
                </a:solidFill>
                <a:latin typeface="Calibri"/>
                <a:cs typeface="Arial" panose="020B0604020202020204" pitchFamily="34" charset="0"/>
              </a:rPr>
              <a:t>Panelists may contact people other than your references in certain situations.</a:t>
            </a:r>
          </a:p>
          <a:p>
            <a:endParaRPr lang="en-US" dirty="0"/>
          </a:p>
        </p:txBody>
      </p:sp>
      <p:sp>
        <p:nvSpPr>
          <p:cNvPr id="5" name="Slide Number Placeholder 4">
            <a:extLst>
              <a:ext uri="{FF2B5EF4-FFF2-40B4-BE49-F238E27FC236}">
                <a16:creationId xmlns:a16="http://schemas.microsoft.com/office/drawing/2014/main" id="{1AE7846E-6DF7-46B7-8BFF-8C6CE98C242C}"/>
              </a:ext>
            </a:extLst>
          </p:cNvPr>
          <p:cNvSpPr>
            <a:spLocks noGrp="1"/>
          </p:cNvSpPr>
          <p:nvPr>
            <p:ph type="sldNum" sz="quarter" idx="10"/>
          </p:nvPr>
        </p:nvSpPr>
        <p:spPr/>
        <p:txBody>
          <a:bodyPr/>
          <a:lstStyle/>
          <a:p>
            <a:pPr>
              <a:defRPr/>
            </a:pPr>
            <a:fld id="{7916C709-DE7C-48B2-9FF3-7E1AF6E49BCB}" type="slidenum">
              <a:rPr lang="en-US" altLang="en-US" smtClean="0"/>
              <a:pPr>
                <a:defRPr/>
              </a:pPr>
              <a:t>21</a:t>
            </a:fld>
            <a:endParaRPr lang="en-US" altLang="en-US"/>
          </a:p>
        </p:txBody>
      </p:sp>
    </p:spTree>
    <p:extLst>
      <p:ext uri="{BB962C8B-B14F-4D97-AF65-F5344CB8AC3E}">
        <p14:creationId xmlns:p14="http://schemas.microsoft.com/office/powerpoint/2010/main" val="14705735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7C480-0747-4596-A319-07A6BD938D07}"/>
              </a:ext>
            </a:extLst>
          </p:cNvPr>
          <p:cNvSpPr>
            <a:spLocks noGrp="1"/>
          </p:cNvSpPr>
          <p:nvPr>
            <p:ph type="title"/>
          </p:nvPr>
        </p:nvSpPr>
        <p:spPr>
          <a:xfrm>
            <a:off x="457200" y="208360"/>
            <a:ext cx="6286500" cy="425053"/>
          </a:xfrm>
        </p:spPr>
        <p:txBody>
          <a:bodyPr/>
          <a:lstStyle/>
          <a:p>
            <a:r>
              <a:rPr lang="en-US" dirty="0"/>
              <a:t>Approval Sheet and Signature</a:t>
            </a:r>
          </a:p>
        </p:txBody>
      </p:sp>
      <p:sp>
        <p:nvSpPr>
          <p:cNvPr id="6" name="Content Placeholder 5">
            <a:extLst>
              <a:ext uri="{FF2B5EF4-FFF2-40B4-BE49-F238E27FC236}">
                <a16:creationId xmlns:a16="http://schemas.microsoft.com/office/drawing/2014/main" id="{CD191CA7-09D3-457C-A021-4E7394BB6759}"/>
              </a:ext>
            </a:extLst>
          </p:cNvPr>
          <p:cNvSpPr>
            <a:spLocks noGrp="1"/>
          </p:cNvSpPr>
          <p:nvPr>
            <p:ph sz="half" idx="1"/>
          </p:nvPr>
        </p:nvSpPr>
        <p:spPr>
          <a:xfrm>
            <a:off x="457200" y="914400"/>
            <a:ext cx="4171952" cy="3543300"/>
          </a:xfrm>
        </p:spPr>
        <p:txBody>
          <a:bodyPr/>
          <a:lstStyle/>
          <a:p>
            <a:pPr marL="0" indent="0">
              <a:buNone/>
            </a:pPr>
            <a:r>
              <a:rPr lang="en-US" sz="1800" b="0" dirty="0"/>
              <a:t>Your </a:t>
            </a:r>
            <a:r>
              <a:rPr lang="en-US" sz="1800" dirty="0"/>
              <a:t>supervisor</a:t>
            </a:r>
            <a:r>
              <a:rPr lang="en-US" sz="1800" b="0" dirty="0"/>
              <a:t> AND </a:t>
            </a:r>
            <a:r>
              <a:rPr lang="en-US" sz="1800" dirty="0"/>
              <a:t>Center Director </a:t>
            </a:r>
            <a:r>
              <a:rPr lang="en-US" sz="1800" b="0" dirty="0"/>
              <a:t>will review and verify</a:t>
            </a:r>
          </a:p>
          <a:p>
            <a:r>
              <a:rPr lang="en-US" sz="1500" b="0" dirty="0"/>
              <a:t>Accuracy</a:t>
            </a:r>
          </a:p>
          <a:p>
            <a:r>
              <a:rPr lang="en-US" sz="1500" b="0" dirty="0"/>
              <a:t>Use of clear language</a:t>
            </a:r>
          </a:p>
          <a:p>
            <a:r>
              <a:rPr lang="en-US" sz="1500" b="0" dirty="0"/>
              <a:t>Section length limits</a:t>
            </a:r>
          </a:p>
          <a:p>
            <a:r>
              <a:rPr lang="en-US" sz="1500" b="0" dirty="0"/>
              <a:t>Use of IPDS numbers</a:t>
            </a:r>
          </a:p>
          <a:p>
            <a:r>
              <a:rPr lang="en-US" sz="1500" b="0" dirty="0"/>
              <a:t>BAO approval dates</a:t>
            </a:r>
          </a:p>
          <a:p>
            <a:pPr marL="0" indent="0">
              <a:buNone/>
            </a:pPr>
            <a:endParaRPr lang="en-US" sz="900" b="0" dirty="0"/>
          </a:p>
          <a:p>
            <a:pPr marL="0" indent="0">
              <a:buNone/>
            </a:pPr>
            <a:r>
              <a:rPr lang="en-US" sz="1800" b="0" dirty="0"/>
              <a:t>Electronic/pen signatures OK</a:t>
            </a:r>
          </a:p>
          <a:p>
            <a:pPr marL="0" indent="0">
              <a:buNone/>
            </a:pPr>
            <a:endParaRPr lang="en-US" sz="900" b="0" dirty="0"/>
          </a:p>
          <a:p>
            <a:pPr marL="0" indent="0">
              <a:buNone/>
            </a:pPr>
            <a:r>
              <a:rPr lang="en-US" sz="1800" b="0" dirty="0"/>
              <a:t>Multiple copies OK</a:t>
            </a:r>
          </a:p>
        </p:txBody>
      </p:sp>
      <p:pic>
        <p:nvPicPr>
          <p:cNvPr id="5" name="Content Placeholder 4" descr="Research or Development Scientist Record Approval Sheet screenshot">
            <a:extLst>
              <a:ext uri="{FF2B5EF4-FFF2-40B4-BE49-F238E27FC236}">
                <a16:creationId xmlns:a16="http://schemas.microsoft.com/office/drawing/2014/main" id="{D976158E-BC7D-4477-AEE8-B3723E7E8CAF}"/>
              </a:ext>
            </a:extLst>
          </p:cNvPr>
          <p:cNvPicPr>
            <a:picLocks noGrp="1" noChangeAspect="1"/>
          </p:cNvPicPr>
          <p:nvPr>
            <p:ph sz="half" idx="2"/>
          </p:nvPr>
        </p:nvPicPr>
        <p:blipFill rotWithShape="1">
          <a:blip r:embed="rId3"/>
          <a:srcRect l="31579" t="16363" r="31579" b="6334"/>
          <a:stretch/>
        </p:blipFill>
        <p:spPr>
          <a:xfrm>
            <a:off x="4629154" y="914400"/>
            <a:ext cx="3156896" cy="3600450"/>
          </a:xfrm>
          <a:prstGeom prst="rect">
            <a:avLst/>
          </a:prstGeom>
        </p:spPr>
      </p:pic>
      <p:sp>
        <p:nvSpPr>
          <p:cNvPr id="4" name="Slide Number Placeholder 3">
            <a:extLst>
              <a:ext uri="{FF2B5EF4-FFF2-40B4-BE49-F238E27FC236}">
                <a16:creationId xmlns:a16="http://schemas.microsoft.com/office/drawing/2014/main" id="{B31067B6-66C9-484C-87D1-FAFDAB61BFD2}"/>
              </a:ext>
            </a:extLst>
          </p:cNvPr>
          <p:cNvSpPr>
            <a:spLocks noGrp="1"/>
          </p:cNvSpPr>
          <p:nvPr>
            <p:ph type="sldNum" sz="quarter" idx="10"/>
          </p:nvPr>
        </p:nvSpPr>
        <p:spPr/>
        <p:txBody>
          <a:bodyPr/>
          <a:lstStyle/>
          <a:p>
            <a:pPr>
              <a:defRPr/>
            </a:pPr>
            <a:fld id="{7916C709-DE7C-48B2-9FF3-7E1AF6E49BCB}" type="slidenum">
              <a:rPr lang="en-US" altLang="en-US" smtClean="0"/>
              <a:pPr>
                <a:defRPr/>
              </a:pPr>
              <a:t>22</a:t>
            </a:fld>
            <a:endParaRPr lang="en-US" altLang="en-US"/>
          </a:p>
        </p:txBody>
      </p:sp>
    </p:spTree>
    <p:extLst>
      <p:ext uri="{BB962C8B-B14F-4D97-AF65-F5344CB8AC3E}">
        <p14:creationId xmlns:p14="http://schemas.microsoft.com/office/powerpoint/2010/main" val="652498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16D68-5798-4875-B3ED-B7E3380C7419}"/>
              </a:ext>
            </a:extLst>
          </p:cNvPr>
          <p:cNvSpPr>
            <a:spLocks noGrp="1"/>
          </p:cNvSpPr>
          <p:nvPr>
            <p:ph type="title"/>
          </p:nvPr>
        </p:nvSpPr>
        <p:spPr/>
        <p:txBody>
          <a:bodyPr/>
          <a:lstStyle/>
          <a:p>
            <a:r>
              <a:rPr lang="en-US" dirty="0"/>
              <a:t>Ready to submit?</a:t>
            </a:r>
          </a:p>
        </p:txBody>
      </p:sp>
      <p:sp>
        <p:nvSpPr>
          <p:cNvPr id="3" name="Content Placeholder 2">
            <a:extLst>
              <a:ext uri="{FF2B5EF4-FFF2-40B4-BE49-F238E27FC236}">
                <a16:creationId xmlns:a16="http://schemas.microsoft.com/office/drawing/2014/main" id="{FC6E28FC-4ABE-4888-8747-373E467A7B04}"/>
              </a:ext>
            </a:extLst>
          </p:cNvPr>
          <p:cNvSpPr>
            <a:spLocks noGrp="1"/>
          </p:cNvSpPr>
          <p:nvPr>
            <p:ph idx="1"/>
          </p:nvPr>
        </p:nvSpPr>
        <p:spPr>
          <a:xfrm>
            <a:off x="457200" y="914400"/>
            <a:ext cx="7200900" cy="3543300"/>
          </a:xfrm>
        </p:spPr>
        <p:txBody>
          <a:bodyPr/>
          <a:lstStyle/>
          <a:p>
            <a:r>
              <a:rPr lang="en-US" sz="1800" b="0" dirty="0"/>
              <a:t>Refer to </a:t>
            </a:r>
            <a:r>
              <a:rPr lang="en-US" sz="1800" i="1" dirty="0"/>
              <a:t>Planning for your Submission</a:t>
            </a:r>
            <a:r>
              <a:rPr lang="en-US" sz="1800" dirty="0"/>
              <a:t> </a:t>
            </a:r>
            <a:r>
              <a:rPr lang="en-US" sz="1800" b="0" dirty="0"/>
              <a:t>document</a:t>
            </a:r>
          </a:p>
          <a:p>
            <a:endParaRPr lang="en-US" sz="675" b="0" dirty="0"/>
          </a:p>
          <a:p>
            <a:r>
              <a:rPr lang="en-US" sz="1800" b="0" dirty="0"/>
              <a:t>When package is complete</a:t>
            </a:r>
          </a:p>
          <a:p>
            <a:pPr lvl="1"/>
            <a:r>
              <a:rPr lang="en-US" sz="1500" b="0" dirty="0"/>
              <a:t>Email to </a:t>
            </a:r>
            <a:r>
              <a:rPr lang="en-US" sz="1500" b="0" dirty="0">
                <a:hlinkClick r:id="rId3"/>
              </a:rPr>
              <a:t>submit_rge-edge@usgs.gov</a:t>
            </a:r>
            <a:endParaRPr lang="en-US" sz="1500" b="0" dirty="0"/>
          </a:p>
          <a:p>
            <a:pPr lvl="1"/>
            <a:r>
              <a:rPr lang="en-US" sz="1500" b="0" dirty="0"/>
              <a:t>You will receive confirmation of receipt</a:t>
            </a:r>
          </a:p>
          <a:p>
            <a:endParaRPr lang="en-US" sz="675" b="0" dirty="0"/>
          </a:p>
          <a:p>
            <a:r>
              <a:rPr lang="en-US" sz="1800" b="0" dirty="0"/>
              <a:t>Submit all files by email, if possible</a:t>
            </a:r>
          </a:p>
          <a:p>
            <a:pPr lvl="1"/>
            <a:r>
              <a:rPr lang="en-US" sz="1500" b="0" dirty="0"/>
              <a:t>Break into multiple emails if needed</a:t>
            </a:r>
          </a:p>
          <a:p>
            <a:pPr lvl="1"/>
            <a:r>
              <a:rPr lang="en-US" sz="1500" b="0" dirty="0"/>
              <a:t>Contact us for extreme file size issues</a:t>
            </a:r>
          </a:p>
          <a:p>
            <a:pPr lvl="1"/>
            <a:r>
              <a:rPr lang="en-US" sz="1500" b="0" dirty="0"/>
              <a:t>If prompted, decline Outlook’s suggestion to submit OneDrive “links” instead; please actually attach the files</a:t>
            </a:r>
          </a:p>
          <a:p>
            <a:pPr lvl="1"/>
            <a:endParaRPr lang="en-US" sz="675" b="0" dirty="0"/>
          </a:p>
          <a:p>
            <a:r>
              <a:rPr lang="en-US" sz="1800" b="0" dirty="0"/>
              <a:t>Use </a:t>
            </a:r>
            <a:r>
              <a:rPr lang="en-US" sz="1800" b="0" dirty="0">
                <a:hlinkClick r:id="rId4"/>
              </a:rPr>
              <a:t>rge-edge@usgs.gov</a:t>
            </a:r>
            <a:r>
              <a:rPr lang="en-US" sz="1800" b="0" dirty="0"/>
              <a:t> for general questions </a:t>
            </a:r>
          </a:p>
          <a:p>
            <a:pPr lvl="1"/>
            <a:endParaRPr lang="en-US" sz="1500" dirty="0"/>
          </a:p>
          <a:p>
            <a:pPr lvl="1"/>
            <a:endParaRPr lang="en-US" sz="1500" dirty="0"/>
          </a:p>
        </p:txBody>
      </p:sp>
      <p:sp>
        <p:nvSpPr>
          <p:cNvPr id="4" name="Slide Number Placeholder 3">
            <a:extLst>
              <a:ext uri="{FF2B5EF4-FFF2-40B4-BE49-F238E27FC236}">
                <a16:creationId xmlns:a16="http://schemas.microsoft.com/office/drawing/2014/main" id="{66145678-30E0-47B1-B302-F47FAAB1BD39}"/>
              </a:ext>
            </a:extLst>
          </p:cNvPr>
          <p:cNvSpPr>
            <a:spLocks noGrp="1"/>
          </p:cNvSpPr>
          <p:nvPr>
            <p:ph type="sldNum" sz="quarter" idx="10"/>
          </p:nvPr>
        </p:nvSpPr>
        <p:spPr/>
        <p:txBody>
          <a:bodyPr/>
          <a:lstStyle/>
          <a:p>
            <a:pPr>
              <a:defRPr/>
            </a:pPr>
            <a:fld id="{7916C709-DE7C-48B2-9FF3-7E1AF6E49BCB}" type="slidenum">
              <a:rPr lang="en-US" altLang="en-US" smtClean="0"/>
              <a:pPr>
                <a:defRPr/>
              </a:pPr>
              <a:t>23</a:t>
            </a:fld>
            <a:endParaRPr lang="en-US" altLang="en-US"/>
          </a:p>
        </p:txBody>
      </p:sp>
    </p:spTree>
    <p:extLst>
      <p:ext uri="{BB962C8B-B14F-4D97-AF65-F5344CB8AC3E}">
        <p14:creationId xmlns:p14="http://schemas.microsoft.com/office/powerpoint/2010/main" val="3431067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8F80F-EE81-43D9-829A-59C6D0F3B04B}"/>
              </a:ext>
            </a:extLst>
          </p:cNvPr>
          <p:cNvSpPr>
            <a:spLocks noGrp="1"/>
          </p:cNvSpPr>
          <p:nvPr>
            <p:ph type="title"/>
          </p:nvPr>
        </p:nvSpPr>
        <p:spPr/>
        <p:txBody>
          <a:bodyPr/>
          <a:lstStyle/>
          <a:p>
            <a:r>
              <a:rPr lang="en-US"/>
              <a:t>Dynamic Peer Groups</a:t>
            </a:r>
          </a:p>
        </p:txBody>
      </p:sp>
      <p:sp>
        <p:nvSpPr>
          <p:cNvPr id="3" name="Content Placeholder 2">
            <a:extLst>
              <a:ext uri="{FF2B5EF4-FFF2-40B4-BE49-F238E27FC236}">
                <a16:creationId xmlns:a16="http://schemas.microsoft.com/office/drawing/2014/main" id="{F6470FCE-BD54-4DA0-AAEB-2C96D73BEB7A}"/>
              </a:ext>
            </a:extLst>
          </p:cNvPr>
          <p:cNvSpPr>
            <a:spLocks noGrp="1"/>
          </p:cNvSpPr>
          <p:nvPr>
            <p:ph idx="1"/>
          </p:nvPr>
        </p:nvSpPr>
        <p:spPr/>
        <p:txBody>
          <a:bodyPr/>
          <a:lstStyle/>
          <a:p>
            <a:pPr>
              <a:defRPr/>
            </a:pPr>
            <a:r>
              <a:rPr lang="en-US" b="0" dirty="0"/>
              <a:t>Scientists do not pre-select peer group</a:t>
            </a:r>
          </a:p>
          <a:p>
            <a:pPr>
              <a:defRPr/>
            </a:pPr>
            <a:endParaRPr lang="en-US" sz="600" b="0" dirty="0"/>
          </a:p>
          <a:p>
            <a:pPr>
              <a:defRPr/>
            </a:pPr>
            <a:r>
              <a:rPr lang="en-US" b="0" dirty="0"/>
              <a:t>Panels formed based on expertise of the scientists to be reviewed in each cycle</a:t>
            </a:r>
            <a:endParaRPr lang="en-US" b="0" dirty="0">
              <a:cs typeface="Arial"/>
            </a:endParaRPr>
          </a:p>
          <a:p>
            <a:pPr>
              <a:defRPr/>
            </a:pPr>
            <a:r>
              <a:rPr lang="en-US" b="0" dirty="0">
                <a:ea typeface="+mn-lt"/>
                <a:cs typeface="+mn-lt"/>
              </a:rPr>
              <a:t>Use program to cluster packages into groups with similar expertise, followed by human curation</a:t>
            </a:r>
            <a:endParaRPr lang="en-US" dirty="0"/>
          </a:p>
          <a:p>
            <a:pPr lvl="1" indent="-243840">
              <a:defRPr/>
            </a:pPr>
            <a:r>
              <a:rPr lang="en-US" b="0" dirty="0"/>
              <a:t>Result in better panel composition</a:t>
            </a:r>
            <a:endParaRPr lang="en-US" b="0" dirty="0">
              <a:cs typeface="Arial"/>
            </a:endParaRPr>
          </a:p>
          <a:p>
            <a:pPr lvl="1" indent="-243840">
              <a:defRPr/>
            </a:pPr>
            <a:endParaRPr lang="en-US" sz="450" b="0" dirty="0">
              <a:cs typeface="Arial"/>
            </a:endParaRPr>
          </a:p>
          <a:p>
            <a:pPr lvl="1" indent="-243840">
              <a:defRPr/>
            </a:pPr>
            <a:r>
              <a:rPr lang="en-US" b="0" dirty="0"/>
              <a:t>More efficient panel development</a:t>
            </a:r>
            <a:endParaRPr lang="en-US" b="0" dirty="0">
              <a:cs typeface="Arial"/>
            </a:endParaRPr>
          </a:p>
          <a:p>
            <a:pPr marL="245269" lvl="1" indent="0">
              <a:buNone/>
              <a:defRPr/>
            </a:pPr>
            <a:endParaRPr lang="en-US" b="0" dirty="0">
              <a:cs typeface="Arial"/>
            </a:endParaRPr>
          </a:p>
          <a:p>
            <a:pPr>
              <a:defRPr/>
            </a:pPr>
            <a:endParaRPr lang="en-US" sz="750" b="0" dirty="0"/>
          </a:p>
          <a:p>
            <a:endParaRPr lang="en-US" dirty="0"/>
          </a:p>
        </p:txBody>
      </p:sp>
      <p:sp>
        <p:nvSpPr>
          <p:cNvPr id="4" name="Slide Number Placeholder 3">
            <a:extLst>
              <a:ext uri="{FF2B5EF4-FFF2-40B4-BE49-F238E27FC236}">
                <a16:creationId xmlns:a16="http://schemas.microsoft.com/office/drawing/2014/main" id="{F0719212-3B0C-4AD9-A6A1-8CE75AF88B62}"/>
              </a:ext>
            </a:extLst>
          </p:cNvPr>
          <p:cNvSpPr>
            <a:spLocks noGrp="1"/>
          </p:cNvSpPr>
          <p:nvPr>
            <p:ph type="sldNum" sz="quarter" idx="10"/>
          </p:nvPr>
        </p:nvSpPr>
        <p:spPr/>
        <p:txBody>
          <a:bodyPr/>
          <a:lstStyle/>
          <a:p>
            <a:pPr>
              <a:defRPr/>
            </a:pPr>
            <a:fld id="{7916C709-DE7C-48B2-9FF3-7E1AF6E49BCB}" type="slidenum">
              <a:rPr lang="en-US" altLang="en-US" smtClean="0"/>
              <a:pPr>
                <a:defRPr/>
              </a:pPr>
              <a:t>24</a:t>
            </a:fld>
            <a:endParaRPr lang="en-US" altLang="en-US"/>
          </a:p>
        </p:txBody>
      </p:sp>
    </p:spTree>
    <p:extLst>
      <p:ext uri="{BB962C8B-B14F-4D97-AF65-F5344CB8AC3E}">
        <p14:creationId xmlns:p14="http://schemas.microsoft.com/office/powerpoint/2010/main" val="3001017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defRPr/>
            </a:pPr>
            <a:r>
              <a:rPr lang="en-US" dirty="0"/>
              <a:t>Panel Findings</a:t>
            </a:r>
          </a:p>
        </p:txBody>
      </p:sp>
      <p:sp>
        <p:nvSpPr>
          <p:cNvPr id="6" name="Content Placeholder 5">
            <a:extLst>
              <a:ext uri="{FF2B5EF4-FFF2-40B4-BE49-F238E27FC236}">
                <a16:creationId xmlns:a16="http://schemas.microsoft.com/office/drawing/2014/main" id="{33623A4C-ED90-40C3-A409-3806D274C40B}"/>
              </a:ext>
            </a:extLst>
          </p:cNvPr>
          <p:cNvSpPr>
            <a:spLocks noGrp="1"/>
          </p:cNvSpPr>
          <p:nvPr>
            <p:ph idx="1"/>
          </p:nvPr>
        </p:nvSpPr>
        <p:spPr/>
        <p:txBody>
          <a:bodyPr/>
          <a:lstStyle/>
          <a:p>
            <a:pPr>
              <a:defRPr/>
            </a:pPr>
            <a:r>
              <a:rPr lang="en-US" b="0" dirty="0"/>
              <a:t>Written description of the score (typically 3-5 pages)</a:t>
            </a:r>
          </a:p>
          <a:p>
            <a:pPr lvl="1" indent="-243840">
              <a:defRPr/>
            </a:pPr>
            <a:r>
              <a:rPr lang="en-US" b="0" dirty="0"/>
              <a:t>How each factor score was determined </a:t>
            </a:r>
            <a:endParaRPr lang="en-US" b="0" dirty="0">
              <a:cs typeface="Arial"/>
            </a:endParaRPr>
          </a:p>
          <a:p>
            <a:pPr lvl="1" indent="-243840">
              <a:defRPr/>
            </a:pPr>
            <a:r>
              <a:rPr lang="en-US" b="0" dirty="0"/>
              <a:t>Framed in terms of OPM Guide criteria</a:t>
            </a:r>
            <a:endParaRPr lang="en-US" b="0" dirty="0">
              <a:cs typeface="Arial"/>
            </a:endParaRPr>
          </a:p>
          <a:p>
            <a:pPr lvl="1" indent="-243840">
              <a:defRPr/>
            </a:pPr>
            <a:r>
              <a:rPr lang="en-US" b="0" dirty="0"/>
              <a:t>Why the higher score was not awarded</a:t>
            </a:r>
            <a:endParaRPr lang="en-US" b="0" dirty="0">
              <a:cs typeface="Arial"/>
            </a:endParaRPr>
          </a:p>
          <a:p>
            <a:pPr lvl="2" indent="-243840">
              <a:defRPr/>
            </a:pPr>
            <a:r>
              <a:rPr lang="en-US" b="0" dirty="0"/>
              <a:t>“The panel did not see evidence of [guide criteria]”</a:t>
            </a:r>
          </a:p>
          <a:p>
            <a:pPr lvl="2" indent="-243840">
              <a:defRPr/>
            </a:pPr>
            <a:r>
              <a:rPr lang="en-US" b="0" dirty="0">
                <a:cs typeface="Arial"/>
              </a:rPr>
              <a:t>“The factor fully meets but does not exceed level C”</a:t>
            </a:r>
          </a:p>
          <a:p>
            <a:pPr lvl="1" indent="-243840">
              <a:defRPr/>
            </a:pPr>
            <a:r>
              <a:rPr lang="en-US" b="0" dirty="0"/>
              <a:t>Goal to be more explicit, less subtle</a:t>
            </a:r>
            <a:endParaRPr lang="en-US" b="0" dirty="0">
              <a:cs typeface="Arial"/>
            </a:endParaRPr>
          </a:p>
          <a:p>
            <a:pPr lvl="1" indent="-243840">
              <a:defRPr/>
            </a:pPr>
            <a:r>
              <a:rPr lang="en-US" b="0" dirty="0">
                <a:cs typeface="Arial"/>
              </a:rPr>
              <a:t>No</a:t>
            </a:r>
            <a:r>
              <a:rPr lang="en-US" dirty="0">
                <a:cs typeface="Arial"/>
              </a:rPr>
              <a:t> </a:t>
            </a:r>
            <a:r>
              <a:rPr lang="en-US" b="0" dirty="0">
                <a:cs typeface="Arial"/>
              </a:rPr>
              <a:t>prescription ("you should focus more on....")</a:t>
            </a:r>
          </a:p>
          <a:p>
            <a:pPr lvl="1" indent="-243840">
              <a:defRPr/>
            </a:pPr>
            <a:endParaRPr lang="en-US" sz="900" b="0" dirty="0">
              <a:cs typeface="Arial"/>
            </a:endParaRPr>
          </a:p>
          <a:p>
            <a:pPr>
              <a:defRPr/>
            </a:pPr>
            <a:endParaRPr lang="en-US" b="0" dirty="0">
              <a:cs typeface="Arial"/>
            </a:endParaRPr>
          </a:p>
        </p:txBody>
      </p:sp>
      <p:sp>
        <p:nvSpPr>
          <p:cNvPr id="5" name="Slide Number Placeholder 4">
            <a:extLst>
              <a:ext uri="{FF2B5EF4-FFF2-40B4-BE49-F238E27FC236}">
                <a16:creationId xmlns:a16="http://schemas.microsoft.com/office/drawing/2014/main" id="{32C190A0-8798-419F-8B0E-BE29A234482B}"/>
              </a:ext>
            </a:extLst>
          </p:cNvPr>
          <p:cNvSpPr>
            <a:spLocks noGrp="1"/>
          </p:cNvSpPr>
          <p:nvPr>
            <p:ph type="sldNum" sz="quarter" idx="10"/>
          </p:nvPr>
        </p:nvSpPr>
        <p:spPr/>
        <p:txBody>
          <a:bodyPr/>
          <a:lstStyle/>
          <a:p>
            <a:pPr>
              <a:defRPr/>
            </a:pPr>
            <a:fld id="{7916C709-DE7C-48B2-9FF3-7E1AF6E49BCB}" type="slidenum">
              <a:rPr lang="en-US" altLang="en-US">
                <a:solidFill>
                  <a:prstClr val="black"/>
                </a:solidFill>
              </a:rPr>
              <a:pPr>
                <a:defRPr/>
              </a:pPr>
              <a:t>25</a:t>
            </a:fld>
            <a:endParaRPr lang="en-US" altLang="en-US">
              <a:solidFill>
                <a:prstClr val="black"/>
              </a:solidFill>
            </a:endParaRPr>
          </a:p>
        </p:txBody>
      </p:sp>
    </p:spTree>
    <p:extLst>
      <p:ext uri="{BB962C8B-B14F-4D97-AF65-F5344CB8AC3E}">
        <p14:creationId xmlns:p14="http://schemas.microsoft.com/office/powerpoint/2010/main" val="29919822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C618-351E-4F9C-B686-53EB6FD0751A}"/>
              </a:ext>
            </a:extLst>
          </p:cNvPr>
          <p:cNvSpPr>
            <a:spLocks noGrp="1"/>
          </p:cNvSpPr>
          <p:nvPr>
            <p:ph type="title"/>
          </p:nvPr>
        </p:nvSpPr>
        <p:spPr/>
        <p:txBody>
          <a:bodyPr/>
          <a:lstStyle/>
          <a:p>
            <a:r>
              <a:rPr lang="en-US" dirty="0"/>
              <a:t>For example…</a:t>
            </a:r>
          </a:p>
        </p:txBody>
      </p:sp>
      <p:sp>
        <p:nvSpPr>
          <p:cNvPr id="6" name="Content Placeholder 5">
            <a:extLst>
              <a:ext uri="{FF2B5EF4-FFF2-40B4-BE49-F238E27FC236}">
                <a16:creationId xmlns:a16="http://schemas.microsoft.com/office/drawing/2014/main" id="{33623A4C-ED90-40C3-A409-3806D274C40B}"/>
              </a:ext>
            </a:extLst>
          </p:cNvPr>
          <p:cNvSpPr>
            <a:spLocks noGrp="1"/>
          </p:cNvSpPr>
          <p:nvPr>
            <p:ph idx="1"/>
          </p:nvPr>
        </p:nvSpPr>
        <p:spPr>
          <a:xfrm>
            <a:off x="457200" y="914400"/>
            <a:ext cx="8229600" cy="3600450"/>
          </a:xfrm>
        </p:spPr>
        <p:txBody>
          <a:bodyPr/>
          <a:lstStyle/>
          <a:p>
            <a:pPr marL="0" indent="0">
              <a:buNone/>
            </a:pPr>
            <a:r>
              <a:rPr lang="en-US" sz="1500" b="0" dirty="0"/>
              <a:t>Aldo’s research </a:t>
            </a:r>
            <a:r>
              <a:rPr lang="en-US" sz="1500" b="0" i="1" dirty="0">
                <a:solidFill>
                  <a:srgbClr val="FF6600"/>
                </a:solidFill>
              </a:rPr>
              <a:t>requires subdivision into separate phases, including some that are themselves considerably broad and complex</a:t>
            </a:r>
            <a:r>
              <a:rPr lang="en-US" sz="1500" b="0" dirty="0"/>
              <a:t>. In one example, he measured the response of laughing gull populations to rapid changes in parking lot extent and French fry availability, including publications by Leopold and others (2019, 2020, and 2021). Aldo’s paper on the relative influences of environmental and anthropogenic stressors on the regional distribution of Canada geese </a:t>
            </a:r>
            <a:r>
              <a:rPr lang="en-US" sz="1500" b="0" i="1" dirty="0">
                <a:solidFill>
                  <a:srgbClr val="FF6600"/>
                </a:solidFill>
              </a:rPr>
              <a:t>utilized unconventional and novel approaches </a:t>
            </a:r>
            <a:r>
              <a:rPr lang="en-US" sz="1500" b="0" dirty="0"/>
              <a:t>by combining biological and golf course data sets. The problems that he addresses, such as linking avian population trends to a range of variables, including land use change and the availability of nutritional subsidies, </a:t>
            </a:r>
            <a:r>
              <a:rPr lang="en-US" sz="1500" dirty="0">
                <a:solidFill>
                  <a:srgbClr val="0066FF"/>
                </a:solidFill>
              </a:rPr>
              <a:t>are difficult to define</a:t>
            </a:r>
            <a:r>
              <a:rPr lang="en-US" sz="1500" b="0" dirty="0"/>
              <a:t>. Aldo’s work on sandhill cranes </a:t>
            </a:r>
            <a:r>
              <a:rPr lang="en-US" sz="1500" dirty="0">
                <a:solidFill>
                  <a:srgbClr val="0066FF"/>
                </a:solidFill>
              </a:rPr>
              <a:t>resulted in a series of products that are definitive of the field </a:t>
            </a:r>
            <a:r>
              <a:rPr lang="en-US" sz="1500" b="0" dirty="0"/>
              <a:t>(see Leopold 2022 and Leopold 2023).  </a:t>
            </a:r>
          </a:p>
          <a:p>
            <a:pPr marL="0" indent="0">
              <a:buNone/>
            </a:pPr>
            <a:r>
              <a:rPr lang="en-US" sz="1500" dirty="0"/>
              <a:t>The panel found that Aldo’s research assignment exceeds the level C criteria, but does not fully meet level E. </a:t>
            </a:r>
            <a:r>
              <a:rPr lang="en-US" sz="1500" b="0" dirty="0"/>
              <a:t>The panel did not find evidence of the current assignment being </a:t>
            </a:r>
            <a:r>
              <a:rPr lang="en-US" sz="1500" b="0" i="1" dirty="0">
                <a:solidFill>
                  <a:srgbClr val="FF6600"/>
                </a:solidFill>
              </a:rPr>
              <a:t>exceptionally difficult and unyielding to investigation</a:t>
            </a:r>
            <a:r>
              <a:rPr lang="en-US" sz="1500" b="0" dirty="0"/>
              <a:t>, or that research products are expected to </a:t>
            </a:r>
            <a:r>
              <a:rPr lang="en-US" sz="1500" b="0" i="1" dirty="0">
                <a:solidFill>
                  <a:srgbClr val="FF6600"/>
                </a:solidFill>
              </a:rPr>
              <a:t>result in major advances consistent with level E</a:t>
            </a:r>
            <a:r>
              <a:rPr lang="en-US" sz="1500" b="0" dirty="0"/>
              <a:t>. </a:t>
            </a:r>
            <a:r>
              <a:rPr lang="en-US" sz="1500" dirty="0"/>
              <a:t>Therefore, level D applies, and 8 points are credited for factor 1.</a:t>
            </a:r>
            <a:endParaRPr lang="en-US" sz="1500" b="0" dirty="0"/>
          </a:p>
          <a:p>
            <a:pPr>
              <a:defRPr/>
            </a:pPr>
            <a:endParaRPr lang="en-US" b="0" dirty="0"/>
          </a:p>
        </p:txBody>
      </p:sp>
      <p:sp>
        <p:nvSpPr>
          <p:cNvPr id="5" name="Slide Number Placeholder 4">
            <a:extLst>
              <a:ext uri="{FF2B5EF4-FFF2-40B4-BE49-F238E27FC236}">
                <a16:creationId xmlns:a16="http://schemas.microsoft.com/office/drawing/2014/main" id="{32C190A0-8798-419F-8B0E-BE29A234482B}"/>
              </a:ext>
            </a:extLst>
          </p:cNvPr>
          <p:cNvSpPr>
            <a:spLocks noGrp="1"/>
          </p:cNvSpPr>
          <p:nvPr>
            <p:ph type="sldNum" sz="quarter" idx="10"/>
          </p:nvPr>
        </p:nvSpPr>
        <p:spPr/>
        <p:txBody>
          <a:bodyPr/>
          <a:lstStyle/>
          <a:p>
            <a:pPr>
              <a:defRPr/>
            </a:pPr>
            <a:fld id="{7916C709-DE7C-48B2-9FF3-7E1AF6E49BCB}" type="slidenum">
              <a:rPr lang="en-US" altLang="en-US">
                <a:solidFill>
                  <a:prstClr val="black"/>
                </a:solidFill>
              </a:rPr>
              <a:pPr>
                <a:defRPr/>
              </a:pPr>
              <a:t>26</a:t>
            </a:fld>
            <a:endParaRPr lang="en-US" altLang="en-US">
              <a:solidFill>
                <a:prstClr val="black"/>
              </a:solidFill>
            </a:endParaRPr>
          </a:p>
        </p:txBody>
      </p:sp>
    </p:spTree>
    <p:extLst>
      <p:ext uri="{BB962C8B-B14F-4D97-AF65-F5344CB8AC3E}">
        <p14:creationId xmlns:p14="http://schemas.microsoft.com/office/powerpoint/2010/main" val="3067908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0312"/>
            <a:ext cx="6286500" cy="425053"/>
          </a:xfrm>
        </p:spPr>
        <p:txBody>
          <a:bodyPr/>
          <a:lstStyle/>
          <a:p>
            <a:r>
              <a:rPr lang="en-US" dirty="0"/>
              <a:t>When will you receive your results?</a:t>
            </a:r>
          </a:p>
        </p:txBody>
      </p:sp>
      <p:sp>
        <p:nvSpPr>
          <p:cNvPr id="3" name="Content Placeholder 2"/>
          <p:cNvSpPr>
            <a:spLocks noGrp="1"/>
          </p:cNvSpPr>
          <p:nvPr>
            <p:ph idx="1"/>
          </p:nvPr>
        </p:nvSpPr>
        <p:spPr>
          <a:xfrm>
            <a:off x="457200" y="1085850"/>
            <a:ext cx="7486650" cy="3543300"/>
          </a:xfrm>
        </p:spPr>
        <p:txBody>
          <a:bodyPr/>
          <a:lstStyle/>
          <a:p>
            <a:pPr>
              <a:spcBef>
                <a:spcPts val="900"/>
              </a:spcBef>
            </a:pPr>
            <a:r>
              <a:rPr lang="en-US" b="0" dirty="0"/>
              <a:t>It varies!</a:t>
            </a:r>
          </a:p>
          <a:p>
            <a:pPr>
              <a:spcBef>
                <a:spcPts val="900"/>
              </a:spcBef>
            </a:pPr>
            <a:r>
              <a:rPr lang="en-US" b="0" dirty="0"/>
              <a:t>Planning to evaluate 100+ scientists over 15+ panels.</a:t>
            </a:r>
          </a:p>
          <a:p>
            <a:pPr>
              <a:spcBef>
                <a:spcPts val="900"/>
              </a:spcBef>
            </a:pPr>
            <a:r>
              <a:rPr lang="en-US" b="0" dirty="0"/>
              <a:t>Panels held ~February through ~May.</a:t>
            </a:r>
            <a:endParaRPr lang="en-US" b="0" dirty="0">
              <a:cs typeface="Arial"/>
            </a:endParaRPr>
          </a:p>
          <a:p>
            <a:pPr>
              <a:spcBef>
                <a:spcPts val="900"/>
              </a:spcBef>
            </a:pPr>
            <a:r>
              <a:rPr lang="en-US" b="0" dirty="0"/>
              <a:t>Individual </a:t>
            </a:r>
            <a:r>
              <a:rPr lang="en-US" b="0"/>
              <a:t>results send to </a:t>
            </a:r>
            <a:r>
              <a:rPr lang="en-US" b="0" dirty="0"/>
              <a:t>Center Directors after each panel.</a:t>
            </a:r>
            <a:endParaRPr lang="en-US" b="0" dirty="0">
              <a:cs typeface="Arial"/>
            </a:endParaRPr>
          </a:p>
          <a:p>
            <a:pPr>
              <a:spcBef>
                <a:spcPts val="900"/>
              </a:spcBef>
            </a:pPr>
            <a:r>
              <a:rPr lang="en-US" b="0" dirty="0"/>
              <a:t>Specific timing depends on the overall schedule of panels. </a:t>
            </a:r>
            <a:endParaRPr lang="en-US" b="0" dirty="0">
              <a:cs typeface="Arial"/>
            </a:endParaRPr>
          </a:p>
        </p:txBody>
      </p:sp>
      <p:sp>
        <p:nvSpPr>
          <p:cNvPr id="5" name="Slide Number Placeholder 4">
            <a:extLst>
              <a:ext uri="{FF2B5EF4-FFF2-40B4-BE49-F238E27FC236}">
                <a16:creationId xmlns:a16="http://schemas.microsoft.com/office/drawing/2014/main" id="{1389A591-9788-4FF4-A459-19B70F244CF5}"/>
              </a:ext>
            </a:extLst>
          </p:cNvPr>
          <p:cNvSpPr>
            <a:spLocks noGrp="1"/>
          </p:cNvSpPr>
          <p:nvPr>
            <p:ph type="sldNum" sz="quarter" idx="10"/>
          </p:nvPr>
        </p:nvSpPr>
        <p:spPr/>
        <p:txBody>
          <a:bodyPr/>
          <a:lstStyle/>
          <a:p>
            <a:pPr>
              <a:defRPr/>
            </a:pPr>
            <a:fld id="{7916C709-DE7C-48B2-9FF3-7E1AF6E49BCB}" type="slidenum">
              <a:rPr lang="en-US" altLang="en-US" smtClean="0"/>
              <a:pPr>
                <a:defRPr/>
              </a:pPr>
              <a:t>27</a:t>
            </a:fld>
            <a:endParaRPr lang="en-US" altLang="en-US"/>
          </a:p>
        </p:txBody>
      </p:sp>
    </p:spTree>
    <p:extLst>
      <p:ext uri="{BB962C8B-B14F-4D97-AF65-F5344CB8AC3E}">
        <p14:creationId xmlns:p14="http://schemas.microsoft.com/office/powerpoint/2010/main" val="3727096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Disagree with your results?</a:t>
            </a:r>
          </a:p>
        </p:txBody>
      </p:sp>
      <p:sp>
        <p:nvSpPr>
          <p:cNvPr id="3" name="Content Placeholder 2"/>
          <p:cNvSpPr>
            <a:spLocks noGrp="1"/>
          </p:cNvSpPr>
          <p:nvPr>
            <p:ph idx="1"/>
          </p:nvPr>
        </p:nvSpPr>
        <p:spPr>
          <a:xfrm>
            <a:off x="457200" y="1085850"/>
            <a:ext cx="7372350" cy="3143250"/>
          </a:xfrm>
        </p:spPr>
        <p:txBody>
          <a:bodyPr/>
          <a:lstStyle/>
          <a:p>
            <a:pPr marL="0" indent="0">
              <a:buNone/>
              <a:defRPr/>
            </a:pPr>
            <a:r>
              <a:rPr lang="en-US" b="0" dirty="0"/>
              <a:t>You have options.</a:t>
            </a:r>
          </a:p>
          <a:p>
            <a:pPr marL="0" indent="0">
              <a:buNone/>
              <a:defRPr/>
            </a:pPr>
            <a:endParaRPr lang="en-US" sz="1050" b="0" dirty="0"/>
          </a:p>
          <a:p>
            <a:pPr>
              <a:defRPr/>
            </a:pPr>
            <a:r>
              <a:rPr lang="en-US" dirty="0"/>
              <a:t>Discuss</a:t>
            </a:r>
            <a:r>
              <a:rPr lang="en-US" b="0" dirty="0"/>
              <a:t> with your supervisor / Center Director</a:t>
            </a:r>
            <a:endParaRPr lang="en-US" b="0" dirty="0">
              <a:cs typeface="Arial"/>
            </a:endParaRPr>
          </a:p>
          <a:p>
            <a:pPr>
              <a:defRPr/>
            </a:pPr>
            <a:r>
              <a:rPr lang="en-US" dirty="0"/>
              <a:t>Engage with RGE-EDGE Coordinators </a:t>
            </a:r>
            <a:r>
              <a:rPr lang="en-US" b="0" dirty="0"/>
              <a:t>at OSQI</a:t>
            </a:r>
            <a:endParaRPr lang="en-US" b="0" dirty="0">
              <a:cs typeface="Arial"/>
            </a:endParaRPr>
          </a:p>
          <a:p>
            <a:pPr>
              <a:defRPr/>
            </a:pPr>
            <a:r>
              <a:rPr lang="en-US" dirty="0"/>
              <a:t>Early review </a:t>
            </a:r>
            <a:r>
              <a:rPr lang="en-US" b="0" dirty="0"/>
              <a:t>(before next required review)</a:t>
            </a:r>
            <a:endParaRPr lang="en-US" b="0" dirty="0">
              <a:cs typeface="Arial"/>
            </a:endParaRPr>
          </a:p>
          <a:p>
            <a:pPr>
              <a:defRPr/>
            </a:pPr>
            <a:r>
              <a:rPr lang="en-US" dirty="0"/>
              <a:t>Classification review</a:t>
            </a:r>
            <a:r>
              <a:rPr lang="en-US" b="0" dirty="0"/>
              <a:t> by Human Resources</a:t>
            </a:r>
            <a:endParaRPr lang="en-US" b="0" dirty="0">
              <a:cs typeface="Arial"/>
            </a:endParaRPr>
          </a:p>
          <a:p>
            <a:pPr marL="0" indent="0">
              <a:buNone/>
              <a:defRPr/>
            </a:pPr>
            <a:r>
              <a:rPr lang="en-US" b="0" i="1" dirty="0">
                <a:solidFill>
                  <a:srgbClr val="FF0000"/>
                </a:solidFill>
              </a:rPr>
              <a:t>	</a:t>
            </a:r>
            <a:endParaRPr lang="en-US" b="0" i="1" dirty="0">
              <a:solidFill>
                <a:srgbClr val="FF0000"/>
              </a:solidFill>
              <a:cs typeface="Arial"/>
            </a:endParaRPr>
          </a:p>
          <a:p>
            <a:pPr>
              <a:defRPr/>
            </a:pPr>
            <a:endParaRPr lang="en-US" b="0" dirty="0"/>
          </a:p>
          <a:p>
            <a:pPr marL="258128" lvl="1" indent="0">
              <a:buNone/>
              <a:defRPr/>
            </a:pPr>
            <a:endParaRPr lang="en-US" dirty="0">
              <a:cs typeface="Arial"/>
            </a:endParaRPr>
          </a:p>
        </p:txBody>
      </p:sp>
      <p:sp>
        <p:nvSpPr>
          <p:cNvPr id="5" name="Slide Number Placeholder 4">
            <a:extLst>
              <a:ext uri="{FF2B5EF4-FFF2-40B4-BE49-F238E27FC236}">
                <a16:creationId xmlns:a16="http://schemas.microsoft.com/office/drawing/2014/main" id="{32C190A0-8798-419F-8B0E-BE29A234482B}"/>
              </a:ext>
            </a:extLst>
          </p:cNvPr>
          <p:cNvSpPr>
            <a:spLocks noGrp="1"/>
          </p:cNvSpPr>
          <p:nvPr>
            <p:ph type="sldNum" sz="quarter" idx="10"/>
          </p:nvPr>
        </p:nvSpPr>
        <p:spPr/>
        <p:txBody>
          <a:bodyPr/>
          <a:lstStyle/>
          <a:p>
            <a:pPr>
              <a:defRPr/>
            </a:pPr>
            <a:fld id="{7916C709-DE7C-48B2-9FF3-7E1AF6E49BCB}" type="slidenum">
              <a:rPr lang="en-US" altLang="en-US" smtClean="0"/>
              <a:pPr>
                <a:defRPr/>
              </a:pPr>
              <a:t>28</a:t>
            </a:fld>
            <a:endParaRPr lang="en-US" altLang="en-US"/>
          </a:p>
        </p:txBody>
      </p:sp>
    </p:spTree>
    <p:extLst>
      <p:ext uri="{BB962C8B-B14F-4D97-AF65-F5344CB8AC3E}">
        <p14:creationId xmlns:p14="http://schemas.microsoft.com/office/powerpoint/2010/main" val="3246424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570D8-192C-49E5-B660-7C46E84A1C3B}"/>
              </a:ext>
            </a:extLst>
          </p:cNvPr>
          <p:cNvSpPr>
            <a:spLocks noGrp="1"/>
          </p:cNvSpPr>
          <p:nvPr>
            <p:ph type="title"/>
          </p:nvPr>
        </p:nvSpPr>
        <p:spPr/>
        <p:txBody>
          <a:bodyPr/>
          <a:lstStyle/>
          <a:p>
            <a:r>
              <a:rPr lang="en-US" dirty="0"/>
              <a:t>Resources – </a:t>
            </a:r>
            <a:r>
              <a:rPr lang="en-US" b="0" dirty="0">
                <a:hlinkClick r:id="rId3"/>
              </a:rPr>
              <a:t>www.usgs.gov/rge-edge</a:t>
            </a:r>
            <a:endParaRPr lang="en-US" b="0" dirty="0"/>
          </a:p>
        </p:txBody>
      </p:sp>
      <p:sp>
        <p:nvSpPr>
          <p:cNvPr id="3" name="Content Placeholder 2">
            <a:extLst>
              <a:ext uri="{FF2B5EF4-FFF2-40B4-BE49-F238E27FC236}">
                <a16:creationId xmlns:a16="http://schemas.microsoft.com/office/drawing/2014/main" id="{EC54B90C-E63E-4C10-8F94-B5F64036E005}"/>
              </a:ext>
            </a:extLst>
          </p:cNvPr>
          <p:cNvSpPr>
            <a:spLocks noGrp="1"/>
          </p:cNvSpPr>
          <p:nvPr>
            <p:ph idx="1"/>
          </p:nvPr>
        </p:nvSpPr>
        <p:spPr/>
        <p:txBody>
          <a:bodyPr/>
          <a:lstStyle/>
          <a:p>
            <a:pPr marL="0" indent="0" algn="ctr">
              <a:buNone/>
            </a:pPr>
            <a:endParaRPr lang="en-US" sz="600" dirty="0"/>
          </a:p>
          <a:p>
            <a:r>
              <a:rPr lang="en-US" sz="2000" b="0" dirty="0"/>
              <a:t>Planning for your Submission document</a:t>
            </a:r>
          </a:p>
          <a:p>
            <a:r>
              <a:rPr lang="en-US" sz="2000" b="0" dirty="0"/>
              <a:t>OPM’s </a:t>
            </a:r>
            <a:r>
              <a:rPr lang="en-US" sz="2000" b="0" i="1" dirty="0"/>
              <a:t>RGE Guide </a:t>
            </a:r>
            <a:r>
              <a:rPr lang="en-US" sz="2000" b="0" dirty="0"/>
              <a:t>and </a:t>
            </a:r>
            <a:r>
              <a:rPr lang="en-US" sz="2000" b="0" i="1" dirty="0"/>
              <a:t>EDGE Guide</a:t>
            </a:r>
          </a:p>
          <a:p>
            <a:r>
              <a:rPr lang="en-US" sz="2000" b="0" dirty="0"/>
              <a:t>EDGE checklist and Degree G criteria</a:t>
            </a:r>
          </a:p>
          <a:p>
            <a:r>
              <a:rPr lang="en-US" sz="2000" b="0" dirty="0"/>
              <a:t>Training materials </a:t>
            </a:r>
            <a:r>
              <a:rPr lang="en-US" sz="1800" b="0" dirty="0"/>
              <a:t>(these slides)</a:t>
            </a:r>
          </a:p>
          <a:p>
            <a:r>
              <a:rPr lang="en-US" sz="2000" b="0" dirty="0"/>
              <a:t>Current Scientist Record templates </a:t>
            </a:r>
            <a:r>
              <a:rPr lang="en-US" sz="1800" b="0" dirty="0"/>
              <a:t>(Mar 2023) </a:t>
            </a:r>
            <a:r>
              <a:rPr lang="en-US" sz="2000" b="0" dirty="0"/>
              <a:t>and associated guidance </a:t>
            </a:r>
            <a:r>
              <a:rPr lang="en-US" sz="1800" b="0" dirty="0"/>
              <a:t>(June 2024)</a:t>
            </a:r>
          </a:p>
          <a:p>
            <a:r>
              <a:rPr lang="en-US" sz="2000" b="0" dirty="0"/>
              <a:t>External Impact Statement guidance</a:t>
            </a:r>
          </a:p>
          <a:p>
            <a:r>
              <a:rPr lang="en-US" sz="2000" b="0" dirty="0"/>
              <a:t>Approval Sheet</a:t>
            </a:r>
          </a:p>
        </p:txBody>
      </p:sp>
      <p:pic>
        <p:nvPicPr>
          <p:cNvPr id="1026" name="Picture 2" descr="QR code for http://www.usgs.gov/rge-edge">
            <a:extLst>
              <a:ext uri="{FF2B5EF4-FFF2-40B4-BE49-F238E27FC236}">
                <a16:creationId xmlns:a16="http://schemas.microsoft.com/office/drawing/2014/main" id="{AC366AF3-7BE4-FB42-49BA-728849D3D4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91139" y="914400"/>
            <a:ext cx="1395661" cy="139566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A28AB8A-403E-41C6-AF1B-6ED327BED4E9}"/>
              </a:ext>
            </a:extLst>
          </p:cNvPr>
          <p:cNvSpPr>
            <a:spLocks noGrp="1"/>
          </p:cNvSpPr>
          <p:nvPr>
            <p:ph type="sldNum" sz="quarter" idx="10"/>
          </p:nvPr>
        </p:nvSpPr>
        <p:spPr/>
        <p:txBody>
          <a:bodyPr/>
          <a:lstStyle/>
          <a:p>
            <a:pPr>
              <a:defRPr/>
            </a:pPr>
            <a:fld id="{7916C709-DE7C-48B2-9FF3-7E1AF6E49BCB}" type="slidenum">
              <a:rPr lang="en-US" altLang="en-US" smtClean="0"/>
              <a:pPr>
                <a:defRPr/>
              </a:pPr>
              <a:t>29</a:t>
            </a:fld>
            <a:endParaRPr lang="en-US" altLang="en-US"/>
          </a:p>
        </p:txBody>
      </p:sp>
    </p:spTree>
    <p:extLst>
      <p:ext uri="{BB962C8B-B14F-4D97-AF65-F5344CB8AC3E}">
        <p14:creationId xmlns:p14="http://schemas.microsoft.com/office/powerpoint/2010/main" val="2797407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2170-ED6F-4814-981E-21D282C95008}"/>
              </a:ext>
            </a:extLst>
          </p:cNvPr>
          <p:cNvSpPr>
            <a:spLocks noGrp="1"/>
          </p:cNvSpPr>
          <p:nvPr>
            <p:ph type="title"/>
          </p:nvPr>
        </p:nvSpPr>
        <p:spPr/>
        <p:txBody>
          <a:bodyPr/>
          <a:lstStyle/>
          <a:p>
            <a:r>
              <a:rPr lang="en-US" dirty="0"/>
              <a:t>Contacts</a:t>
            </a:r>
          </a:p>
        </p:txBody>
      </p:sp>
      <p:sp>
        <p:nvSpPr>
          <p:cNvPr id="3" name="Content Placeholder 2">
            <a:extLst>
              <a:ext uri="{FF2B5EF4-FFF2-40B4-BE49-F238E27FC236}">
                <a16:creationId xmlns:a16="http://schemas.microsoft.com/office/drawing/2014/main" id="{5EE94F2C-126B-4414-AAC4-CBEF3A1D0AC0}"/>
              </a:ext>
            </a:extLst>
          </p:cNvPr>
          <p:cNvSpPr>
            <a:spLocks noGrp="1"/>
          </p:cNvSpPr>
          <p:nvPr>
            <p:ph idx="1"/>
          </p:nvPr>
        </p:nvSpPr>
        <p:spPr>
          <a:xfrm>
            <a:off x="457200" y="1085850"/>
            <a:ext cx="7543800" cy="3257550"/>
          </a:xfrm>
        </p:spPr>
        <p:txBody>
          <a:bodyPr/>
          <a:lstStyle/>
          <a:p>
            <a:r>
              <a:rPr lang="en-US" dirty="0"/>
              <a:t>RGE-EDGE Coordinators</a:t>
            </a:r>
          </a:p>
          <a:p>
            <a:pPr lvl="1" indent="-243840"/>
            <a:r>
              <a:rPr lang="en-US" b="0" dirty="0"/>
              <a:t>Cara Campbell </a:t>
            </a:r>
            <a:r>
              <a:rPr lang="en-US" b="0" dirty="0">
                <a:hlinkClick r:id="rId3"/>
              </a:rPr>
              <a:t>ccampbell@usgs.gov</a:t>
            </a:r>
            <a:endParaRPr lang="en-US" b="0" dirty="0">
              <a:cs typeface="Arial"/>
            </a:endParaRPr>
          </a:p>
          <a:p>
            <a:pPr lvl="1" indent="-243840"/>
            <a:r>
              <a:rPr lang="en-US" b="0" dirty="0"/>
              <a:t>Steve Hilburger </a:t>
            </a:r>
            <a:r>
              <a:rPr lang="en-US" b="0" dirty="0">
                <a:hlinkClick r:id="rId4"/>
              </a:rPr>
              <a:t>shilburger@usgs.gov</a:t>
            </a:r>
            <a:endParaRPr lang="en-US" b="0" dirty="0">
              <a:cs typeface="Arial"/>
            </a:endParaRPr>
          </a:p>
          <a:p>
            <a:pPr lvl="1" indent="-243840">
              <a:buClr>
                <a:srgbClr val="C0504D"/>
              </a:buClr>
            </a:pPr>
            <a:r>
              <a:rPr lang="en-US" b="0" dirty="0">
                <a:cs typeface="Arial"/>
              </a:rPr>
              <a:t>Mark Miller </a:t>
            </a:r>
            <a:r>
              <a:rPr lang="en-US" b="0" dirty="0">
                <a:cs typeface="Arial"/>
                <a:hlinkClick r:id="rId5"/>
              </a:rPr>
              <a:t>mpmiller@usgs.gov</a:t>
            </a:r>
            <a:endParaRPr lang="en-US" b="0" dirty="0">
              <a:cs typeface="Arial"/>
            </a:endParaRPr>
          </a:p>
          <a:p>
            <a:pPr lvl="1" indent="-243840">
              <a:buClr>
                <a:srgbClr val="C0504D"/>
              </a:buClr>
            </a:pPr>
            <a:r>
              <a:rPr lang="en-US" b="0" dirty="0">
                <a:cs typeface="Arial"/>
              </a:rPr>
              <a:t>Alfredo Aretxabaleta </a:t>
            </a:r>
            <a:r>
              <a:rPr lang="en-US" b="0" dirty="0">
                <a:cs typeface="Arial"/>
                <a:hlinkClick r:id="rId6"/>
              </a:rPr>
              <a:t>aaretxabaleta@usgs.gov</a:t>
            </a:r>
            <a:endParaRPr lang="en-US" b="0" dirty="0">
              <a:cs typeface="Arial"/>
            </a:endParaRPr>
          </a:p>
          <a:p>
            <a:pPr>
              <a:buClr>
                <a:srgbClr val="4F81BD"/>
              </a:buClr>
            </a:pPr>
            <a:endParaRPr lang="en-US" sz="750" dirty="0">
              <a:cs typeface="Arial"/>
            </a:endParaRPr>
          </a:p>
          <a:p>
            <a:r>
              <a:rPr lang="en-US" dirty="0"/>
              <a:t>Shared RGE-EDGE mailbox </a:t>
            </a:r>
            <a:r>
              <a:rPr lang="en-US" b="0" dirty="0">
                <a:hlinkClick r:id="rId7"/>
              </a:rPr>
              <a:t>rge-edge@usgs.gov</a:t>
            </a:r>
            <a:endParaRPr lang="en-US" b="0" dirty="0"/>
          </a:p>
          <a:p>
            <a:endParaRPr lang="en-US" sz="750" dirty="0"/>
          </a:p>
          <a:p>
            <a:r>
              <a:rPr lang="en-US" dirty="0"/>
              <a:t>Human Resources related to RGE-EDGE</a:t>
            </a:r>
            <a:endParaRPr lang="en-US" dirty="0">
              <a:cs typeface="Arial"/>
            </a:endParaRPr>
          </a:p>
          <a:p>
            <a:pPr lvl="1" indent="-243840"/>
            <a:r>
              <a:rPr lang="en-US" b="0" dirty="0"/>
              <a:t>Servicing Personnel Office</a:t>
            </a:r>
            <a:endParaRPr lang="en-US" b="0" dirty="0">
              <a:cs typeface="Arial"/>
            </a:endParaRPr>
          </a:p>
        </p:txBody>
      </p:sp>
      <p:sp>
        <p:nvSpPr>
          <p:cNvPr id="4" name="Slide Number Placeholder 3">
            <a:extLst>
              <a:ext uri="{FF2B5EF4-FFF2-40B4-BE49-F238E27FC236}">
                <a16:creationId xmlns:a16="http://schemas.microsoft.com/office/drawing/2014/main" id="{D396276C-8726-4FDC-92AD-E28988F3E2F6}"/>
              </a:ext>
            </a:extLst>
          </p:cNvPr>
          <p:cNvSpPr>
            <a:spLocks noGrp="1"/>
          </p:cNvSpPr>
          <p:nvPr>
            <p:ph type="sldNum" sz="quarter" idx="10"/>
          </p:nvPr>
        </p:nvSpPr>
        <p:spPr/>
        <p:txBody>
          <a:bodyPr/>
          <a:lstStyle/>
          <a:p>
            <a:pPr>
              <a:defRPr/>
            </a:pPr>
            <a:fld id="{7916C709-DE7C-48B2-9FF3-7E1AF6E49BCB}" type="slidenum">
              <a:rPr lang="en-US" altLang="en-US" smtClean="0"/>
              <a:pPr>
                <a:defRPr/>
              </a:pPr>
              <a:t>30</a:t>
            </a:fld>
            <a:endParaRPr lang="en-US" altLang="en-US"/>
          </a:p>
        </p:txBody>
      </p:sp>
    </p:spTree>
    <p:extLst>
      <p:ext uri="{BB962C8B-B14F-4D97-AF65-F5344CB8AC3E}">
        <p14:creationId xmlns:p14="http://schemas.microsoft.com/office/powerpoint/2010/main" val="1481205677"/>
      </p:ext>
    </p:extLst>
  </p:cSld>
  <p:clrMapOvr>
    <a:masterClrMapping/>
  </p:clrMapOvr>
</p:sld>
</file>

<file path=ppt/theme/theme1.xml><?xml version="1.0" encoding="utf-8"?>
<a:theme xmlns:a="http://schemas.openxmlformats.org/drawingml/2006/main" name="Edg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d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ae21e4be-ceb0-41f6-a8c4-561ad213639e">
      <UserInfo>
        <DisplayName>Campbell, Cara</DisplayName>
        <AccountId>13</AccountId>
        <AccountType/>
      </UserInfo>
      <UserInfo>
        <DisplayName>Jones, Kevin B</DisplayName>
        <AccountId>4</AccountId>
        <AccountType/>
      </UserInfo>
      <UserInfo>
        <DisplayName>Beldin, Sarah</DisplayName>
        <AccountId>16</AccountId>
        <AccountType/>
      </UserInfo>
      <UserInfo>
        <DisplayName>Marra, Kristen R</DisplayName>
        <AccountId>126</AccountId>
        <AccountType/>
      </UserInfo>
    </SharedWithUsers>
    <lcf76f155ced4ddcb4097134ff3c332f xmlns="dae55b8d-2c04-4c24-81ad-a0da12ef1d79">
      <Terms xmlns="http://schemas.microsoft.com/office/infopath/2007/PartnerControls"/>
    </lcf76f155ced4ddcb4097134ff3c332f>
    <TaxCatchAll xmlns="31062a0d-ede8-4112-b4bb-00a9c1bc8e16" xsi:nil="true"/>
    <warner xmlns="dae55b8d-2c04-4c24-81ad-a0da12ef1d79" xsi:nil="true"/>
  </documentManagement>
</p:properti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842AE6133CA374EAE0AD9ADDD9A7774" ma:contentTypeVersion="16" ma:contentTypeDescription="Create a new document." ma:contentTypeScope="" ma:versionID="1a2e82da281a359cccab636ba11d1fc3">
  <xsd:schema xmlns:xsd="http://www.w3.org/2001/XMLSchema" xmlns:xs="http://www.w3.org/2001/XMLSchema" xmlns:p="http://schemas.microsoft.com/office/2006/metadata/properties" xmlns:ns2="dae55b8d-2c04-4c24-81ad-a0da12ef1d79" xmlns:ns3="ae21e4be-ceb0-41f6-a8c4-561ad213639e" xmlns:ns4="31062a0d-ede8-4112-b4bb-00a9c1bc8e16" targetNamespace="http://schemas.microsoft.com/office/2006/metadata/properties" ma:root="true" ma:fieldsID="3286ac2ed09ba260d9611a3c7aab08cc" ns2:_="" ns3:_="" ns4:_="">
    <xsd:import namespace="dae55b8d-2c04-4c24-81ad-a0da12ef1d79"/>
    <xsd:import namespace="ae21e4be-ceb0-41f6-a8c4-561ad213639e"/>
    <xsd:import namespace="31062a0d-ede8-4112-b4bb-00a9c1bc8e1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LengthInSeconds" minOccurs="0"/>
                <xsd:element ref="ns2:lcf76f155ced4ddcb4097134ff3c332f" minOccurs="0"/>
                <xsd:element ref="ns4:TaxCatchAll" minOccurs="0"/>
                <xsd:element ref="ns2:warne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e55b8d-2c04-4c24-81ad-a0da12ef1d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9c5df3ad-b4e5-45d1-88c9-23db5f1fe618" ma:termSetId="09814cd3-568e-fe90-9814-8d621ff8fb84" ma:anchorId="fba54fb3-c3e1-fe81-a776-ca4b69148c4d" ma:open="true" ma:isKeyword="false">
      <xsd:complexType>
        <xsd:sequence>
          <xsd:element ref="pc:Terms" minOccurs="0" maxOccurs="1"/>
        </xsd:sequence>
      </xsd:complexType>
    </xsd:element>
    <xsd:element name="warner" ma:index="22" nillable="true" ma:displayName="warner" ma:format="Dropdown" ma:list="6bd2969f-8df0-4c38-9de5-1f10ea80bfa5" ma:internalName="warner" ma:showField="Title">
      <xsd:simpleType>
        <xsd:restriction base="dms:Lookup"/>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21e4be-ceb0-41f6-a8c4-561ad213639e"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062a0d-ede8-4112-b4bb-00a9c1bc8e16"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79a153b0-b508-4fe8-a213-289c56d13715}" ma:internalName="TaxCatchAll" ma:showField="CatchAllData" ma:web="ae21e4be-ceb0-41f6-a8c4-561ad21363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BC60B5-987C-4159-8EA3-755CB9ACD58C}">
  <ds:schemaRefs>
    <ds:schemaRef ds:uri="31062a0d-ede8-4112-b4bb-00a9c1bc8e16"/>
    <ds:schemaRef ds:uri="http://purl.org/dc/term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dae55b8d-2c04-4c24-81ad-a0da12ef1d79"/>
    <ds:schemaRef ds:uri="ae21e4be-ceb0-41f6-a8c4-561ad213639e"/>
    <ds:schemaRef ds:uri="http://www.w3.org/XML/1998/namespace"/>
    <ds:schemaRef ds:uri="http://purl.org/dc/dcmitype/"/>
  </ds:schemaRefs>
</ds:datastoreItem>
</file>

<file path=customXml/itemProps2.xml><?xml version="1.0" encoding="utf-8"?>
<ds:datastoreItem xmlns:ds="http://schemas.openxmlformats.org/officeDocument/2006/customXml" ds:itemID="{E8B01249-E929-43F6-8666-2F01539225E7}">
  <ds:schemaRefs>
    <ds:schemaRef ds:uri="http://schemas.microsoft.com/office/2006/metadata/longProperties"/>
  </ds:schemaRefs>
</ds:datastoreItem>
</file>

<file path=customXml/itemProps3.xml><?xml version="1.0" encoding="utf-8"?>
<ds:datastoreItem xmlns:ds="http://schemas.openxmlformats.org/officeDocument/2006/customXml" ds:itemID="{949571F4-CA13-4B83-8407-15A40B9204DF}">
  <ds:schemaRefs>
    <ds:schemaRef ds:uri="31062a0d-ede8-4112-b4bb-00a9c1bc8e16"/>
    <ds:schemaRef ds:uri="ae21e4be-ceb0-41f6-a8c4-561ad213639e"/>
    <ds:schemaRef ds:uri="dae55b8d-2c04-4c24-81ad-a0da12ef1d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54E2A342-4766-4495-A6AE-EA671507DC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1329</TotalTime>
  <Words>2194</Words>
  <Application>Microsoft Office PowerPoint</Application>
  <PresentationFormat>On-screen Show (16:9)</PresentationFormat>
  <Paragraphs>418</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Garamond</vt:lpstr>
      <vt:lpstr>Segoe UI</vt:lpstr>
      <vt:lpstr>Wingdings</vt:lpstr>
      <vt:lpstr>Edge</vt:lpstr>
      <vt:lpstr>Preparing for your RGE-EDGE Review</vt:lpstr>
      <vt:lpstr>RGE and EDGE Definitions</vt:lpstr>
      <vt:lpstr>RGE-EDGE Review</vt:lpstr>
      <vt:lpstr>Review Schedule and Frequency</vt:lpstr>
      <vt:lpstr>Annual Calendar (as of late 2022)</vt:lpstr>
      <vt:lpstr>What is in an RGE-EDGE package?</vt:lpstr>
      <vt:lpstr>Planning for your RGE-EDGE review</vt:lpstr>
      <vt:lpstr>Scientist Record – Outline</vt:lpstr>
      <vt:lpstr>Scientist Background</vt:lpstr>
      <vt:lpstr>Research or Development Environment</vt:lpstr>
      <vt:lpstr>Factor Narratives - Overview</vt:lpstr>
      <vt:lpstr>Factor I: Research Assignment</vt:lpstr>
      <vt:lpstr>Factor II: Supervisory Controls</vt:lpstr>
      <vt:lpstr>Factor III: Guidelines and Originality</vt:lpstr>
      <vt:lpstr>Factor IV: Contributions, Impact, Stature</vt:lpstr>
      <vt:lpstr>Focus on Impacts</vt:lpstr>
      <vt:lpstr>Three Significant Contributions</vt:lpstr>
      <vt:lpstr>Length Limits for Narratives</vt:lpstr>
      <vt:lpstr>Supporting Information (slide 1)</vt:lpstr>
      <vt:lpstr>Supporting Information (slide 2)</vt:lpstr>
      <vt:lpstr>References</vt:lpstr>
      <vt:lpstr>Approval Sheet and Signature</vt:lpstr>
      <vt:lpstr>Ready to submit?</vt:lpstr>
      <vt:lpstr>Dynamic Peer Groups</vt:lpstr>
      <vt:lpstr>Panel Findings</vt:lpstr>
      <vt:lpstr>For example…</vt:lpstr>
      <vt:lpstr>When will you receive your results?</vt:lpstr>
      <vt:lpstr>Disagree with your results?</vt:lpstr>
      <vt:lpstr>Resources – www.usgs.gov/rge-edge</vt:lpstr>
      <vt:lpstr>Contacts</vt:lpstr>
    </vt:vector>
  </TitlesOfParts>
  <Company>DOI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an Effective RGE-EDGE Package</dc:title>
  <dc:creator>RGE-EDGE</dc:creator>
  <cp:lastModifiedBy>Montour, Maria R</cp:lastModifiedBy>
  <cp:revision>4</cp:revision>
  <cp:lastPrinted>2022-12-08T14:38:02Z</cp:lastPrinted>
  <dcterms:created xsi:type="dcterms:W3CDTF">2009-07-28T10:52:18Z</dcterms:created>
  <dcterms:modified xsi:type="dcterms:W3CDTF">2024-07-11T20:21:47Z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splay_urn:schemas-microsoft-com:office:office#Editor">
    <vt:lpwstr>Frazier, Eldrich L.</vt:lpwstr>
  </property>
  <property fmtid="{D5CDD505-2E9C-101B-9397-08002B2CF9AE}" pid="3" name="xd_Signature">
    <vt:lpwstr/>
  </property>
  <property fmtid="{D5CDD505-2E9C-101B-9397-08002B2CF9AE}" pid="4" name="Order">
    <vt:lpwstr>98800.0000000000</vt:lpwstr>
  </property>
  <property fmtid="{D5CDD505-2E9C-101B-9397-08002B2CF9AE}" pid="5" name="TemplateUrl">
    <vt:lpwstr/>
  </property>
  <property fmtid="{D5CDD505-2E9C-101B-9397-08002B2CF9AE}" pid="6" name="xd_ProgID">
    <vt:lpwstr/>
  </property>
  <property fmtid="{D5CDD505-2E9C-101B-9397-08002B2CF9AE}" pid="7" name="display_urn:schemas-microsoft-com:office:office#Author">
    <vt:lpwstr>Frazier, Eldrich L.</vt:lpwstr>
  </property>
  <property fmtid="{D5CDD505-2E9C-101B-9397-08002B2CF9AE}" pid="8" name="ContentTypeId">
    <vt:lpwstr>0x0101002842AE6133CA374EAE0AD9ADDD9A7774</vt:lpwstr>
  </property>
  <property fmtid="{D5CDD505-2E9C-101B-9397-08002B2CF9AE}" pid="9" name="MediaServiceImageTags">
    <vt:lpwstr/>
  </property>
</Properties>
</file>